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649ba712c4d56" /><Relationship Type="http://schemas.openxmlformats.org/officeDocument/2006/relationships/extended-properties" Target="/docProps/app.xml" Id="Rcb4b11c0a5d74b45" /><Relationship Type="http://schemas.openxmlformats.org/officeDocument/2006/relationships/officeDocument" Target="/ppt/presentation.xml" Id="Ref7577166c824882" /></Relationships>
</file>

<file path=ppt/presentation.xml><?xml version="1.0" encoding="utf-8"?>
<p:presentation xmlns:p="http://schemas.openxmlformats.org/presentationml/2006/main">
  <p:sldMasterIdLst>
    <p:sldMasterId xmlns:r="http://schemas.openxmlformats.org/officeDocument/2006/relationships" id="2147483648" r:id="Rded707f294fe4007"/>
  </p:sldMasterIdLst>
  <p:notesMasterIdLst>
    <p:notesMasterId xmlns:r="http://schemas.openxmlformats.org/officeDocument/2006/relationships" r:id="R0702416637b2466b"/>
  </p:notesMasterIdLst>
  <p:sldIdLst>
    <p:sldId xmlns:r="http://schemas.openxmlformats.org/officeDocument/2006/relationships" id="256" r:id="Rb5727af086d447b5"/>
    <p:sldId xmlns:r="http://schemas.openxmlformats.org/officeDocument/2006/relationships" id="257" r:id="Rff7c4e8730d34e56"/>
    <p:sldId xmlns:r="http://schemas.openxmlformats.org/officeDocument/2006/relationships" id="258" r:id="Rc3d9cfc4b8604c24"/>
    <p:sldId xmlns:r="http://schemas.openxmlformats.org/officeDocument/2006/relationships" id="259" r:id="R18eb2d078a704d75"/>
    <p:sldId xmlns:r="http://schemas.openxmlformats.org/officeDocument/2006/relationships" id="260" r:id="R9659838c11db4b91"/>
    <p:sldId xmlns:r="http://schemas.openxmlformats.org/officeDocument/2006/relationships" id="261" r:id="R156e6c21fe884f37"/>
    <p:sldId xmlns:r="http://schemas.openxmlformats.org/officeDocument/2006/relationships" id="262" r:id="R0ed3a7e8179d46f2"/>
    <p:sldId xmlns:r="http://schemas.openxmlformats.org/officeDocument/2006/relationships" id="263" r:id="Ra093c1bdc0ca4504"/>
    <p:sldId xmlns:r="http://schemas.openxmlformats.org/officeDocument/2006/relationships" id="264" r:id="Rdd0fd208afaf428a"/>
    <p:sldId xmlns:r="http://schemas.openxmlformats.org/officeDocument/2006/relationships" id="265" r:id="R2ff70d0e56af49c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1988aad8e34395" /><Relationship Type="http://schemas.openxmlformats.org/officeDocument/2006/relationships/slideMaster" Target="/ppt/slideMasters/slideMaster1.xml" Id="Rded707f294fe4007" /><Relationship Type="http://schemas.openxmlformats.org/officeDocument/2006/relationships/notesMaster" Target="/ppt/notesMasters/notesMaster1.xml" Id="R0702416637b2466b" /><Relationship Type="http://schemas.openxmlformats.org/officeDocument/2006/relationships/presProps" Target="/ppt/presProps.xml" Id="Rd7939e9559974ff6" /><Relationship Type="http://schemas.openxmlformats.org/officeDocument/2006/relationships/tableStyles" Target="/ppt/tableStyles.xml" Id="R37fbc1f1393b4980" /><Relationship Type="http://schemas.openxmlformats.org/officeDocument/2006/relationships/slide" Target="/ppt/slides/slide1.xml" Id="Rb5727af086d447b5" /><Relationship Type="http://schemas.openxmlformats.org/officeDocument/2006/relationships/slide" Target="/ppt/slides/slide2.xml" Id="Rff7c4e8730d34e56" /><Relationship Type="http://schemas.openxmlformats.org/officeDocument/2006/relationships/slide" Target="/ppt/slides/slide3.xml" Id="Rc3d9cfc4b8604c24" /><Relationship Type="http://schemas.openxmlformats.org/officeDocument/2006/relationships/slide" Target="/ppt/slides/slide4.xml" Id="R18eb2d078a704d75" /><Relationship Type="http://schemas.openxmlformats.org/officeDocument/2006/relationships/slide" Target="/ppt/slides/slide5.xml" Id="R9659838c11db4b91" /><Relationship Type="http://schemas.openxmlformats.org/officeDocument/2006/relationships/slide" Target="/ppt/slides/slide6.xml" Id="R156e6c21fe884f37" /><Relationship Type="http://schemas.openxmlformats.org/officeDocument/2006/relationships/slide" Target="/ppt/slides/slide7.xml" Id="R0ed3a7e8179d46f2" /><Relationship Type="http://schemas.openxmlformats.org/officeDocument/2006/relationships/slide" Target="/ppt/slides/slide8.xml" Id="Ra093c1bdc0ca4504" /><Relationship Type="http://schemas.openxmlformats.org/officeDocument/2006/relationships/slide" Target="/ppt/slides/slide9.xml" Id="Rdd0fd208afaf428a" /><Relationship Type="http://schemas.openxmlformats.org/officeDocument/2006/relationships/slide" Target="/ppt/slides/slide10.xml" Id="R2ff70d0e56af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cd0da7173341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ainbow Robotics Portfolio">
      <a:dk1>
        <a:srgbClr val="000000"/>
      </a:dk1>
      <a:lt1>
        <a:srgbClr val="FFFFFF"/>
      </a:lt1>
      <a:dk2>
        <a:srgbClr val="1F2328"/>
      </a:dk2>
      <a:lt2>
        <a:srgbClr val="E5E7EB"/>
      </a:lt2>
      <a:accent1>
        <a:srgbClr val="E03C31"/>
      </a:accent1>
      <a:accent2>
        <a:srgbClr val="2A6F97"/>
      </a:accent2>
      <a:accent3>
        <a:srgbClr val="C8C9C7"/>
      </a:accent3>
      <a:accent4>
        <a:srgbClr val="111111"/>
      </a:accent4>
      <a:accent5>
        <a:srgbClr val="58606A"/>
      </a:accent5>
      <a:accent6>
        <a:srgbClr val="7A8A99"/>
      </a:accent6>
      <a:hlink>
        <a:srgbClr val="2A6F97"/>
      </a:hlink>
      <a:folHlink>
        <a:srgbClr val="7A3E9D"/>
      </a:folHlink>
    </a:clrScheme>
    <a:fontScheme name="Office">
      <a:majorFont>
        <a:latin typeface="Calibri Light"/>
        <a:ea typeface="Calibri Light"/>
        <a:cs typeface="Calibri Light"/>
      </a:majorFont>
      <a:minorFont>
        <a:latin typeface="Calibri"/>
        <a:ea typeface="Calibri"/>
        <a:cs typeface="Calibri"/>
      </a:minorFont>
    </a:fontScheme>
    <a:fmtScheme name="Rainbow Robotics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0ac0fa5bfd4735" /><Relationship Type="http://schemas.openxmlformats.org/officeDocument/2006/relationships/notesMaster" Target="/ppt/notesMasters/notesMaster1.xml" Id="R466bf9f186dd4b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c2a65605b54d85" /><Relationship Type="http://schemas.openxmlformats.org/officeDocument/2006/relationships/notesMaster" Target="/ppt/notesMasters/notesMaster1.xml" Id="R39a11fb06a7949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a405e6b0784fbc" /><Relationship Type="http://schemas.openxmlformats.org/officeDocument/2006/relationships/notesMaster" Target="/ppt/notesMasters/notesMaster1.xml" Id="R6f20ef26d2784f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a72f8886ef449d" /><Relationship Type="http://schemas.openxmlformats.org/officeDocument/2006/relationships/notesMaster" Target="/ppt/notesMasters/notesMaster1.xml" Id="R8b8815631cf94b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bb1857ca934a2e" /><Relationship Type="http://schemas.openxmlformats.org/officeDocument/2006/relationships/notesMaster" Target="/ppt/notesMasters/notesMaster1.xml" Id="Rf7d981213c8a41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af7a05bb644755" /><Relationship Type="http://schemas.openxmlformats.org/officeDocument/2006/relationships/notesMaster" Target="/ppt/notesMasters/notesMaster1.xml" Id="Rf41375f5f3db4d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8fa2d4e5bd4ded" /><Relationship Type="http://schemas.openxmlformats.org/officeDocument/2006/relationships/notesMaster" Target="/ppt/notesMasters/notesMaster1.xml" Id="R7626848e64b845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9d6228198a458e" /><Relationship Type="http://schemas.openxmlformats.org/officeDocument/2006/relationships/notesMaster" Target="/ppt/notesMasters/notesMaster1.xml" Id="Rae87b6d62b3543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9210cca9804957" /><Relationship Type="http://schemas.openxmlformats.org/officeDocument/2006/relationships/notesMaster" Target="/ppt/notesMasters/notesMaster1.xml" Id="R6a902ae7d7d74a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1e07e40ccc4f44" /><Relationship Type="http://schemas.openxmlformats.org/officeDocument/2006/relationships/notesMaster" Target="/ppt/notesMasters/notesMaster1.xml" Id="R1acf10fa9b5141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30ba579ad044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d3f814d7e44607" /><Relationship Type="http://schemas.openxmlformats.org/officeDocument/2006/relationships/slideLayout" Target="/ppt/slideLayouts/slideLayout1.xml" Id="R59e9831a6dbc49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e9831a6dbc49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ainbow Robotics Portfolio">
      <a:dk1>
        <a:srgbClr val="000000"/>
      </a:dk1>
      <a:lt1>
        <a:srgbClr val="FFFFFF"/>
      </a:lt1>
      <a:dk2>
        <a:srgbClr val="1F2328"/>
      </a:dk2>
      <a:lt2>
        <a:srgbClr val="E5E7EB"/>
      </a:lt2>
      <a:accent1>
        <a:srgbClr val="E03C31"/>
      </a:accent1>
      <a:accent2>
        <a:srgbClr val="2A6F97"/>
      </a:accent2>
      <a:accent3>
        <a:srgbClr val="C8C9C7"/>
      </a:accent3>
      <a:accent4>
        <a:srgbClr val="111111"/>
      </a:accent4>
      <a:accent5>
        <a:srgbClr val="58606A"/>
      </a:accent5>
      <a:accent6>
        <a:srgbClr val="7A8A99"/>
      </a:accent6>
      <a:hlink>
        <a:srgbClr val="2A6F97"/>
      </a:hlink>
      <a:folHlink>
        <a:srgbClr val="7A3E9D"/>
      </a:folHlink>
    </a:clrScheme>
    <a:fontScheme name="Office">
      <a:majorFont>
        <a:latin typeface="Calibri Light"/>
        <a:ea typeface="Calibri Light"/>
        <a:cs typeface="Calibri Light"/>
      </a:majorFont>
      <a:minorFont>
        <a:latin typeface="Calibri"/>
        <a:ea typeface="Calibri"/>
        <a:cs typeface="Calibri"/>
      </a:minorFont>
    </a:fontScheme>
    <a:fmtScheme name="Rainbow Robotics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f43d770d3a484b" /><Relationship Type="http://schemas.openxmlformats.org/officeDocument/2006/relationships/notesSlide" Target="/ppt/notesSlides/notesSlide1.xml" Id="Read9b654f01c48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161356873d4592" /><Relationship Type="http://schemas.openxmlformats.org/officeDocument/2006/relationships/notesSlide" Target="/ppt/notesSlides/notesSlide2.xml" Id="R8ddc5f96f5b0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8fa06f8f5c4c6a" /><Relationship Type="http://schemas.openxmlformats.org/officeDocument/2006/relationships/notesSlide" Target="/ppt/notesSlides/notesSlide3.xml" Id="R97f89223050445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fa749a37be4413" /><Relationship Type="http://schemas.openxmlformats.org/officeDocument/2006/relationships/notesSlide" Target="/ppt/notesSlides/notesSlide4.xml" Id="Rf3c449022b7f4a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05a396dfdd427b" /><Relationship Type="http://schemas.openxmlformats.org/officeDocument/2006/relationships/notesSlide" Target="/ppt/notesSlides/notesSlide5.xml" Id="Rcbcf97ab97f7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114f33c9bf4457" /><Relationship Type="http://schemas.openxmlformats.org/officeDocument/2006/relationships/notesSlide" Target="/ppt/notesSlides/notesSlide6.xml" Id="R2596026b99264f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9614514ee545bc" /><Relationship Type="http://schemas.openxmlformats.org/officeDocument/2006/relationships/notesSlide" Target="/ppt/notesSlides/notesSlide7.xml" Id="R3c1a03f0727a40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96a6c78c954cc8" /><Relationship Type="http://schemas.openxmlformats.org/officeDocument/2006/relationships/notesSlide" Target="/ppt/notesSlides/notesSlide8.xml" Id="R8d73e85d7c534c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9f1acb004d484d" /><Relationship Type="http://schemas.openxmlformats.org/officeDocument/2006/relationships/notesSlide" Target="/ppt/notesSlides/notesSlide9.xml" Id="R01b965ab72894f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38c118f40e4f31" /><Relationship Type="http://schemas.openxmlformats.org/officeDocument/2006/relationships/notesSlide" Target="/ppt/notesSlides/notesSlide10.xml" Id="R5f5904c3e8444927"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E014CC-6EF3-425B-9889-B683876F7E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B917CE-A1AA-4CF1-B4C8-CB2512632BB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758E7D-6652-4FA1-9A61-6B65B3DDA53D}"/>
              </a:ext>
            </a:extLst>
          </p:cNvPr>
          <p:cNvSpPr>
            <a:spLocks xmlns:a="http://schemas.openxmlformats.org/drawingml/2006/main" noGrp="1"/>
          </p:cNvSpPr>
          <p:nvPr/>
        </p:nvSpPr>
        <p:spPr>
          <a:xfrm xmlns:a="http://schemas.openxmlformats.org/drawingml/2006/main">
            <a:off x="6448425" y="1047750"/>
            <a:ext cx="26670" cy="2667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1FA36C-C20B-462E-9590-898071FEF21F}"/>
              </a:ext>
            </a:extLst>
          </p:cNvPr>
          <p:cNvSpPr>
            <a:spLocks xmlns:a="http://schemas.openxmlformats.org/drawingml/2006/main" noGrp="1"/>
          </p:cNvSpPr>
          <p:nvPr/>
        </p:nvSpPr>
        <p:spPr>
          <a:xfrm xmlns:a="http://schemas.openxmlformats.org/drawingml/2006/main">
            <a:off x="7315200" y="14954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436926-A937-4FD7-8F6C-6DED346A3B7A}"/>
              </a:ext>
            </a:extLst>
          </p:cNvPr>
          <p:cNvSpPr>
            <a:spLocks xmlns:a="http://schemas.openxmlformats.org/drawingml/2006/main" noGrp="1"/>
          </p:cNvSpPr>
          <p:nvPr/>
        </p:nvSpPr>
        <p:spPr>
          <a:xfrm xmlns:a="http://schemas.openxmlformats.org/drawingml/2006/main">
            <a:off x="8181975" y="19431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F3FA76-7A0E-4A55-9A7B-875E016B4109}"/>
              </a:ext>
            </a:extLst>
          </p:cNvPr>
          <p:cNvSpPr>
            <a:spLocks xmlns:a="http://schemas.openxmlformats.org/drawingml/2006/main" noGrp="1"/>
          </p:cNvSpPr>
          <p:nvPr/>
        </p:nvSpPr>
        <p:spPr>
          <a:xfrm xmlns:a="http://schemas.openxmlformats.org/drawingml/2006/main">
            <a:off x="9048750" y="239077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2E935E-ABC4-48F4-8EC2-E962150A6772}"/>
              </a:ext>
            </a:extLst>
          </p:cNvPr>
          <p:cNvSpPr>
            <a:spLocks xmlns:a="http://schemas.openxmlformats.org/drawingml/2006/main" noGrp="1"/>
          </p:cNvSpPr>
          <p:nvPr/>
        </p:nvSpPr>
        <p:spPr>
          <a:xfrm xmlns:a="http://schemas.openxmlformats.org/drawingml/2006/main">
            <a:off x="9915525" y="28384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DD0BA6-F0FF-4945-A44C-8B7201B6CD52}"/>
              </a:ext>
            </a:extLst>
          </p:cNvPr>
          <p:cNvSpPr>
            <a:spLocks xmlns:a="http://schemas.openxmlformats.org/drawingml/2006/main" noGrp="1"/>
          </p:cNvSpPr>
          <p:nvPr/>
        </p:nvSpPr>
        <p:spPr>
          <a:xfrm xmlns:a="http://schemas.openxmlformats.org/drawingml/2006/main">
            <a:off x="10782300" y="3286125"/>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4CF26E7-37A7-489A-84B6-939900500979}"/>
              </a:ext>
            </a:extLst>
          </p:cNvPr>
          <p:cNvSpPr>
            <a:spLocks xmlns:a="http://schemas.openxmlformats.org/drawingml/2006/main" noGrp="1"/>
          </p:cNvSpPr>
          <p:nvPr/>
        </p:nvSpPr>
        <p:spPr>
          <a:xfrm xmlns:a="http://schemas.openxmlformats.org/drawingml/2006/main">
            <a:off x="6524625" y="3733800"/>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973A62-4D29-477F-8777-0223D106781D}"/>
              </a:ext>
            </a:extLst>
          </p:cNvPr>
          <p:cNvSpPr>
            <a:spLocks xmlns:a="http://schemas.openxmlformats.org/drawingml/2006/main" noGrp="1"/>
          </p:cNvSpPr>
          <p:nvPr/>
        </p:nvSpPr>
        <p:spPr>
          <a:xfrm xmlns:a="http://schemas.openxmlformats.org/drawingml/2006/main">
            <a:off x="7391400" y="41814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7187BD-F9B0-492F-83AD-2909E0A0A8F0}"/>
              </a:ext>
            </a:extLst>
          </p:cNvPr>
          <p:cNvSpPr>
            <a:spLocks xmlns:a="http://schemas.openxmlformats.org/drawingml/2006/main" noGrp="1"/>
          </p:cNvSpPr>
          <p:nvPr/>
        </p:nvSpPr>
        <p:spPr>
          <a:xfrm xmlns:a="http://schemas.openxmlformats.org/drawingml/2006/main">
            <a:off x="8258175" y="46291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509F70-379D-41AE-9163-8642E93B4A57}"/>
              </a:ext>
            </a:extLst>
          </p:cNvPr>
          <p:cNvSpPr>
            <a:spLocks xmlns:a="http://schemas.openxmlformats.org/drawingml/2006/main" noGrp="1"/>
          </p:cNvSpPr>
          <p:nvPr/>
        </p:nvSpPr>
        <p:spPr>
          <a:xfrm xmlns:a="http://schemas.openxmlformats.org/drawingml/2006/main">
            <a:off x="9124950" y="507682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54E8F35-3DCB-419A-B86B-C1934D4E4619}"/>
              </a:ext>
            </a:extLst>
          </p:cNvPr>
          <p:cNvSpPr>
            <a:spLocks xmlns:a="http://schemas.openxmlformats.org/drawingml/2006/main" noGrp="1"/>
          </p:cNvSpPr>
          <p:nvPr/>
        </p:nvSpPr>
        <p:spPr>
          <a:xfrm xmlns:a="http://schemas.openxmlformats.org/drawingml/2006/main">
            <a:off x="9991725" y="762000"/>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B3ECB4-B757-4FE5-BB36-61842659DEA4}"/>
              </a:ext>
            </a:extLst>
          </p:cNvPr>
          <p:cNvSpPr>
            <a:spLocks xmlns:a="http://schemas.openxmlformats.org/drawingml/2006/main" noGrp="1"/>
          </p:cNvSpPr>
          <p:nvPr/>
        </p:nvSpPr>
        <p:spPr>
          <a:xfrm xmlns:a="http://schemas.openxmlformats.org/drawingml/2006/main">
            <a:off x="10858500" y="12096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000B297-CF6C-4F56-A783-766576CEC242}"/>
              </a:ext>
            </a:extLst>
          </p:cNvPr>
          <p:cNvSpPr>
            <a:spLocks xmlns:a="http://schemas.openxmlformats.org/drawingml/2006/main" noGrp="1"/>
          </p:cNvSpPr>
          <p:nvPr/>
        </p:nvSpPr>
        <p:spPr>
          <a:xfrm xmlns:a="http://schemas.openxmlformats.org/drawingml/2006/main">
            <a:off x="6600825" y="1657350"/>
            <a:ext cx="19050" cy="1905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56E7CEA-7487-4456-80F6-8BE451B3DD8C}"/>
              </a:ext>
            </a:extLst>
          </p:cNvPr>
          <p:cNvSpPr>
            <a:spLocks xmlns:a="http://schemas.openxmlformats.org/drawingml/2006/main" noGrp="1"/>
          </p:cNvSpPr>
          <p:nvPr/>
        </p:nvSpPr>
        <p:spPr>
          <a:xfrm xmlns:a="http://schemas.openxmlformats.org/drawingml/2006/main">
            <a:off x="7467600" y="21050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E7E5A43-CBCA-4DC7-AB30-BE5C519FC503}"/>
              </a:ext>
            </a:extLst>
          </p:cNvPr>
          <p:cNvSpPr>
            <a:spLocks xmlns:a="http://schemas.openxmlformats.org/drawingml/2006/main" noGrp="1"/>
          </p:cNvSpPr>
          <p:nvPr/>
        </p:nvSpPr>
        <p:spPr>
          <a:xfrm xmlns:a="http://schemas.openxmlformats.org/drawingml/2006/main">
            <a:off x="8334375" y="25527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F0B5F6-1DA6-44D3-9C57-07F066CF40D2}"/>
              </a:ext>
            </a:extLst>
          </p:cNvPr>
          <p:cNvSpPr>
            <a:spLocks xmlns:a="http://schemas.openxmlformats.org/drawingml/2006/main" noGrp="1"/>
          </p:cNvSpPr>
          <p:nvPr/>
        </p:nvSpPr>
        <p:spPr>
          <a:xfrm xmlns:a="http://schemas.openxmlformats.org/drawingml/2006/main">
            <a:off x="9201150" y="3000375"/>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E33D068-1E2E-4A4E-9D0E-E7C38F6B7F3E}"/>
              </a:ext>
            </a:extLst>
          </p:cNvPr>
          <p:cNvSpPr>
            <a:spLocks xmlns:a="http://schemas.openxmlformats.org/drawingml/2006/main" noGrp="1"/>
          </p:cNvSpPr>
          <p:nvPr/>
        </p:nvSpPr>
        <p:spPr>
          <a:xfrm xmlns:a="http://schemas.openxmlformats.org/drawingml/2006/main">
            <a:off x="10067925" y="34480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EE63DE-DA1A-4F10-B1AC-90C5DDB017ED}"/>
              </a:ext>
            </a:extLst>
          </p:cNvPr>
          <p:cNvSpPr>
            <a:spLocks xmlns:a="http://schemas.openxmlformats.org/drawingml/2006/main" noGrp="1"/>
          </p:cNvSpPr>
          <p:nvPr/>
        </p:nvSpPr>
        <p:spPr>
          <a:xfrm xmlns:a="http://schemas.openxmlformats.org/drawingml/2006/main">
            <a:off x="10934700" y="38957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E63770A-D95F-40CD-9257-C697FD6CD205}"/>
              </a:ext>
            </a:extLst>
          </p:cNvPr>
          <p:cNvSpPr>
            <a:spLocks xmlns:a="http://schemas.openxmlformats.org/drawingml/2006/main" noGrp="1"/>
          </p:cNvSpPr>
          <p:nvPr/>
        </p:nvSpPr>
        <p:spPr>
          <a:xfrm xmlns:a="http://schemas.openxmlformats.org/drawingml/2006/main">
            <a:off x="6677025" y="4343400"/>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2928DE-ECBC-4E94-9935-460C55F82E2A}"/>
              </a:ext>
            </a:extLst>
          </p:cNvPr>
          <p:cNvSpPr>
            <a:spLocks xmlns:a="http://schemas.openxmlformats.org/drawingml/2006/main" noGrp="1"/>
          </p:cNvSpPr>
          <p:nvPr/>
        </p:nvSpPr>
        <p:spPr>
          <a:xfrm xmlns:a="http://schemas.openxmlformats.org/drawingml/2006/main">
            <a:off x="7543800" y="47910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7CBE658-AD51-45BB-955C-A9150A2FC55D}"/>
              </a:ext>
            </a:extLst>
          </p:cNvPr>
          <p:cNvSpPr>
            <a:spLocks xmlns:a="http://schemas.openxmlformats.org/drawingml/2006/main" noGrp="1"/>
          </p:cNvSpPr>
          <p:nvPr/>
        </p:nvSpPr>
        <p:spPr>
          <a:xfrm xmlns:a="http://schemas.openxmlformats.org/drawingml/2006/main">
            <a:off x="8410575" y="5238750"/>
            <a:ext cx="26670" cy="2667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729BCE7-DE31-481E-BCAC-EC1FB4CE3C15}"/>
              </a:ext>
            </a:extLst>
          </p:cNvPr>
          <p:cNvSpPr>
            <a:spLocks xmlns:a="http://schemas.openxmlformats.org/drawingml/2006/main" noGrp="1"/>
          </p:cNvSpPr>
          <p:nvPr/>
        </p:nvSpPr>
        <p:spPr>
          <a:xfrm xmlns:a="http://schemas.openxmlformats.org/drawingml/2006/main">
            <a:off x="9277350" y="92392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289DD6A-48B6-41A2-9638-97C05C4F74CE}"/>
              </a:ext>
            </a:extLst>
          </p:cNvPr>
          <p:cNvSpPr>
            <a:spLocks xmlns:a="http://schemas.openxmlformats.org/drawingml/2006/main" noGrp="1"/>
          </p:cNvSpPr>
          <p:nvPr/>
        </p:nvSpPr>
        <p:spPr>
          <a:xfrm xmlns:a="http://schemas.openxmlformats.org/drawingml/2006/main">
            <a:off x="10144125" y="13716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859E483-4590-430B-9680-905BDE031ACF}"/>
              </a:ext>
            </a:extLst>
          </p:cNvPr>
          <p:cNvSpPr>
            <a:spLocks xmlns:a="http://schemas.openxmlformats.org/drawingml/2006/main" noGrp="1"/>
          </p:cNvSpPr>
          <p:nvPr/>
        </p:nvSpPr>
        <p:spPr>
          <a:xfrm xmlns:a="http://schemas.openxmlformats.org/drawingml/2006/main">
            <a:off x="11010900" y="18192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3F68F0-6AA5-408F-9E96-8F642E562488}"/>
              </a:ext>
            </a:extLst>
          </p:cNvPr>
          <p:cNvSpPr>
            <a:spLocks xmlns:a="http://schemas.openxmlformats.org/drawingml/2006/main" noGrp="1"/>
          </p:cNvSpPr>
          <p:nvPr/>
        </p:nvSpPr>
        <p:spPr>
          <a:xfrm xmlns:a="http://schemas.openxmlformats.org/drawingml/2006/main">
            <a:off x="6753225" y="2266950"/>
            <a:ext cx="19050" cy="1905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4FA428-3978-4B54-A03D-07F72F03E7EB}"/>
              </a:ext>
            </a:extLst>
          </p:cNvPr>
          <p:cNvSpPr>
            <a:spLocks xmlns:a="http://schemas.openxmlformats.org/drawingml/2006/main" noGrp="1"/>
          </p:cNvSpPr>
          <p:nvPr/>
        </p:nvSpPr>
        <p:spPr>
          <a:xfrm xmlns:a="http://schemas.openxmlformats.org/drawingml/2006/main">
            <a:off x="7620000" y="2714625"/>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3B6AF32-62D0-4DC5-8595-AD813FD31308}"/>
              </a:ext>
            </a:extLst>
          </p:cNvPr>
          <p:cNvSpPr>
            <a:spLocks xmlns:a="http://schemas.openxmlformats.org/drawingml/2006/main" noGrp="1"/>
          </p:cNvSpPr>
          <p:nvPr/>
        </p:nvSpPr>
        <p:spPr>
          <a:xfrm xmlns:a="http://schemas.openxmlformats.org/drawingml/2006/main">
            <a:off x="8486775" y="31623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0BC3912-87DE-4BD5-A1C5-ADB9B1437B16}"/>
              </a:ext>
            </a:extLst>
          </p:cNvPr>
          <p:cNvSpPr>
            <a:spLocks xmlns:a="http://schemas.openxmlformats.org/drawingml/2006/main" noGrp="1"/>
          </p:cNvSpPr>
          <p:nvPr/>
        </p:nvSpPr>
        <p:spPr>
          <a:xfrm xmlns:a="http://schemas.openxmlformats.org/drawingml/2006/main">
            <a:off x="9353550" y="360997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F9F58AC-3F72-4104-B9CD-5B96AEDABAC4}"/>
              </a:ext>
            </a:extLst>
          </p:cNvPr>
          <p:cNvSpPr>
            <a:spLocks xmlns:a="http://schemas.openxmlformats.org/drawingml/2006/main" noGrp="1"/>
          </p:cNvSpPr>
          <p:nvPr/>
        </p:nvSpPr>
        <p:spPr>
          <a:xfrm xmlns:a="http://schemas.openxmlformats.org/drawingml/2006/main">
            <a:off x="10220325" y="40576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2A0B466-B0F2-4C3B-BC08-E8558028E06D}"/>
              </a:ext>
            </a:extLst>
          </p:cNvPr>
          <p:cNvSpPr>
            <a:spLocks xmlns:a="http://schemas.openxmlformats.org/drawingml/2006/main" noGrp="1"/>
          </p:cNvSpPr>
          <p:nvPr/>
        </p:nvSpPr>
        <p:spPr>
          <a:xfrm xmlns:a="http://schemas.openxmlformats.org/drawingml/2006/main">
            <a:off x="11087100" y="45053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E98D7E3-D1BF-4150-90D9-6DFBF71C6A34}"/>
              </a:ext>
            </a:extLst>
          </p:cNvPr>
          <p:cNvSpPr>
            <a:spLocks xmlns:a="http://schemas.openxmlformats.org/drawingml/2006/main" noGrp="1"/>
          </p:cNvSpPr>
          <p:nvPr/>
        </p:nvSpPr>
        <p:spPr>
          <a:xfrm xmlns:a="http://schemas.openxmlformats.org/drawingml/2006/main">
            <a:off x="6829425" y="4953000"/>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A2ADF76-BB72-4564-8A18-2312F520F277}"/>
              </a:ext>
            </a:extLst>
          </p:cNvPr>
          <p:cNvSpPr>
            <a:spLocks xmlns:a="http://schemas.openxmlformats.org/drawingml/2006/main" noGrp="1"/>
          </p:cNvSpPr>
          <p:nvPr/>
        </p:nvSpPr>
        <p:spPr>
          <a:xfrm xmlns:a="http://schemas.openxmlformats.org/drawingml/2006/main">
            <a:off x="7696200" y="54006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C4A9B5-AB8D-4E20-9F4E-B5C593A2703E}"/>
              </a:ext>
            </a:extLst>
          </p:cNvPr>
          <p:cNvSpPr>
            <a:spLocks xmlns:a="http://schemas.openxmlformats.org/drawingml/2006/main" noGrp="1"/>
          </p:cNvSpPr>
          <p:nvPr/>
        </p:nvSpPr>
        <p:spPr>
          <a:xfrm xmlns:a="http://schemas.openxmlformats.org/drawingml/2006/main">
            <a:off x="8562975" y="10858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301166B-7763-40B7-A230-0EFF4DF9E0B6}"/>
              </a:ext>
            </a:extLst>
          </p:cNvPr>
          <p:cNvSpPr>
            <a:spLocks xmlns:a="http://schemas.openxmlformats.org/drawingml/2006/main" noGrp="1"/>
          </p:cNvSpPr>
          <p:nvPr/>
        </p:nvSpPr>
        <p:spPr>
          <a:xfrm xmlns:a="http://schemas.openxmlformats.org/drawingml/2006/main">
            <a:off x="9429750" y="153352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ED4628C-361B-4A5A-BB19-CF9962A97B81}"/>
              </a:ext>
            </a:extLst>
          </p:cNvPr>
          <p:cNvSpPr>
            <a:spLocks xmlns:a="http://schemas.openxmlformats.org/drawingml/2006/main" noGrp="1"/>
          </p:cNvSpPr>
          <p:nvPr/>
        </p:nvSpPr>
        <p:spPr>
          <a:xfrm xmlns:a="http://schemas.openxmlformats.org/drawingml/2006/main">
            <a:off x="666750" y="5143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900" b="1">
                <a:solidFill>
                  <a:srgbClr val="C8C9C7"/>
                </a:solidFill>
                <a:latin typeface="Malgun Gothic"/>
                <a:ea typeface="Malgun Gothic"/>
                <a:cs typeface="Malgun Gothic"/>
              </a:defRPr>
            </a:pPr>
            <a:r>
              <a:rPr sz="900" b="1">
                <a:solidFill>
                  <a:srgbClr val="C8C9C7"/>
                </a:solidFill>
                <a:latin typeface="Malgun Gothic"/>
                <a:ea typeface="Malgun Gothic"/>
                <a:cs typeface="Malgun Gothic"/>
              </a:rPr>
              <a:t>Rainbow Robotics | Portfolio</a:t>
            </a:r>
          </a:p>
        </p:txBody>
      </p:sp>
      <p:sp>
        <p:nvSpPr>
          <p:cNvPr id="38" name="">
            <a:extLst xmlns:a="http://schemas.openxmlformats.org/drawingml/2006/main">
              <a:ext uri="{FF2B5EF4-FFF2-40B4-BE49-F238E27FC236}">
                <a16:creationId xmlns:a16="http://schemas.microsoft.com/office/drawing/2014/main" id="{D26BD08E-E688-4790-99BE-F30E82CBEB7A}"/>
              </a:ext>
            </a:extLst>
          </p:cNvPr>
          <p:cNvSpPr>
            <a:spLocks xmlns:a="http://schemas.openxmlformats.org/drawingml/2006/main" noGrp="1"/>
          </p:cNvSpPr>
          <p:nvPr/>
        </p:nvSpPr>
        <p:spPr>
          <a:xfrm xmlns:a="http://schemas.openxmlformats.org/drawingml/2006/main">
            <a:off x="666750" y="1219200"/>
            <a:ext cx="547687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0000"/>
              </a:lnSpc>
              <a:buNone/>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Astronomy Application</a:t>
            </a:r>
          </a:p>
          <a:p xmlns:a="http://schemas.openxmlformats.org/drawingml/2006/main">
            <a:pPr algn="l">
              <a:lnSpc>
                <a:spcPct val="90000"/>
              </a:lnSpc>
              <a:buNone/>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Software Developer</a:t>
            </a:r>
          </a:p>
          <a:p xmlns:a="http://schemas.openxmlformats.org/drawingml/2006/main">
            <a:pPr algn="l">
              <a:lnSpc>
                <a:spcPct val="90000"/>
              </a:lnSpc>
              <a:buNone/>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Portfolio</a:t>
            </a:r>
          </a:p>
        </p:txBody>
      </p:sp>
      <p:sp>
        <p:nvSpPr>
          <p:cNvPr id="39" name="">
            <a:extLst xmlns:a="http://schemas.openxmlformats.org/drawingml/2006/main">
              <a:ext uri="{FF2B5EF4-FFF2-40B4-BE49-F238E27FC236}">
                <a16:creationId xmlns:a16="http://schemas.microsoft.com/office/drawing/2014/main" id="{280BC41F-5619-43A4-9B4E-3E8A9D4E7824}"/>
              </a:ext>
            </a:extLst>
          </p:cNvPr>
          <p:cNvSpPr>
            <a:spLocks xmlns:a="http://schemas.openxmlformats.org/drawingml/2006/main" noGrp="1"/>
          </p:cNvSpPr>
          <p:nvPr/>
        </p:nvSpPr>
        <p:spPr>
          <a:xfrm xmlns:a="http://schemas.openxmlformats.org/drawingml/2006/main">
            <a:off x="685800" y="318135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00" b="1">
                <a:solidFill>
                  <a:srgbClr val="F4F5F6"/>
                </a:solidFill>
                <a:latin typeface="Malgun Gothic"/>
                <a:ea typeface="Malgun Gothic"/>
                <a:cs typeface="Malgun Gothic"/>
              </a:defRPr>
            </a:pPr>
            <a:r>
              <a:rPr sz="1500" b="1">
                <a:solidFill>
                  <a:srgbClr val="F4F5F6"/>
                </a:solidFill>
                <a:latin typeface="Malgun Gothic"/>
                <a:ea typeface="Malgun Gothic"/>
                <a:cs typeface="Malgun Gothic"/>
              </a:rPr>
              <a:t>C++ 기반 과학기술 소프트웨어 개발 경험과</a:t>
            </a:r>
          </a:p>
          <a:p xmlns:a="http://schemas.openxmlformats.org/drawingml/2006/main">
            <a:pPr algn="l">
              <a:lnSpc>
                <a:spcPct val="112000"/>
              </a:lnSpc>
              <a:buNone/>
              <a:defRPr sz="1500" b="1">
                <a:solidFill>
                  <a:srgbClr val="F4F5F6"/>
                </a:solidFill>
                <a:latin typeface="Malgun Gothic"/>
                <a:ea typeface="Malgun Gothic"/>
                <a:cs typeface="Malgun Gothic"/>
              </a:defRPr>
            </a:pPr>
            <a:r>
              <a:rPr sz="1500" b="1">
                <a:solidFill>
                  <a:srgbClr val="F4F5F6"/>
                </a:solidFill>
                <a:latin typeface="Malgun Gothic"/>
                <a:ea typeface="Malgun Gothic"/>
                <a:cs typeface="Malgun Gothic"/>
              </a:rPr>
              <a:t>N.I.N.A 플러그인 개발 경험</a:t>
            </a:r>
          </a:p>
        </p:txBody>
      </p:sp>
      <p:sp>
        <p:nvSpPr>
          <p:cNvPr id="40" name="">
            <a:extLst xmlns:a="http://schemas.openxmlformats.org/drawingml/2006/main">
              <a:ext uri="{FF2B5EF4-FFF2-40B4-BE49-F238E27FC236}">
                <a16:creationId xmlns:a16="http://schemas.microsoft.com/office/drawing/2014/main" id="{A303E024-59D3-454B-BD71-1D4C2465E9EE}"/>
              </a:ext>
            </a:extLst>
          </p:cNvPr>
          <p:cNvSpPr>
            <a:spLocks xmlns:a="http://schemas.openxmlformats.org/drawingml/2006/main" noGrp="1"/>
          </p:cNvSpPr>
          <p:nvPr/>
        </p:nvSpPr>
        <p:spPr>
          <a:xfrm xmlns:a="http://schemas.openxmlformats.org/drawingml/2006/main">
            <a:off x="685800" y="4286250"/>
            <a:ext cx="5381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2000"/>
              </a:lnSpc>
              <a:buNone/>
              <a:defRPr sz="1275" b="0">
                <a:solidFill>
                  <a:srgbClr val="D4D8DC"/>
                </a:solidFill>
                <a:latin typeface="Malgun Gothic"/>
                <a:ea typeface="Malgun Gothic"/>
                <a:cs typeface="Malgun Gothic"/>
              </a:defRPr>
            </a:pPr>
            <a:r>
              <a:rPr sz="1275" b="0">
                <a:solidFill>
                  <a:srgbClr val="D4D8DC"/>
                </a:solidFill>
                <a:latin typeface="Malgun Gothic"/>
                <a:ea typeface="Malgun Gothic"/>
                <a:cs typeface="Malgun Gothic"/>
              </a:rPr>
              <a:t>“C++ 기반 과학기술 소프트웨어를 오래 개발해왔고,</a:t>
            </a:r>
          </a:p>
          <a:p xmlns:a="http://schemas.openxmlformats.org/drawingml/2006/main">
            <a:pPr algn="l">
              <a:lnSpc>
                <a:spcPct val="122000"/>
              </a:lnSpc>
              <a:buNone/>
              <a:defRPr sz="1275" b="0">
                <a:solidFill>
                  <a:srgbClr val="D4D8DC"/>
                </a:solidFill>
                <a:latin typeface="Malgun Gothic"/>
                <a:ea typeface="Malgun Gothic"/>
                <a:cs typeface="Malgun Gothic"/>
              </a:defRPr>
            </a:pPr>
            <a:r>
              <a:rPr sz="1275" b="0">
                <a:solidFill>
                  <a:srgbClr val="D4D8DC"/>
                </a:solidFill>
                <a:latin typeface="Malgun Gothic"/>
                <a:ea typeface="Malgun Gothic"/>
                <a:cs typeface="Malgun Gothic"/>
              </a:rPr>
              <a:t>천문 관측 소프트웨어를 직접 사용하고 확장해본 개발자입니다.”</a:t>
            </a:r>
          </a:p>
        </p:txBody>
      </p:sp>
      <p:sp>
        <p:nvSpPr>
          <p:cNvPr id="41" name="">
            <a:extLst xmlns:a="http://schemas.openxmlformats.org/drawingml/2006/main">
              <a:ext uri="{FF2B5EF4-FFF2-40B4-BE49-F238E27FC236}">
                <a16:creationId xmlns:a16="http://schemas.microsoft.com/office/drawing/2014/main" id="{C4FAE9FB-9136-4B6A-95BD-3C18FC35ED9F}"/>
              </a:ext>
            </a:extLst>
          </p:cNvPr>
          <p:cNvSpPr>
            <a:spLocks xmlns:a="http://schemas.openxmlformats.org/drawingml/2006/main" noGrp="1"/>
          </p:cNvSpPr>
          <p:nvPr/>
        </p:nvSpPr>
        <p:spPr>
          <a:xfrm xmlns:a="http://schemas.openxmlformats.org/drawingml/2006/main">
            <a:off x="6572250" y="914400"/>
            <a:ext cx="4762500" cy="4629150"/>
          </a:xfrm>
          <a:prstGeom xmlns:a="http://schemas.openxmlformats.org/drawingml/2006/main" prst="roundRect">
            <a:avLst>
              <a:gd name="adj" fmla="val 1646"/>
            </a:avLst>
          </a:prstGeom>
          <a:solidFill xmlns:a="http://schemas.openxmlformats.org/drawingml/2006/main">
            <a:srgbClr val="2B3036"/>
          </a:solidFill>
          <a:ln xmlns:a="http://schemas.openxmlformats.org/drawingml/2006/main" w="14288">
            <a:solidFill>
              <a:srgbClr val="858B92"/>
            </a:solidFill>
            <a:prstDash val="dash"/>
          </a:ln>
        </p:spPr>
      </p:sp>
      <p:sp>
        <p:nvSpPr>
          <p:cNvPr id="42" name="">
            <a:extLst xmlns:a="http://schemas.openxmlformats.org/drawingml/2006/main">
              <a:ext uri="{FF2B5EF4-FFF2-40B4-BE49-F238E27FC236}">
                <a16:creationId xmlns:a16="http://schemas.microsoft.com/office/drawing/2014/main" id="{0B755B7A-BE29-4140-B2FD-F5AF578D6C71}"/>
              </a:ext>
            </a:extLst>
          </p:cNvPr>
          <p:cNvSpPr>
            <a:spLocks xmlns:a="http://schemas.openxmlformats.org/drawingml/2006/main" noGrp="1"/>
          </p:cNvSpPr>
          <p:nvPr/>
        </p:nvSpPr>
        <p:spPr>
          <a:xfrm xmlns:a="http://schemas.openxmlformats.org/drawingml/2006/main">
            <a:off x="6762750" y="11430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F2F4F5"/>
                </a:solidFill>
                <a:latin typeface="Malgun Gothic"/>
                <a:ea typeface="Malgun Gothic"/>
                <a:cs typeface="Malgun Gothic"/>
              </a:defRPr>
            </a:pPr>
            <a:r>
              <a:rPr sz="975" b="1">
                <a:solidFill>
                  <a:srgbClr val="F2F4F5"/>
                </a:solidFill>
                <a:latin typeface="Malgun Gothic"/>
                <a:ea typeface="Malgun Gothic"/>
                <a:cs typeface="Malgun Gothic"/>
              </a:rPr>
              <a:t>IMAGE PLACEHOLDER</a:t>
            </a:r>
          </a:p>
        </p:txBody>
      </p:sp>
      <p:sp>
        <p:nvSpPr>
          <p:cNvPr id="43" name="">
            <a:extLst xmlns:a="http://schemas.openxmlformats.org/drawingml/2006/main">
              <a:ext uri="{FF2B5EF4-FFF2-40B4-BE49-F238E27FC236}">
                <a16:creationId xmlns:a16="http://schemas.microsoft.com/office/drawing/2014/main" id="{6845ADD3-D97D-496B-804D-46E597DEAFD8}"/>
              </a:ext>
            </a:extLst>
          </p:cNvPr>
          <p:cNvSpPr>
            <a:spLocks xmlns:a="http://schemas.openxmlformats.org/drawingml/2006/main" noGrp="1"/>
          </p:cNvSpPr>
          <p:nvPr/>
        </p:nvSpPr>
        <p:spPr>
          <a:xfrm xmlns:a="http://schemas.openxmlformats.org/drawingml/2006/main">
            <a:off x="6858000" y="1504950"/>
            <a:ext cx="4191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별하늘 / 천문 장비 / 관측 소프트웨어 느낌의</a:t>
            </a:r>
          </a:p>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배경 이미지를 삽입하세요.</a:t>
            </a:r>
          </a:p>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어둡고 차분한 톤 권장</a:t>
            </a:r>
          </a:p>
        </p:txBody>
      </p:sp>
      <p:sp>
        <p:nvSpPr>
          <p:cNvPr id="44" name="">
            <a:extLst xmlns:a="http://schemas.openxmlformats.org/drawingml/2006/main">
              <a:ext uri="{FF2B5EF4-FFF2-40B4-BE49-F238E27FC236}">
                <a16:creationId xmlns:a16="http://schemas.microsoft.com/office/drawing/2014/main" id="{9987AC62-E2C8-4060-A998-E4C3751699FB}"/>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3A4148"/>
            </a:solidFill>
            <a:prstDash val="solid"/>
          </a:ln>
        </p:spPr>
      </p:sp>
      <p:sp>
        <p:nvSpPr>
          <p:cNvPr id="45" name="">
            <a:extLst xmlns:a="http://schemas.openxmlformats.org/drawingml/2006/main">
              <a:ext uri="{FF2B5EF4-FFF2-40B4-BE49-F238E27FC236}">
                <a16:creationId xmlns:a16="http://schemas.microsoft.com/office/drawing/2014/main" id="{E36B9ACF-3413-421A-A8E8-AF2B8AD09F88}"/>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AEB7C0"/>
                </a:solidFill>
                <a:latin typeface="Malgun Gothic"/>
                <a:ea typeface="Malgun Gothic"/>
                <a:cs typeface="Malgun Gothic"/>
              </a:defRPr>
            </a:pPr>
            <a:r>
              <a:rPr sz="713" b="0">
                <a:solidFill>
                  <a:srgbClr val="AEB7C0"/>
                </a:solidFill>
                <a:latin typeface="Malgun Gothic"/>
                <a:ea typeface="Malgun Gothic"/>
                <a:cs typeface="Malgun Gothic"/>
              </a:rPr>
              <a:t>이미지 삽입 가이드: 표지 배경으로 별하늘, 천문 마운트, 관측 SW 화면이 함께 느껴지는 이미지를 넣습니다.</a:t>
            </a:r>
          </a:p>
        </p:txBody>
      </p:sp>
      <p:sp>
        <p:nvSpPr>
          <p:cNvPr id="46" name="">
            <a:extLst xmlns:a="http://schemas.openxmlformats.org/drawingml/2006/main">
              <a:ext uri="{FF2B5EF4-FFF2-40B4-BE49-F238E27FC236}">
                <a16:creationId xmlns:a16="http://schemas.microsoft.com/office/drawing/2014/main" id="{065EF429-2507-4D8E-83BE-467400A70C0E}"/>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AEB7C0"/>
                </a:solidFill>
                <a:latin typeface="Malgun Gothic"/>
                <a:ea typeface="Malgun Gothic"/>
                <a:cs typeface="Malgun Gothic"/>
              </a:defRPr>
            </a:pPr>
            <a:r>
              <a:rPr sz="713" b="0">
                <a:solidFill>
                  <a:srgbClr val="AEB7C0"/>
                </a:solidFill>
                <a:latin typeface="Malgun Gothic"/>
                <a:ea typeface="Malgun Gothic"/>
                <a:cs typeface="Malgun Gothic"/>
              </a:rPr>
              <a:t>1 / 10</a:t>
            </a:r>
          </a:p>
        </p:txBody>
      </p:sp>
    </p:spTree>
    <p:extLst>
      <p:ext uri="{BB962C8B-B14F-4D97-AF65-F5344CB8AC3E}">
        <p14:creationId xmlns:p14="http://schemas.microsoft.com/office/powerpoint/2010/main" val="7449101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EA927B-F6E6-401C-8EF7-74B33FA65ECE}"/>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1727F8-1088-4F7F-AB11-1240BFD612FD}"/>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B535A3FD-9078-4EAC-8897-E95F58FF4E36}"/>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지원 직무와 나의 접점</a:t>
            </a:r>
          </a:p>
        </p:txBody>
      </p:sp>
      <p:sp>
        <p:nvSpPr>
          <p:cNvPr id="4" name="">
            <a:extLst xmlns:a="http://schemas.openxmlformats.org/drawingml/2006/main">
              <a:ext uri="{FF2B5EF4-FFF2-40B4-BE49-F238E27FC236}">
                <a16:creationId xmlns:a16="http://schemas.microsoft.com/office/drawing/2014/main" id="{5AA91982-AC8C-4330-B11C-132D36364F2A}"/>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요구 경험은 강점과 보완 가능 영역을 분리해 투명하게 제시합니다.</a:t>
            </a:r>
          </a:p>
        </p:txBody>
      </p:sp>
      <p:sp>
        <p:nvSpPr>
          <p:cNvPr id="5" name="">
            <a:extLst xmlns:a="http://schemas.openxmlformats.org/drawingml/2006/main">
              <a:ext uri="{FF2B5EF4-FFF2-40B4-BE49-F238E27FC236}">
                <a16:creationId xmlns:a16="http://schemas.microsoft.com/office/drawing/2014/main" id="{4D0F54DA-4D2F-40DD-AFF6-BFF96AA3A635}"/>
              </a:ext>
            </a:extLst>
          </p:cNvPr>
          <p:cNvSpPr>
            <a:spLocks xmlns:a="http://schemas.openxmlformats.org/drawingml/2006/main" noGrp="1"/>
          </p:cNvSpPr>
          <p:nvPr/>
        </p:nvSpPr>
        <p:spPr>
          <a:xfrm xmlns:a="http://schemas.openxmlformats.org/drawingml/2006/main">
            <a:off x="685800" y="1238250"/>
            <a:ext cx="87630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핵심 메시지</a:t>
            </a:r>
          </a:p>
        </p:txBody>
      </p:sp>
      <p:sp>
        <p:nvSpPr>
          <p:cNvPr id="6" name="">
            <a:extLst xmlns:a="http://schemas.openxmlformats.org/drawingml/2006/main">
              <a:ext uri="{FF2B5EF4-FFF2-40B4-BE49-F238E27FC236}">
                <a16:creationId xmlns:a16="http://schemas.microsoft.com/office/drawing/2014/main" id="{483E9769-596E-44EC-9F6D-F5A78B73C96E}"/>
              </a:ext>
            </a:extLst>
          </p:cNvPr>
          <p:cNvSpPr>
            <a:spLocks xmlns:a="http://schemas.openxmlformats.org/drawingml/2006/main" noGrp="1"/>
          </p:cNvSpPr>
          <p:nvPr/>
        </p:nvSpPr>
        <p:spPr>
          <a:xfrm xmlns:a="http://schemas.openxmlformats.org/drawingml/2006/main">
            <a:off x="1676400" y="1219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88292"/>
          </a:bodyPr>
          <a:lstStyle xmlns:a="http://schemas.openxmlformats.org/drawingml/2006/main"/>
          <a:p xmlns:a="http://schemas.openxmlformats.org/drawingml/2006/main">
            <a:pPr algn="l">
              <a:lnSpc>
                <a:spcPct val="108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C++ 기반 과학기술 SW 개발 경험을 중심에 두고, 장비 제어/TCP-IP/Linux는 학습·실전 프로젝트로 보완할 영역으로 둡니다.</a:t>
            </a:r>
          </a:p>
        </p:txBody>
      </p:sp>
      <p:sp>
        <p:nvSpPr>
          <p:cNvPr id="7" name="">
            <a:extLst xmlns:a="http://schemas.openxmlformats.org/drawingml/2006/main">
              <a:ext uri="{FF2B5EF4-FFF2-40B4-BE49-F238E27FC236}">
                <a16:creationId xmlns:a16="http://schemas.microsoft.com/office/drawing/2014/main" id="{4BC3349E-3C56-4909-ABB9-87BE2F813EF5}"/>
              </a:ext>
            </a:extLst>
          </p:cNvPr>
          <p:cNvSpPr>
            <a:spLocks xmlns:a="http://schemas.openxmlformats.org/drawingml/2006/main" noGrp="1"/>
          </p:cNvSpPr>
          <p:nvPr/>
        </p:nvSpPr>
        <p:spPr>
          <a:xfrm xmlns:a="http://schemas.openxmlformats.org/drawingml/2006/main">
            <a:off x="685800" y="1695450"/>
            <a:ext cx="2190750" cy="533400"/>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38" b="1">
                <a:solidFill>
                  <a:srgbClr val="FFFFFF"/>
                </a:solidFill>
                <a:latin typeface="Malgun Gothic"/>
                <a:ea typeface="Malgun Gothic"/>
                <a:cs typeface="Malgun Gothic"/>
              </a:defRPr>
            </a:pPr>
            <a:r>
              <a:rPr sz="938" b="1">
                <a:solidFill>
                  <a:srgbClr val="FFFFFF"/>
                </a:solidFill>
                <a:latin typeface="Malgun Gothic"/>
                <a:ea typeface="Malgun Gothic"/>
                <a:cs typeface="Malgun Gothic"/>
              </a:rPr>
              <a:t>공고 요구사항</a:t>
            </a:r>
          </a:p>
        </p:txBody>
      </p:sp>
      <p:sp>
        <p:nvSpPr>
          <p:cNvPr id="8" name="">
            <a:extLst xmlns:a="http://schemas.openxmlformats.org/drawingml/2006/main">
              <a:ext uri="{FF2B5EF4-FFF2-40B4-BE49-F238E27FC236}">
                <a16:creationId xmlns:a16="http://schemas.microsoft.com/office/drawing/2014/main" id="{2C41338E-D5E1-4878-B18C-CEE8E2E53DE5}"/>
              </a:ext>
            </a:extLst>
          </p:cNvPr>
          <p:cNvSpPr>
            <a:spLocks xmlns:a="http://schemas.openxmlformats.org/drawingml/2006/main" noGrp="1"/>
          </p:cNvSpPr>
          <p:nvPr/>
        </p:nvSpPr>
        <p:spPr>
          <a:xfrm xmlns:a="http://schemas.openxmlformats.org/drawingml/2006/main">
            <a:off x="2876550" y="1695450"/>
            <a:ext cx="5238750" cy="533400"/>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38" b="1">
                <a:solidFill>
                  <a:srgbClr val="FFFFFF"/>
                </a:solidFill>
                <a:latin typeface="Malgun Gothic"/>
                <a:ea typeface="Malgun Gothic"/>
                <a:cs typeface="Malgun Gothic"/>
              </a:defRPr>
            </a:pPr>
            <a:r>
              <a:rPr sz="938" b="1">
                <a:solidFill>
                  <a:srgbClr val="FFFFFF"/>
                </a:solidFill>
                <a:latin typeface="Malgun Gothic"/>
                <a:ea typeface="Malgun Gothic"/>
                <a:cs typeface="Malgun Gothic"/>
              </a:rPr>
              <a:t>나의 경험 / 접점</a:t>
            </a:r>
          </a:p>
        </p:txBody>
      </p:sp>
      <p:sp>
        <p:nvSpPr>
          <p:cNvPr id="9" name="">
            <a:extLst xmlns:a="http://schemas.openxmlformats.org/drawingml/2006/main">
              <a:ext uri="{FF2B5EF4-FFF2-40B4-BE49-F238E27FC236}">
                <a16:creationId xmlns:a16="http://schemas.microsoft.com/office/drawing/2014/main" id="{56A5B299-2C09-4F8D-99CF-645E1F8F5AE1}"/>
              </a:ext>
            </a:extLst>
          </p:cNvPr>
          <p:cNvSpPr>
            <a:spLocks xmlns:a="http://schemas.openxmlformats.org/drawingml/2006/main" noGrp="1"/>
          </p:cNvSpPr>
          <p:nvPr/>
        </p:nvSpPr>
        <p:spPr>
          <a:xfrm xmlns:a="http://schemas.openxmlformats.org/drawingml/2006/main">
            <a:off x="685800" y="2228850"/>
            <a:ext cx="2190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C/C++ 프로그래밍</a:t>
            </a:r>
          </a:p>
        </p:txBody>
      </p:sp>
      <p:sp>
        <p:nvSpPr>
          <p:cNvPr id="10" name="">
            <a:extLst xmlns:a="http://schemas.openxmlformats.org/drawingml/2006/main">
              <a:ext uri="{FF2B5EF4-FFF2-40B4-BE49-F238E27FC236}">
                <a16:creationId xmlns:a16="http://schemas.microsoft.com/office/drawing/2014/main" id="{25889F66-83EC-40BE-9F9E-A76B85C4812E}"/>
              </a:ext>
            </a:extLst>
          </p:cNvPr>
          <p:cNvSpPr>
            <a:spLocks xmlns:a="http://schemas.openxmlformats.org/drawingml/2006/main" noGrp="1"/>
          </p:cNvSpPr>
          <p:nvPr/>
        </p:nvSpPr>
        <p:spPr>
          <a:xfrm xmlns:a="http://schemas.openxmlformats.org/drawingml/2006/main">
            <a:off x="2876550" y="2228850"/>
            <a:ext cx="523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111827"/>
                </a:solidFill>
                <a:latin typeface="Malgun Gothic"/>
                <a:ea typeface="Malgun Gothic"/>
                <a:cs typeface="Malgun Gothic"/>
              </a:defRPr>
            </a:pPr>
            <a:r>
              <a:rPr sz="915" b="0">
                <a:solidFill>
                  <a:srgbClr val="111827"/>
                </a:solidFill>
                <a:latin typeface="Malgun Gothic"/>
                <a:ea typeface="Malgun Gothic"/>
                <a:cs typeface="Malgun Gothic"/>
              </a:rPr>
              <a:t>20년 이상 C/C++ 기반 엔지니어링 SW 개발</a:t>
            </a:r>
          </a:p>
        </p:txBody>
      </p:sp>
      <p:sp>
        <p:nvSpPr>
          <p:cNvPr id="11" name="">
            <a:extLst xmlns:a="http://schemas.openxmlformats.org/drawingml/2006/main">
              <a:ext uri="{FF2B5EF4-FFF2-40B4-BE49-F238E27FC236}">
                <a16:creationId xmlns:a16="http://schemas.microsoft.com/office/drawing/2014/main" id="{B2F5AFCC-56E6-416E-837C-8D8D997B1F12}"/>
              </a:ext>
            </a:extLst>
          </p:cNvPr>
          <p:cNvSpPr>
            <a:spLocks xmlns:a="http://schemas.openxmlformats.org/drawingml/2006/main" noGrp="1"/>
          </p:cNvSpPr>
          <p:nvPr/>
        </p:nvSpPr>
        <p:spPr>
          <a:xfrm xmlns:a="http://schemas.openxmlformats.org/drawingml/2006/main">
            <a:off x="685800" y="2762250"/>
            <a:ext cx="2190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천문 장비 관련 SW 유지보수</a:t>
            </a:r>
          </a:p>
        </p:txBody>
      </p:sp>
      <p:sp>
        <p:nvSpPr>
          <p:cNvPr id="12" name="">
            <a:extLst xmlns:a="http://schemas.openxmlformats.org/drawingml/2006/main">
              <a:ext uri="{FF2B5EF4-FFF2-40B4-BE49-F238E27FC236}">
                <a16:creationId xmlns:a16="http://schemas.microsoft.com/office/drawing/2014/main" id="{F6595827-97CC-42AC-9344-995A06FCD8EF}"/>
              </a:ext>
            </a:extLst>
          </p:cNvPr>
          <p:cNvSpPr>
            <a:spLocks xmlns:a="http://schemas.openxmlformats.org/drawingml/2006/main" noGrp="1"/>
          </p:cNvSpPr>
          <p:nvPr/>
        </p:nvSpPr>
        <p:spPr>
          <a:xfrm xmlns:a="http://schemas.openxmlformats.org/drawingml/2006/main">
            <a:off x="2876550" y="2762250"/>
            <a:ext cx="5238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111827"/>
                </a:solidFill>
                <a:latin typeface="Malgun Gothic"/>
                <a:ea typeface="Malgun Gothic"/>
                <a:cs typeface="Malgun Gothic"/>
              </a:defRPr>
            </a:pPr>
            <a:r>
              <a:rPr sz="915" b="0">
                <a:solidFill>
                  <a:srgbClr val="111827"/>
                </a:solidFill>
                <a:latin typeface="Malgun Gothic"/>
                <a:ea typeface="Malgun Gothic"/>
                <a:cs typeface="Malgun Gothic"/>
              </a:rPr>
              <a:t>N.I.N.A 플러그인 개발 및 오픈소스 기반 확장 경험</a:t>
            </a:r>
          </a:p>
        </p:txBody>
      </p:sp>
      <p:sp>
        <p:nvSpPr>
          <p:cNvPr id="13" name="">
            <a:extLst xmlns:a="http://schemas.openxmlformats.org/drawingml/2006/main">
              <a:ext uri="{FF2B5EF4-FFF2-40B4-BE49-F238E27FC236}">
                <a16:creationId xmlns:a16="http://schemas.microsoft.com/office/drawing/2014/main" id="{F84406D5-84B1-4A70-8969-66D94215102B}"/>
              </a:ext>
            </a:extLst>
          </p:cNvPr>
          <p:cNvSpPr>
            <a:spLocks xmlns:a="http://schemas.openxmlformats.org/drawingml/2006/main" noGrp="1"/>
          </p:cNvSpPr>
          <p:nvPr/>
        </p:nvSpPr>
        <p:spPr>
          <a:xfrm xmlns:a="http://schemas.openxmlformats.org/drawingml/2006/main">
            <a:off x="685800" y="3295650"/>
            <a:ext cx="2190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TCP/IP, 장비 제어</a:t>
            </a:r>
          </a:p>
        </p:txBody>
      </p:sp>
      <p:sp>
        <p:nvSpPr>
          <p:cNvPr id="14" name="">
            <a:extLst xmlns:a="http://schemas.openxmlformats.org/drawingml/2006/main">
              <a:ext uri="{FF2B5EF4-FFF2-40B4-BE49-F238E27FC236}">
                <a16:creationId xmlns:a16="http://schemas.microsoft.com/office/drawing/2014/main" id="{FC0A5517-719B-4DE9-BEE2-AC7F90E5196F}"/>
              </a:ext>
            </a:extLst>
          </p:cNvPr>
          <p:cNvSpPr>
            <a:spLocks xmlns:a="http://schemas.openxmlformats.org/drawingml/2006/main" noGrp="1"/>
          </p:cNvSpPr>
          <p:nvPr/>
        </p:nvSpPr>
        <p:spPr>
          <a:xfrm xmlns:a="http://schemas.openxmlformats.org/drawingml/2006/main">
            <a:off x="2876550" y="3295650"/>
            <a:ext cx="5238750" cy="533400"/>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E03C31"/>
                </a:solidFill>
                <a:latin typeface="Malgun Gothic"/>
                <a:ea typeface="Malgun Gothic"/>
                <a:cs typeface="Malgun Gothic"/>
              </a:defRPr>
            </a:pPr>
            <a:r>
              <a:rPr sz="915" b="0">
                <a:solidFill>
                  <a:srgbClr val="E03C31"/>
                </a:solidFill>
                <a:latin typeface="Malgun Gothic"/>
                <a:ea typeface="Malgun Gothic"/>
                <a:cs typeface="Malgun Gothic"/>
              </a:rPr>
              <a:t>직접 경험은 제한적이나 API/외부 라이브러리 연동 경험 보유</a:t>
            </a:r>
          </a:p>
        </p:txBody>
      </p:sp>
      <p:sp>
        <p:nvSpPr>
          <p:cNvPr id="15" name="">
            <a:extLst xmlns:a="http://schemas.openxmlformats.org/drawingml/2006/main">
              <a:ext uri="{FF2B5EF4-FFF2-40B4-BE49-F238E27FC236}">
                <a16:creationId xmlns:a16="http://schemas.microsoft.com/office/drawing/2014/main" id="{43EFE85D-820B-43AB-972C-C93A2ECBEC54}"/>
              </a:ext>
            </a:extLst>
          </p:cNvPr>
          <p:cNvSpPr>
            <a:spLocks xmlns:a="http://schemas.openxmlformats.org/drawingml/2006/main" noGrp="1"/>
          </p:cNvSpPr>
          <p:nvPr/>
        </p:nvSpPr>
        <p:spPr>
          <a:xfrm xmlns:a="http://schemas.openxmlformats.org/drawingml/2006/main">
            <a:off x="685800" y="3829050"/>
            <a:ext cx="2190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기존 코드 유지보수/리팩토링</a:t>
            </a:r>
          </a:p>
        </p:txBody>
      </p:sp>
      <p:sp>
        <p:nvSpPr>
          <p:cNvPr id="16" name="">
            <a:extLst xmlns:a="http://schemas.openxmlformats.org/drawingml/2006/main">
              <a:ext uri="{FF2B5EF4-FFF2-40B4-BE49-F238E27FC236}">
                <a16:creationId xmlns:a16="http://schemas.microsoft.com/office/drawing/2014/main" id="{32AFFEE7-633E-4BC0-B9C5-4DA180B01E15}"/>
              </a:ext>
            </a:extLst>
          </p:cNvPr>
          <p:cNvSpPr>
            <a:spLocks xmlns:a="http://schemas.openxmlformats.org/drawingml/2006/main" noGrp="1"/>
          </p:cNvSpPr>
          <p:nvPr/>
        </p:nvSpPr>
        <p:spPr>
          <a:xfrm xmlns:a="http://schemas.openxmlformats.org/drawingml/2006/main">
            <a:off x="2876550" y="3829050"/>
            <a:ext cx="5238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111827"/>
                </a:solidFill>
                <a:latin typeface="Malgun Gothic"/>
                <a:ea typeface="Malgun Gothic"/>
                <a:cs typeface="Malgun Gothic"/>
              </a:defRPr>
            </a:pPr>
            <a:r>
              <a:rPr sz="915" b="0">
                <a:solidFill>
                  <a:srgbClr val="111827"/>
                </a:solidFill>
                <a:latin typeface="Malgun Gothic"/>
                <a:ea typeface="Malgun Gothic"/>
                <a:cs typeface="Malgun Gothic"/>
              </a:rPr>
              <a:t>대규모 상용 CAE 소프트웨어 유지보수 및 기능 개선</a:t>
            </a:r>
          </a:p>
        </p:txBody>
      </p:sp>
      <p:sp>
        <p:nvSpPr>
          <p:cNvPr id="17" name="">
            <a:extLst xmlns:a="http://schemas.openxmlformats.org/drawingml/2006/main">
              <a:ext uri="{FF2B5EF4-FFF2-40B4-BE49-F238E27FC236}">
                <a16:creationId xmlns:a16="http://schemas.microsoft.com/office/drawing/2014/main" id="{30E28D68-9086-440F-B372-DD0655C6A66C}"/>
              </a:ext>
            </a:extLst>
          </p:cNvPr>
          <p:cNvSpPr>
            <a:spLocks xmlns:a="http://schemas.openxmlformats.org/drawingml/2006/main" noGrp="1"/>
          </p:cNvSpPr>
          <p:nvPr/>
        </p:nvSpPr>
        <p:spPr>
          <a:xfrm xmlns:a="http://schemas.openxmlformats.org/drawingml/2006/main">
            <a:off x="685800" y="4362450"/>
            <a:ext cx="2190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Git</a:t>
            </a:r>
          </a:p>
        </p:txBody>
      </p:sp>
      <p:sp>
        <p:nvSpPr>
          <p:cNvPr id="18" name="">
            <a:extLst xmlns:a="http://schemas.openxmlformats.org/drawingml/2006/main">
              <a:ext uri="{FF2B5EF4-FFF2-40B4-BE49-F238E27FC236}">
                <a16:creationId xmlns:a16="http://schemas.microsoft.com/office/drawing/2014/main" id="{DC2AAF90-7E6A-454E-990F-8C279E1E5F08}"/>
              </a:ext>
            </a:extLst>
          </p:cNvPr>
          <p:cNvSpPr>
            <a:spLocks xmlns:a="http://schemas.openxmlformats.org/drawingml/2006/main" noGrp="1"/>
          </p:cNvSpPr>
          <p:nvPr/>
        </p:nvSpPr>
        <p:spPr>
          <a:xfrm xmlns:a="http://schemas.openxmlformats.org/drawingml/2006/main">
            <a:off x="2876550" y="4362450"/>
            <a:ext cx="523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111827"/>
                </a:solidFill>
                <a:latin typeface="Malgun Gothic"/>
                <a:ea typeface="Malgun Gothic"/>
                <a:cs typeface="Malgun Gothic"/>
              </a:defRPr>
            </a:pPr>
            <a:r>
              <a:rPr sz="915" b="0">
                <a:solidFill>
                  <a:srgbClr val="111827"/>
                </a:solidFill>
                <a:latin typeface="Malgun Gothic"/>
                <a:ea typeface="Malgun Gothic"/>
                <a:cs typeface="Malgun Gothic"/>
              </a:rPr>
              <a:t>Git 기반 개발 및 개인 프로젝트 관리</a:t>
            </a:r>
          </a:p>
        </p:txBody>
      </p:sp>
      <p:sp>
        <p:nvSpPr>
          <p:cNvPr id="19" name="">
            <a:extLst xmlns:a="http://schemas.openxmlformats.org/drawingml/2006/main">
              <a:ext uri="{FF2B5EF4-FFF2-40B4-BE49-F238E27FC236}">
                <a16:creationId xmlns:a16="http://schemas.microsoft.com/office/drawing/2014/main" id="{A59D1C2E-7C9A-4186-8063-A2A42A37CB09}"/>
              </a:ext>
            </a:extLst>
          </p:cNvPr>
          <p:cNvSpPr>
            <a:spLocks xmlns:a="http://schemas.openxmlformats.org/drawingml/2006/main" noGrp="1"/>
          </p:cNvSpPr>
          <p:nvPr/>
        </p:nvSpPr>
        <p:spPr>
          <a:xfrm xmlns:a="http://schemas.openxmlformats.org/drawingml/2006/main">
            <a:off x="685800" y="4895850"/>
            <a:ext cx="2190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1">
                <a:solidFill>
                  <a:srgbClr val="1F2328"/>
                </a:solidFill>
                <a:latin typeface="Malgun Gothic"/>
                <a:ea typeface="Malgun Gothic"/>
                <a:cs typeface="Malgun Gothic"/>
              </a:defRPr>
            </a:pPr>
            <a:r>
              <a:rPr sz="915" b="1">
                <a:solidFill>
                  <a:srgbClr val="1F2328"/>
                </a:solidFill>
                <a:latin typeface="Malgun Gothic"/>
                <a:ea typeface="Malgun Gothic"/>
                <a:cs typeface="Malgun Gothic"/>
              </a:rPr>
              <a:t>외부 라이브러리 활용</a:t>
            </a:r>
          </a:p>
        </p:txBody>
      </p:sp>
      <p:sp>
        <p:nvSpPr>
          <p:cNvPr id="20" name="">
            <a:extLst xmlns:a="http://schemas.openxmlformats.org/drawingml/2006/main">
              <a:ext uri="{FF2B5EF4-FFF2-40B4-BE49-F238E27FC236}">
                <a16:creationId xmlns:a16="http://schemas.microsoft.com/office/drawing/2014/main" id="{AF482BE8-9F9F-4D40-B54C-190C8695959F}"/>
              </a:ext>
            </a:extLst>
          </p:cNvPr>
          <p:cNvSpPr>
            <a:spLocks xmlns:a="http://schemas.openxmlformats.org/drawingml/2006/main" noGrp="1"/>
          </p:cNvSpPr>
          <p:nvPr/>
        </p:nvSpPr>
        <p:spPr>
          <a:xfrm xmlns:a="http://schemas.openxmlformats.org/drawingml/2006/main">
            <a:off x="2876550" y="4895850"/>
            <a:ext cx="5238750" cy="533400"/>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915" b="0">
                <a:solidFill>
                  <a:srgbClr val="111827"/>
                </a:solidFill>
                <a:latin typeface="Malgun Gothic"/>
                <a:ea typeface="Malgun Gothic"/>
                <a:cs typeface="Malgun Gothic"/>
              </a:defRPr>
            </a:pPr>
            <a:r>
              <a:rPr sz="915" b="0">
                <a:solidFill>
                  <a:srgbClr val="111827"/>
                </a:solidFill>
                <a:latin typeface="Malgun Gothic"/>
                <a:ea typeface="Malgun Gothic"/>
                <a:cs typeface="Malgun Gothic"/>
              </a:rPr>
              <a:t>N.I.N.A 플러그인 개발 경험</a:t>
            </a:r>
          </a:p>
        </p:txBody>
      </p:sp>
      <p:sp>
        <p:nvSpPr>
          <p:cNvPr id="21" name="">
            <a:extLst xmlns:a="http://schemas.openxmlformats.org/drawingml/2006/main">
              <a:ext uri="{FF2B5EF4-FFF2-40B4-BE49-F238E27FC236}">
                <a16:creationId xmlns:a16="http://schemas.microsoft.com/office/drawing/2014/main" id="{B99A6A2B-6D64-4468-97DA-A24A31066D21}"/>
              </a:ext>
            </a:extLst>
          </p:cNvPr>
          <p:cNvSpPr>
            <a:spLocks xmlns:a="http://schemas.openxmlformats.org/drawingml/2006/main" noGrp="1"/>
          </p:cNvSpPr>
          <p:nvPr/>
        </p:nvSpPr>
        <p:spPr>
          <a:xfrm xmlns:a="http://schemas.openxmlformats.org/drawingml/2006/main">
            <a:off x="8458200" y="1695450"/>
            <a:ext cx="3048000" cy="3733800"/>
          </a:xfrm>
          <a:prstGeom xmlns:a="http://schemas.openxmlformats.org/drawingml/2006/main" prst="roundRect">
            <a:avLst>
              <a:gd name="adj" fmla="val 2500"/>
            </a:avLst>
          </a:prstGeom>
          <a:solidFill xmlns:a="http://schemas.openxmlformats.org/drawingml/2006/main">
            <a:srgbClr val="F4F5F6"/>
          </a:solidFill>
          <a:ln xmlns:a="http://schemas.openxmlformats.org/drawingml/2006/main" w="14288">
            <a:solidFill>
              <a:srgbClr val="AEB4BB"/>
            </a:solidFill>
            <a:prstDash val="dash"/>
          </a:ln>
        </p:spPr>
      </p:sp>
      <p:sp>
        <p:nvSpPr>
          <p:cNvPr id="22" name="">
            <a:extLst xmlns:a="http://schemas.openxmlformats.org/drawingml/2006/main">
              <a:ext uri="{FF2B5EF4-FFF2-40B4-BE49-F238E27FC236}">
                <a16:creationId xmlns:a16="http://schemas.microsoft.com/office/drawing/2014/main" id="{BCC1A464-B1F3-43BB-830A-3FFF10C6B69C}"/>
              </a:ext>
            </a:extLst>
          </p:cNvPr>
          <p:cNvSpPr>
            <a:spLocks xmlns:a="http://schemas.openxmlformats.org/drawingml/2006/main" noGrp="1"/>
          </p:cNvSpPr>
          <p:nvPr/>
        </p:nvSpPr>
        <p:spPr>
          <a:xfrm xmlns:a="http://schemas.openxmlformats.org/drawingml/2006/main">
            <a:off x="8648700" y="19240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공고 캡처 / 요구사항 요약</a:t>
            </a:r>
          </a:p>
        </p:txBody>
      </p:sp>
      <p:sp>
        <p:nvSpPr>
          <p:cNvPr id="23" name="">
            <a:extLst xmlns:a="http://schemas.openxmlformats.org/drawingml/2006/main">
              <a:ext uri="{FF2B5EF4-FFF2-40B4-BE49-F238E27FC236}">
                <a16:creationId xmlns:a16="http://schemas.microsoft.com/office/drawing/2014/main" id="{6385BE4F-121B-41A5-9797-DFD4AF5CCAC2}"/>
              </a:ext>
            </a:extLst>
          </p:cNvPr>
          <p:cNvSpPr>
            <a:spLocks xmlns:a="http://schemas.openxmlformats.org/drawingml/2006/main" noGrp="1"/>
          </p:cNvSpPr>
          <p:nvPr/>
        </p:nvSpPr>
        <p:spPr>
          <a:xfrm xmlns:a="http://schemas.openxmlformats.org/drawingml/2006/main">
            <a:off x="8743950" y="2286000"/>
            <a:ext cx="2476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지원 공고의 천문응용소프트웨어개발</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요구사항 캡처 또는 핵심 요약 이미지를</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삽입하세요.</a:t>
            </a:r>
          </a:p>
        </p:txBody>
      </p:sp>
      <p:sp>
        <p:nvSpPr>
          <p:cNvPr id="24" name="">
            <a:extLst xmlns:a="http://schemas.openxmlformats.org/drawingml/2006/main">
              <a:ext uri="{FF2B5EF4-FFF2-40B4-BE49-F238E27FC236}">
                <a16:creationId xmlns:a16="http://schemas.microsoft.com/office/drawing/2014/main" id="{DFDC2C8B-83A8-4F6E-BD79-F629BD88ECBE}"/>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25" name="">
            <a:extLst xmlns:a="http://schemas.openxmlformats.org/drawingml/2006/main">
              <a:ext uri="{FF2B5EF4-FFF2-40B4-BE49-F238E27FC236}">
                <a16:creationId xmlns:a16="http://schemas.microsoft.com/office/drawing/2014/main" id="{2B2CC29E-4D27-4B12-AEF3-489ACFF4C486}"/>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공고 캡처 또는 요구사항 요약 이미지를 넣어 매핑 표의 신뢰도를 높입니다.</a:t>
            </a:r>
          </a:p>
        </p:txBody>
      </p:sp>
      <p:sp>
        <p:nvSpPr>
          <p:cNvPr id="26" name="">
            <a:extLst xmlns:a="http://schemas.openxmlformats.org/drawingml/2006/main">
              <a:ext uri="{FF2B5EF4-FFF2-40B4-BE49-F238E27FC236}">
                <a16:creationId xmlns:a16="http://schemas.microsoft.com/office/drawing/2014/main" id="{0A7B39F2-9B37-4A11-80B6-A01D47333F6E}"/>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2 / 10</a:t>
            </a:r>
          </a:p>
        </p:txBody>
      </p:sp>
    </p:spTree>
    <p:extLst>
      <p:ext uri="{BB962C8B-B14F-4D97-AF65-F5344CB8AC3E}">
        <p14:creationId xmlns:p14="http://schemas.microsoft.com/office/powerpoint/2010/main" val="18328314"/>
      </p:ext>
    </p:extLst>
  </p:cSld>
</p:sld>
</file>

<file path=ppt/slides/slide3.xml><?xml version="1.0" encoding="utf-8"?>
<p:sld xmlns:p="http://schemas.openxmlformats.org/presentationml/2006/main">
  <p:cSld>
    <p:bg>
      <p:bgPr>
        <a:solidFill xmlns:a="http://schemas.openxmlformats.org/drawingml/2006/main">
          <a:srgbClr val="FBFB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E8C751-56D8-4422-BB01-B84BC69A16E3}"/>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13D6AD-C890-4F48-B073-A817DFBA72BC}"/>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595AF2DE-6DA3-4ABB-8C6F-F4266419F25C}"/>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Career Summary</a:t>
            </a:r>
          </a:p>
        </p:txBody>
      </p:sp>
      <p:sp>
        <p:nvSpPr>
          <p:cNvPr id="4" name="">
            <a:extLst xmlns:a="http://schemas.openxmlformats.org/drawingml/2006/main">
              <a:ext uri="{FF2B5EF4-FFF2-40B4-BE49-F238E27FC236}">
                <a16:creationId xmlns:a16="http://schemas.microsoft.com/office/drawing/2014/main" id="{DD1AA2CB-8318-4A63-929D-B1442E58CBDB}"/>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20년 경력을 “관리 경력”이 아니라 직접 구현해온 실무 개발 경험으로 포지셔닝합니다.</a:t>
            </a:r>
          </a:p>
        </p:txBody>
      </p:sp>
      <p:sp>
        <p:nvSpPr>
          <p:cNvPr id="5" name="">
            <a:extLst xmlns:a="http://schemas.openxmlformats.org/drawingml/2006/main">
              <a:ext uri="{FF2B5EF4-FFF2-40B4-BE49-F238E27FC236}">
                <a16:creationId xmlns:a16="http://schemas.microsoft.com/office/drawing/2014/main" id="{0DE3B6D5-FFD0-4B00-B55C-37C90BC76465}"/>
              </a:ext>
            </a:extLst>
          </p:cNvPr>
          <p:cNvSpPr>
            <a:spLocks xmlns:a="http://schemas.openxmlformats.org/drawingml/2006/main" noGrp="1"/>
          </p:cNvSpPr>
          <p:nvPr/>
        </p:nvSpPr>
        <p:spPr>
          <a:xfrm xmlns:a="http://schemas.openxmlformats.org/drawingml/2006/main">
            <a:off x="685800" y="1257300"/>
            <a:ext cx="87630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핵심 메시지</a:t>
            </a:r>
          </a:p>
        </p:txBody>
      </p:sp>
      <p:sp>
        <p:nvSpPr>
          <p:cNvPr id="6" name="">
            <a:extLst xmlns:a="http://schemas.openxmlformats.org/drawingml/2006/main">
              <a:ext uri="{FF2B5EF4-FFF2-40B4-BE49-F238E27FC236}">
                <a16:creationId xmlns:a16="http://schemas.microsoft.com/office/drawing/2014/main" id="{04BF4A96-9426-4F67-B32E-D344EF3C68ED}"/>
              </a:ext>
            </a:extLst>
          </p:cNvPr>
          <p:cNvSpPr>
            <a:spLocks xmlns:a="http://schemas.openxmlformats.org/drawingml/2006/main" noGrp="1"/>
          </p:cNvSpPr>
          <p:nvPr/>
        </p:nvSpPr>
        <p:spPr>
          <a:xfrm xmlns:a="http://schemas.openxmlformats.org/drawingml/2006/main">
            <a:off x="1676400" y="12287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88191"/>
          </a:bodyPr>
          <a:lstStyle xmlns:a="http://schemas.openxmlformats.org/drawingml/2006/main"/>
          <a:p xmlns:a="http://schemas.openxmlformats.org/drawingml/2006/main">
            <a:pPr algn="l">
              <a:lnSpc>
                <a:spcPct val="108000"/>
              </a:lnSpc>
              <a:buNone/>
              <a:defRPr sz="1275" b="1">
                <a:solidFill>
                  <a:srgbClr val="111827"/>
                </a:solidFill>
                <a:latin typeface="Malgun Gothic"/>
                <a:ea typeface="Malgun Gothic"/>
                <a:cs typeface="Malgun Gothic"/>
              </a:defRPr>
            </a:pPr>
            <a:r>
              <a:rPr sz="1275" b="1">
                <a:solidFill>
                  <a:srgbClr val="111827"/>
                </a:solidFill>
                <a:latin typeface="Malgun Gothic"/>
                <a:ea typeface="Malgun Gothic"/>
                <a:cs typeface="Malgun Gothic"/>
              </a:rPr>
              <a:t>복잡한 C++ 기반 과학기술 소프트웨어를 직접 다뤄온 실무형 개발자입니다.</a:t>
            </a:r>
          </a:p>
        </p:txBody>
      </p:sp>
      <p:sp>
        <p:nvSpPr>
          <p:cNvPr id="7" name="">
            <a:extLst xmlns:a="http://schemas.openxmlformats.org/drawingml/2006/main">
              <a:ext uri="{FF2B5EF4-FFF2-40B4-BE49-F238E27FC236}">
                <a16:creationId xmlns:a16="http://schemas.microsoft.com/office/drawing/2014/main" id="{68537962-8363-4D85-9D27-AA02D3802C89}"/>
              </a:ext>
            </a:extLst>
          </p:cNvPr>
          <p:cNvSpPr>
            <a:spLocks xmlns:a="http://schemas.openxmlformats.org/drawingml/2006/main" noGrp="1"/>
          </p:cNvSpPr>
          <p:nvPr/>
        </p:nvSpPr>
        <p:spPr>
          <a:xfrm xmlns:a="http://schemas.openxmlformats.org/drawingml/2006/main">
            <a:off x="685800" y="1809750"/>
            <a:ext cx="60960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근거</a:t>
            </a:r>
          </a:p>
        </p:txBody>
      </p:sp>
      <p:sp>
        <p:nvSpPr>
          <p:cNvPr id="8" name="">
            <a:extLst xmlns:a="http://schemas.openxmlformats.org/drawingml/2006/main">
              <a:ext uri="{FF2B5EF4-FFF2-40B4-BE49-F238E27FC236}">
                <a16:creationId xmlns:a16="http://schemas.microsoft.com/office/drawing/2014/main" id="{D85D8238-675C-4423-8BA1-4315B3085985}"/>
              </a:ext>
            </a:extLst>
          </p:cNvPr>
          <p:cNvSpPr>
            <a:spLocks xmlns:a="http://schemas.openxmlformats.org/drawingml/2006/main" noGrp="1"/>
          </p:cNvSpPr>
          <p:nvPr/>
        </p:nvSpPr>
        <p:spPr>
          <a:xfrm xmlns:a="http://schemas.openxmlformats.org/drawingml/2006/main">
            <a:off x="685800" y="2171700"/>
            <a:ext cx="58102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4000"/>
              </a:lnSpc>
              <a:buNone/>
              <a:defRPr sz="1140" b="0">
                <a:solidFill>
                  <a:srgbClr val="111827"/>
                </a:solidFill>
                <a:latin typeface="Malgun Gothic"/>
                <a:ea typeface="Malgun Gothic"/>
                <a:cs typeface="Malgun Gothic"/>
              </a:defRPr>
            </a:pPr>
            <a:r>
              <a:rPr sz="1140" b="0">
                <a:solidFill>
                  <a:srgbClr val="111827"/>
                </a:solidFill>
                <a:latin typeface="Malgun Gothic"/>
                <a:ea typeface="Malgun Gothic"/>
                <a:cs typeface="Malgun Gothic"/>
              </a:rPr>
              <a:t>20년간 C++ 기반 과학기술 소프트웨어를 개발했습니다. 구조·동적 해석 분야의 유한요소해석 솔버, 최적화 알고리즘, 피로해석, 대규모 상용 CAE 소프트웨어 개발을 수행하며 수치해석 알고리즘 구현, 성능 개선, 기존 코드 유지보수, 제품화 경험을 쌓았습니다.</a:t>
            </a:r>
          </a:p>
          <a:p xmlns:a="http://schemas.openxmlformats.org/drawingml/2006/main">
            <a:r>
              <a:t/>
            </a:r>
          </a:p>
          <a:p xmlns:a="http://schemas.openxmlformats.org/drawingml/2006/main">
            <a:pPr algn="l">
              <a:lnSpc>
                <a:spcPct val="124000"/>
              </a:lnSpc>
              <a:buNone/>
              <a:defRPr sz="1140" b="0">
                <a:solidFill>
                  <a:srgbClr val="111827"/>
                </a:solidFill>
                <a:latin typeface="Malgun Gothic"/>
                <a:ea typeface="Malgun Gothic"/>
                <a:cs typeface="Malgun Gothic"/>
              </a:defRPr>
            </a:pPr>
            <a:r>
              <a:rPr sz="1140" b="0">
                <a:solidFill>
                  <a:srgbClr val="111827"/>
                </a:solidFill>
                <a:latin typeface="Malgun Gothic"/>
                <a:ea typeface="Malgun Gothic"/>
                <a:cs typeface="Malgun Gothic"/>
              </a:rPr>
              <a:t>최근에는 개인적으로 천문 관측 자동화 소프트웨어인 N.I.N.A의 플러그인을 개발하고 배포하며, 천문 관측 워크플로우와 사용자 경험에 대한 이해를 넓혀왔습니다.</a:t>
            </a:r>
          </a:p>
        </p:txBody>
      </p:sp>
      <p:sp>
        <p:nvSpPr>
          <p:cNvPr id="9" name="">
            <a:extLst xmlns:a="http://schemas.openxmlformats.org/drawingml/2006/main">
              <a:ext uri="{FF2B5EF4-FFF2-40B4-BE49-F238E27FC236}">
                <a16:creationId xmlns:a16="http://schemas.microsoft.com/office/drawing/2014/main" id="{6EEBB10D-70BC-43E2-A357-E16F82782A2F}"/>
              </a:ext>
            </a:extLst>
          </p:cNvPr>
          <p:cNvSpPr>
            <a:spLocks xmlns:a="http://schemas.openxmlformats.org/drawingml/2006/main" noGrp="1"/>
          </p:cNvSpPr>
          <p:nvPr/>
        </p:nvSpPr>
        <p:spPr>
          <a:xfrm xmlns:a="http://schemas.openxmlformats.org/drawingml/2006/main">
            <a:off x="685800" y="4638675"/>
            <a:ext cx="1504950" cy="285750"/>
          </a:xfrm>
          <a:prstGeom xmlns:a="http://schemas.openxmlformats.org/drawingml/2006/main" prst="roundRect">
            <a:avLst>
              <a:gd name="adj" fmla="val 50000"/>
            </a:avLst>
          </a:prstGeom>
          <a:solidFill xmlns:a="http://schemas.openxmlformats.org/drawingml/2006/main">
            <a:srgbClr val="F8FAFC"/>
          </a:solidFill>
          <a:ln xmlns:a="http://schemas.openxmlformats.org/drawingml/2006/main" w="9525">
            <a:solidFill>
              <a:srgbClr val="D8DEE5"/>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111827"/>
                </a:solidFill>
                <a:latin typeface="Malgun Gothic"/>
                <a:ea typeface="Malgun Gothic"/>
                <a:cs typeface="Malgun Gothic"/>
              </a:defRPr>
            </a:pPr>
            <a:r>
              <a:rPr sz="863" b="1">
                <a:solidFill>
                  <a:srgbClr val="111827"/>
                </a:solidFill>
                <a:latin typeface="Malgun Gothic"/>
                <a:ea typeface="Malgun Gothic"/>
                <a:cs typeface="Malgun Gothic"/>
              </a:rPr>
              <a:t>수치해석 알고리즘</a:t>
            </a:r>
          </a:p>
        </p:txBody>
      </p:sp>
      <p:sp>
        <p:nvSpPr>
          <p:cNvPr id="10" name="">
            <a:extLst xmlns:a="http://schemas.openxmlformats.org/drawingml/2006/main">
              <a:ext uri="{FF2B5EF4-FFF2-40B4-BE49-F238E27FC236}">
                <a16:creationId xmlns:a16="http://schemas.microsoft.com/office/drawing/2014/main" id="{E3FF392B-69A0-45BB-B8AE-E0D9F4C9EB54}"/>
              </a:ext>
            </a:extLst>
          </p:cNvPr>
          <p:cNvSpPr>
            <a:spLocks xmlns:a="http://schemas.openxmlformats.org/drawingml/2006/main" noGrp="1"/>
          </p:cNvSpPr>
          <p:nvPr/>
        </p:nvSpPr>
        <p:spPr>
          <a:xfrm xmlns:a="http://schemas.openxmlformats.org/drawingml/2006/main">
            <a:off x="2324100" y="4638675"/>
            <a:ext cx="952500" cy="285750"/>
          </a:xfrm>
          <a:prstGeom xmlns:a="http://schemas.openxmlformats.org/drawingml/2006/main" prst="roundRect">
            <a:avLst>
              <a:gd name="adj" fmla="val 50000"/>
            </a:avLst>
          </a:prstGeom>
          <a:solidFill xmlns:a="http://schemas.openxmlformats.org/drawingml/2006/main">
            <a:srgbClr val="F8FAFC"/>
          </a:solidFill>
          <a:ln xmlns:a="http://schemas.openxmlformats.org/drawingml/2006/main" w="9525">
            <a:solidFill>
              <a:srgbClr val="D8DEE5"/>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111827"/>
                </a:solidFill>
                <a:latin typeface="Malgun Gothic"/>
                <a:ea typeface="Malgun Gothic"/>
                <a:cs typeface="Malgun Gothic"/>
              </a:defRPr>
            </a:pPr>
            <a:r>
              <a:rPr sz="863" b="1">
                <a:solidFill>
                  <a:srgbClr val="111827"/>
                </a:solidFill>
                <a:latin typeface="Malgun Gothic"/>
                <a:ea typeface="Malgun Gothic"/>
                <a:cs typeface="Malgun Gothic"/>
              </a:rPr>
              <a:t>성능 개선</a:t>
            </a:r>
          </a:p>
        </p:txBody>
      </p:sp>
      <p:sp>
        <p:nvSpPr>
          <p:cNvPr id="11" name="">
            <a:extLst xmlns:a="http://schemas.openxmlformats.org/drawingml/2006/main">
              <a:ext uri="{FF2B5EF4-FFF2-40B4-BE49-F238E27FC236}">
                <a16:creationId xmlns:a16="http://schemas.microsoft.com/office/drawing/2014/main" id="{3DB7B37A-2EB4-4599-8D5A-9D44F4E53A71}"/>
              </a:ext>
            </a:extLst>
          </p:cNvPr>
          <p:cNvSpPr>
            <a:spLocks xmlns:a="http://schemas.openxmlformats.org/drawingml/2006/main" noGrp="1"/>
          </p:cNvSpPr>
          <p:nvPr/>
        </p:nvSpPr>
        <p:spPr>
          <a:xfrm xmlns:a="http://schemas.openxmlformats.org/drawingml/2006/main">
            <a:off x="3409950" y="4638675"/>
            <a:ext cx="762000" cy="285750"/>
          </a:xfrm>
          <a:prstGeom xmlns:a="http://schemas.openxmlformats.org/drawingml/2006/main" prst="roundRect">
            <a:avLst>
              <a:gd name="adj" fmla="val 50000"/>
            </a:avLst>
          </a:prstGeom>
          <a:solidFill xmlns:a="http://schemas.openxmlformats.org/drawingml/2006/main">
            <a:srgbClr val="F8FAFC"/>
          </a:solidFill>
          <a:ln xmlns:a="http://schemas.openxmlformats.org/drawingml/2006/main" w="9525">
            <a:solidFill>
              <a:srgbClr val="D8DEE5"/>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111827"/>
                </a:solidFill>
                <a:latin typeface="Malgun Gothic"/>
                <a:ea typeface="Malgun Gothic"/>
                <a:cs typeface="Malgun Gothic"/>
              </a:defRPr>
            </a:pPr>
            <a:r>
              <a:rPr sz="863" b="1">
                <a:solidFill>
                  <a:srgbClr val="111827"/>
                </a:solidFill>
                <a:latin typeface="Malgun Gothic"/>
                <a:ea typeface="Malgun Gothic"/>
                <a:cs typeface="Malgun Gothic"/>
              </a:rPr>
              <a:t>제품화</a:t>
            </a:r>
          </a:p>
        </p:txBody>
      </p:sp>
      <p:sp>
        <p:nvSpPr>
          <p:cNvPr id="12" name="">
            <a:extLst xmlns:a="http://schemas.openxmlformats.org/drawingml/2006/main">
              <a:ext uri="{FF2B5EF4-FFF2-40B4-BE49-F238E27FC236}">
                <a16:creationId xmlns:a16="http://schemas.microsoft.com/office/drawing/2014/main" id="{121748E3-74C1-4203-BDF7-E0A85F3E0D76}"/>
              </a:ext>
            </a:extLst>
          </p:cNvPr>
          <p:cNvSpPr>
            <a:spLocks xmlns:a="http://schemas.openxmlformats.org/drawingml/2006/main" noGrp="1"/>
          </p:cNvSpPr>
          <p:nvPr/>
        </p:nvSpPr>
        <p:spPr>
          <a:xfrm xmlns:a="http://schemas.openxmlformats.org/drawingml/2006/main">
            <a:off x="4305300" y="4638675"/>
            <a:ext cx="1428750" cy="285750"/>
          </a:xfrm>
          <a:prstGeom xmlns:a="http://schemas.openxmlformats.org/drawingml/2006/main" prst="roundRect">
            <a:avLst>
              <a:gd name="adj" fmla="val 50000"/>
            </a:avLst>
          </a:prstGeom>
          <a:solidFill xmlns:a="http://schemas.openxmlformats.org/drawingml/2006/main">
            <a:srgbClr val="EAF5F8"/>
          </a:solidFill>
          <a:ln xmlns:a="http://schemas.openxmlformats.org/drawingml/2006/main" w="9525">
            <a:solidFill>
              <a:srgbClr val="B9DDE7"/>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2A6F97"/>
                </a:solidFill>
                <a:latin typeface="Malgun Gothic"/>
                <a:ea typeface="Malgun Gothic"/>
                <a:cs typeface="Malgun Gothic"/>
              </a:defRPr>
            </a:pPr>
            <a:r>
              <a:rPr sz="863" b="1">
                <a:solidFill>
                  <a:srgbClr val="2A6F97"/>
                </a:solidFill>
                <a:latin typeface="Malgun Gothic"/>
                <a:ea typeface="Malgun Gothic"/>
                <a:cs typeface="Malgun Gothic"/>
              </a:rPr>
              <a:t>N.I.N.A 플러그인</a:t>
            </a:r>
          </a:p>
        </p:txBody>
      </p:sp>
      <p:sp>
        <p:nvSpPr>
          <p:cNvPr id="13" name="">
            <a:extLst xmlns:a="http://schemas.openxmlformats.org/drawingml/2006/main">
              <a:ext uri="{FF2B5EF4-FFF2-40B4-BE49-F238E27FC236}">
                <a16:creationId xmlns:a16="http://schemas.microsoft.com/office/drawing/2014/main" id="{8EF230B3-A395-432E-86D6-609F62B5DDB8}"/>
              </a:ext>
            </a:extLst>
          </p:cNvPr>
          <p:cNvSpPr>
            <a:spLocks xmlns:a="http://schemas.openxmlformats.org/drawingml/2006/main" noGrp="1"/>
          </p:cNvSpPr>
          <p:nvPr/>
        </p:nvSpPr>
        <p:spPr>
          <a:xfrm xmlns:a="http://schemas.openxmlformats.org/drawingml/2006/main">
            <a:off x="7010400" y="1428750"/>
            <a:ext cx="4495800" cy="3905250"/>
          </a:xfrm>
          <a:prstGeom xmlns:a="http://schemas.openxmlformats.org/drawingml/2006/main" prst="roundRect">
            <a:avLst>
              <a:gd name="adj" fmla="val 1951"/>
            </a:avLst>
          </a:prstGeom>
          <a:solidFill xmlns:a="http://schemas.openxmlformats.org/drawingml/2006/main">
            <a:srgbClr val="F4F5F6"/>
          </a:solidFill>
          <a:ln xmlns:a="http://schemas.openxmlformats.org/drawingml/2006/main" w="14288">
            <a:solidFill>
              <a:srgbClr val="AEB4BB"/>
            </a:solidFill>
            <a:prstDash val="dash"/>
          </a:ln>
        </p:spPr>
      </p:sp>
      <p:sp>
        <p:nvSpPr>
          <p:cNvPr id="14" name="">
            <a:extLst xmlns:a="http://schemas.openxmlformats.org/drawingml/2006/main">
              <a:ext uri="{FF2B5EF4-FFF2-40B4-BE49-F238E27FC236}">
                <a16:creationId xmlns:a16="http://schemas.microsoft.com/office/drawing/2014/main" id="{70925105-601B-453B-A774-AD0955142F24}"/>
              </a:ext>
            </a:extLst>
          </p:cNvPr>
          <p:cNvSpPr>
            <a:spLocks xmlns:a="http://schemas.openxmlformats.org/drawingml/2006/main" noGrp="1"/>
          </p:cNvSpPr>
          <p:nvPr/>
        </p:nvSpPr>
        <p:spPr>
          <a:xfrm xmlns:a="http://schemas.openxmlformats.org/drawingml/2006/main">
            <a:off x="7200900" y="1657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경력 타임라인 이미지</a:t>
            </a:r>
          </a:p>
        </p:txBody>
      </p:sp>
      <p:sp>
        <p:nvSpPr>
          <p:cNvPr id="15" name="">
            <a:extLst xmlns:a="http://schemas.openxmlformats.org/drawingml/2006/main">
              <a:ext uri="{FF2B5EF4-FFF2-40B4-BE49-F238E27FC236}">
                <a16:creationId xmlns:a16="http://schemas.microsoft.com/office/drawing/2014/main" id="{4BAC2C84-7B10-4C1B-9F11-2AD5EB51D59D}"/>
              </a:ext>
            </a:extLst>
          </p:cNvPr>
          <p:cNvSpPr>
            <a:spLocks xmlns:a="http://schemas.openxmlformats.org/drawingml/2006/main" noGrp="1"/>
          </p:cNvSpPr>
          <p:nvPr/>
        </p:nvSpPr>
        <p:spPr>
          <a:xfrm xmlns:a="http://schemas.openxmlformats.org/drawingml/2006/main">
            <a:off x="7296150" y="2019300"/>
            <a:ext cx="39243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midas NFX / 최적화 프로젝트 /</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N.I.N.A 플러그인으로 이어지는</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실무 개발 경력 타임라인을 삽입하세요.</a:t>
            </a:r>
          </a:p>
        </p:txBody>
      </p:sp>
      <p:sp>
        <p:nvSpPr>
          <p:cNvPr id="16" name="">
            <a:extLst xmlns:a="http://schemas.openxmlformats.org/drawingml/2006/main">
              <a:ext uri="{FF2B5EF4-FFF2-40B4-BE49-F238E27FC236}">
                <a16:creationId xmlns:a16="http://schemas.microsoft.com/office/drawing/2014/main" id="{16BFC3B3-BC69-4C0E-87A4-769F4190AAA7}"/>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17" name="">
            <a:extLst xmlns:a="http://schemas.openxmlformats.org/drawingml/2006/main">
              <a:ext uri="{FF2B5EF4-FFF2-40B4-BE49-F238E27FC236}">
                <a16:creationId xmlns:a16="http://schemas.microsoft.com/office/drawing/2014/main" id="{21AD31C0-A842-49FD-9420-8198B3F00412}"/>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연도별 경력 흐름과 대표 프로젝트를 한눈에 보여주는 타임라인 이미지를 넣습니다.</a:t>
            </a:r>
          </a:p>
        </p:txBody>
      </p:sp>
      <p:sp>
        <p:nvSpPr>
          <p:cNvPr id="18" name="">
            <a:extLst xmlns:a="http://schemas.openxmlformats.org/drawingml/2006/main">
              <a:ext uri="{FF2B5EF4-FFF2-40B4-BE49-F238E27FC236}">
                <a16:creationId xmlns:a16="http://schemas.microsoft.com/office/drawing/2014/main" id="{39C358E8-0330-4839-B8F3-1B06D3005F99}"/>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3 / 10</a:t>
            </a:r>
          </a:p>
        </p:txBody>
      </p:sp>
    </p:spTree>
    <p:extLst>
      <p:ext uri="{BB962C8B-B14F-4D97-AF65-F5344CB8AC3E}">
        <p14:creationId xmlns:p14="http://schemas.microsoft.com/office/powerpoint/2010/main" val="1155958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30FE1B-CD6C-4F62-81AC-985F8D88AB41}"/>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3A05E5-5594-4923-9139-290EB0F2AEA3}"/>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26366B87-1C6E-436D-A600-3CAB7FC2D365}"/>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대표 프로젝트 1: midas NFX</a:t>
            </a:r>
          </a:p>
        </p:txBody>
      </p:sp>
      <p:sp>
        <p:nvSpPr>
          <p:cNvPr id="4" name="">
            <a:extLst xmlns:a="http://schemas.openxmlformats.org/drawingml/2006/main">
              <a:ext uri="{FF2B5EF4-FFF2-40B4-BE49-F238E27FC236}">
                <a16:creationId xmlns:a16="http://schemas.microsoft.com/office/drawing/2014/main" id="{BBC1318B-E08A-4FF3-B521-AD2E980FC362}"/>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대규모 상용 CAE 소프트웨어를 직접 개발·유지보수해온 C++ 실무 경험입니다.</a:t>
            </a:r>
          </a:p>
        </p:txBody>
      </p:sp>
      <p:sp>
        <p:nvSpPr>
          <p:cNvPr id="5" name="">
            <a:extLst xmlns:a="http://schemas.openxmlformats.org/drawingml/2006/main">
              <a:ext uri="{FF2B5EF4-FFF2-40B4-BE49-F238E27FC236}">
                <a16:creationId xmlns:a16="http://schemas.microsoft.com/office/drawing/2014/main" id="{A243A617-74AA-45FA-B343-ED7CC2FC0BC0}"/>
              </a:ext>
            </a:extLst>
          </p:cNvPr>
          <p:cNvSpPr>
            <a:spLocks xmlns:a="http://schemas.openxmlformats.org/drawingml/2006/main" noGrp="1"/>
          </p:cNvSpPr>
          <p:nvPr/>
        </p:nvSpPr>
        <p:spPr>
          <a:xfrm xmlns:a="http://schemas.openxmlformats.org/drawingml/2006/main">
            <a:off x="685800" y="1333500"/>
            <a:ext cx="2667000" cy="1028700"/>
          </a:xfrm>
          <a:prstGeom xmlns:a="http://schemas.openxmlformats.org/drawingml/2006/main" prst="roundRect">
            <a:avLst>
              <a:gd name="adj" fmla="val 7407"/>
            </a:avLst>
          </a:prstGeom>
          <a:solidFill xmlns:a="http://schemas.openxmlformats.org/drawingml/2006/main">
            <a:srgbClr val="FAFBFC"/>
          </a:solidFill>
          <a:ln xmlns:a="http://schemas.openxmlformats.org/drawingml/2006/main" w="9525">
            <a:solidFill>
              <a:srgbClr val="E1E4E8"/>
            </a:solidFill>
            <a:prstDash val="solid"/>
          </a:ln>
        </p:spPr>
      </p:sp>
      <p:sp>
        <p:nvSpPr>
          <p:cNvPr id="6" name="">
            <a:extLst xmlns:a="http://schemas.openxmlformats.org/drawingml/2006/main">
              <a:ext uri="{FF2B5EF4-FFF2-40B4-BE49-F238E27FC236}">
                <a16:creationId xmlns:a16="http://schemas.microsoft.com/office/drawing/2014/main" id="{9F21BBE6-0B95-4842-A8D2-87EDB5981C81}"/>
              </a:ext>
            </a:extLst>
          </p:cNvPr>
          <p:cNvSpPr>
            <a:spLocks xmlns:a="http://schemas.openxmlformats.org/drawingml/2006/main" noGrp="1"/>
          </p:cNvSpPr>
          <p:nvPr/>
        </p:nvSpPr>
        <p:spPr>
          <a:xfrm xmlns:a="http://schemas.openxmlformats.org/drawingml/2006/main">
            <a:off x="838200" y="146685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프로젝트 개요</a:t>
            </a:r>
          </a:p>
        </p:txBody>
      </p:sp>
      <p:sp>
        <p:nvSpPr>
          <p:cNvPr id="7" name="">
            <a:extLst xmlns:a="http://schemas.openxmlformats.org/drawingml/2006/main">
              <a:ext uri="{FF2B5EF4-FFF2-40B4-BE49-F238E27FC236}">
                <a16:creationId xmlns:a16="http://schemas.microsoft.com/office/drawing/2014/main" id="{38693F9E-5DEA-4C6B-9040-1AF5F04F50D7}"/>
              </a:ext>
            </a:extLst>
          </p:cNvPr>
          <p:cNvSpPr>
            <a:spLocks xmlns:a="http://schemas.openxmlformats.org/drawingml/2006/main" noGrp="1"/>
          </p:cNvSpPr>
          <p:nvPr/>
        </p:nvSpPr>
        <p:spPr>
          <a:xfrm xmlns:a="http://schemas.openxmlformats.org/drawingml/2006/main">
            <a:off x="838200" y="1771650"/>
            <a:ext cx="236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구조, 열, 동적 해석을 지원하는 상용 CAE 소프트웨어</a:t>
            </a:r>
          </a:p>
        </p:txBody>
      </p:sp>
      <p:sp>
        <p:nvSpPr>
          <p:cNvPr id="8" name="">
            <a:extLst xmlns:a="http://schemas.openxmlformats.org/drawingml/2006/main">
              <a:ext uri="{FF2B5EF4-FFF2-40B4-BE49-F238E27FC236}">
                <a16:creationId xmlns:a16="http://schemas.microsoft.com/office/drawing/2014/main" id="{B80FCCB7-52C1-4C51-9C01-FB969BA46799}"/>
              </a:ext>
            </a:extLst>
          </p:cNvPr>
          <p:cNvSpPr>
            <a:spLocks xmlns:a="http://schemas.openxmlformats.org/drawingml/2006/main" noGrp="1"/>
          </p:cNvSpPr>
          <p:nvPr/>
        </p:nvSpPr>
        <p:spPr>
          <a:xfrm xmlns:a="http://schemas.openxmlformats.org/drawingml/2006/main">
            <a:off x="3543300" y="1333500"/>
            <a:ext cx="2667000" cy="1028700"/>
          </a:xfrm>
          <a:prstGeom xmlns:a="http://schemas.openxmlformats.org/drawingml/2006/main" prst="roundRect">
            <a:avLst>
              <a:gd name="adj" fmla="val 7407"/>
            </a:avLst>
          </a:prstGeom>
          <a:solidFill xmlns:a="http://schemas.openxmlformats.org/drawingml/2006/main">
            <a:srgbClr val="FAFBFC"/>
          </a:solidFill>
          <a:ln xmlns:a="http://schemas.openxmlformats.org/drawingml/2006/main" w="9525">
            <a:solidFill>
              <a:srgbClr val="E1E4E8"/>
            </a:solidFill>
            <a:prstDash val="solid"/>
          </a:ln>
        </p:spPr>
      </p:sp>
      <p:sp>
        <p:nvSpPr>
          <p:cNvPr id="9" name="">
            <a:extLst xmlns:a="http://schemas.openxmlformats.org/drawingml/2006/main">
              <a:ext uri="{FF2B5EF4-FFF2-40B4-BE49-F238E27FC236}">
                <a16:creationId xmlns:a16="http://schemas.microsoft.com/office/drawing/2014/main" id="{5BE6CFDA-B3BE-4808-B2A7-6395D34BA9DE}"/>
              </a:ext>
            </a:extLst>
          </p:cNvPr>
          <p:cNvSpPr>
            <a:spLocks xmlns:a="http://schemas.openxmlformats.org/drawingml/2006/main" noGrp="1"/>
          </p:cNvSpPr>
          <p:nvPr/>
        </p:nvSpPr>
        <p:spPr>
          <a:xfrm xmlns:a="http://schemas.openxmlformats.org/drawingml/2006/main">
            <a:off x="3695700" y="146685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역할</a:t>
            </a:r>
          </a:p>
        </p:txBody>
      </p:sp>
      <p:sp>
        <p:nvSpPr>
          <p:cNvPr id="10" name="">
            <a:extLst xmlns:a="http://schemas.openxmlformats.org/drawingml/2006/main">
              <a:ext uri="{FF2B5EF4-FFF2-40B4-BE49-F238E27FC236}">
                <a16:creationId xmlns:a16="http://schemas.microsoft.com/office/drawing/2014/main" id="{EA655F02-18FF-41AA-AF17-C785E3064FFC}"/>
              </a:ext>
            </a:extLst>
          </p:cNvPr>
          <p:cNvSpPr>
            <a:spLocks xmlns:a="http://schemas.openxmlformats.org/drawingml/2006/main" noGrp="1"/>
          </p:cNvSpPr>
          <p:nvPr/>
        </p:nvSpPr>
        <p:spPr>
          <a:xfrm xmlns:a="http://schemas.openxmlformats.org/drawingml/2006/main">
            <a:off x="3695700" y="1771650"/>
            <a:ext cx="236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해석개발팀 핵심 개발자 및 기술 리더</a:t>
            </a:r>
          </a:p>
        </p:txBody>
      </p:sp>
      <p:sp>
        <p:nvSpPr>
          <p:cNvPr id="11" name="">
            <a:extLst xmlns:a="http://schemas.openxmlformats.org/drawingml/2006/main">
              <a:ext uri="{FF2B5EF4-FFF2-40B4-BE49-F238E27FC236}">
                <a16:creationId xmlns:a16="http://schemas.microsoft.com/office/drawing/2014/main" id="{9631FB8C-9BDA-4D0F-9851-0A98FE6AC7F2}"/>
              </a:ext>
            </a:extLst>
          </p:cNvPr>
          <p:cNvSpPr>
            <a:spLocks xmlns:a="http://schemas.openxmlformats.org/drawingml/2006/main" noGrp="1"/>
          </p:cNvSpPr>
          <p:nvPr/>
        </p:nvSpPr>
        <p:spPr>
          <a:xfrm xmlns:a="http://schemas.openxmlformats.org/drawingml/2006/main">
            <a:off x="685800" y="2686050"/>
            <a:ext cx="78105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주요 개발</a:t>
            </a:r>
          </a:p>
        </p:txBody>
      </p:sp>
      <p:sp>
        <p:nvSpPr>
          <p:cNvPr id="12" name="">
            <a:extLst xmlns:a="http://schemas.openxmlformats.org/drawingml/2006/main">
              <a:ext uri="{FF2B5EF4-FFF2-40B4-BE49-F238E27FC236}">
                <a16:creationId xmlns:a16="http://schemas.microsoft.com/office/drawing/2014/main" id="{2CDB1CD0-25C3-42AC-A4A9-B77A4DFA75A3}"/>
              </a:ext>
            </a:extLst>
          </p:cNvPr>
          <p:cNvSpPr>
            <a:spLocks xmlns:a="http://schemas.openxmlformats.org/drawingml/2006/main" noGrp="1"/>
          </p:cNvSpPr>
          <p:nvPr/>
        </p:nvSpPr>
        <p:spPr>
          <a:xfrm xmlns:a="http://schemas.openxmlformats.org/drawingml/2006/main">
            <a:off x="685800" y="3067050"/>
            <a:ext cx="2809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2000"/>
              </a:lnSpc>
              <a:buNone/>
              <a:defRPr sz="1125" b="0">
                <a:solidFill>
                  <a:srgbClr val="111827"/>
                </a:solidFill>
                <a:latin typeface="Malgun Gothic"/>
                <a:ea typeface="Malgun Gothic"/>
                <a:cs typeface="Malgun Gothic"/>
              </a:defRPr>
            </a:pPr>
            <a:r>
              <a:rPr sz="1125" b="0">
                <a:solidFill>
                  <a:srgbClr val="111827"/>
                </a:solidFill>
                <a:latin typeface="Malgun Gothic"/>
                <a:ea typeface="Malgun Gothic"/>
                <a:cs typeface="Malgun Gothic"/>
              </a:rPr>
              <a:t>• 구조/열/동적해석 솔버</a:t>
            </a:r>
          </a:p>
          <a:p xmlns:a="http://schemas.openxmlformats.org/drawingml/2006/main">
            <a:pPr algn="l">
              <a:lnSpc>
                <a:spcPct val="122000"/>
              </a:lnSpc>
              <a:buNone/>
              <a:defRPr sz="1125" b="0">
                <a:solidFill>
                  <a:srgbClr val="111827"/>
                </a:solidFill>
                <a:latin typeface="Malgun Gothic"/>
                <a:ea typeface="Malgun Gothic"/>
                <a:cs typeface="Malgun Gothic"/>
              </a:defRPr>
            </a:pPr>
            <a:r>
              <a:rPr sz="1125" b="0">
                <a:solidFill>
                  <a:srgbClr val="111827"/>
                </a:solidFill>
                <a:latin typeface="Malgun Gothic"/>
                <a:ea typeface="Malgun Gothic"/>
                <a:cs typeface="Malgun Gothic"/>
              </a:rPr>
              <a:t>• Explicit Dynamics</a:t>
            </a:r>
          </a:p>
          <a:p xmlns:a="http://schemas.openxmlformats.org/drawingml/2006/main">
            <a:pPr algn="l">
              <a:lnSpc>
                <a:spcPct val="122000"/>
              </a:lnSpc>
              <a:buNone/>
              <a:defRPr sz="1125" b="0">
                <a:solidFill>
                  <a:srgbClr val="111827"/>
                </a:solidFill>
                <a:latin typeface="Malgun Gothic"/>
                <a:ea typeface="Malgun Gothic"/>
                <a:cs typeface="Malgun Gothic"/>
              </a:defRPr>
            </a:pPr>
            <a:r>
              <a:rPr sz="1125" b="0">
                <a:solidFill>
                  <a:srgbClr val="111827"/>
                </a:solidFill>
                <a:latin typeface="Malgun Gothic"/>
                <a:ea typeface="Malgun Gothic"/>
                <a:cs typeface="Malgun Gothic"/>
              </a:rPr>
              <a:t>• Fatigue Analysis</a:t>
            </a:r>
          </a:p>
          <a:p xmlns:a="http://schemas.openxmlformats.org/drawingml/2006/main">
            <a:pPr algn="l">
              <a:lnSpc>
                <a:spcPct val="122000"/>
              </a:lnSpc>
              <a:buNone/>
              <a:defRPr sz="1125" b="0">
                <a:solidFill>
                  <a:srgbClr val="111827"/>
                </a:solidFill>
                <a:latin typeface="Malgun Gothic"/>
                <a:ea typeface="Malgun Gothic"/>
                <a:cs typeface="Malgun Gothic"/>
              </a:defRPr>
            </a:pPr>
            <a:r>
              <a:rPr sz="1125" b="0">
                <a:solidFill>
                  <a:srgbClr val="111827"/>
                </a:solidFill>
                <a:latin typeface="Malgun Gothic"/>
                <a:ea typeface="Malgun Gothic"/>
                <a:cs typeface="Malgun Gothic"/>
              </a:rPr>
              <a:t>• 최적설계 모듈</a:t>
            </a:r>
          </a:p>
        </p:txBody>
      </p:sp>
      <p:sp>
        <p:nvSpPr>
          <p:cNvPr id="13" name="">
            <a:extLst xmlns:a="http://schemas.openxmlformats.org/drawingml/2006/main">
              <a:ext uri="{FF2B5EF4-FFF2-40B4-BE49-F238E27FC236}">
                <a16:creationId xmlns:a16="http://schemas.microsoft.com/office/drawing/2014/main" id="{D2419BC2-8C84-498D-B06B-F919A8F25D76}"/>
              </a:ext>
            </a:extLst>
          </p:cNvPr>
          <p:cNvSpPr>
            <a:spLocks xmlns:a="http://schemas.openxmlformats.org/drawingml/2006/main" noGrp="1"/>
          </p:cNvSpPr>
          <p:nvPr/>
        </p:nvSpPr>
        <p:spPr>
          <a:xfrm xmlns:a="http://schemas.openxmlformats.org/drawingml/2006/main">
            <a:off x="3714750" y="2686050"/>
            <a:ext cx="142875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공고와 연결되는 경험</a:t>
            </a:r>
          </a:p>
        </p:txBody>
      </p:sp>
      <p:sp>
        <p:nvSpPr>
          <p:cNvPr id="14" name="">
            <a:extLst xmlns:a="http://schemas.openxmlformats.org/drawingml/2006/main">
              <a:ext uri="{FF2B5EF4-FFF2-40B4-BE49-F238E27FC236}">
                <a16:creationId xmlns:a16="http://schemas.microsoft.com/office/drawing/2014/main" id="{904104E9-328A-4EA3-9C48-18352DA0720B}"/>
              </a:ext>
            </a:extLst>
          </p:cNvPr>
          <p:cNvSpPr>
            <a:spLocks xmlns:a="http://schemas.openxmlformats.org/drawingml/2006/main" noGrp="1"/>
          </p:cNvSpPr>
          <p:nvPr/>
        </p:nvSpPr>
        <p:spPr>
          <a:xfrm xmlns:a="http://schemas.openxmlformats.org/drawingml/2006/main">
            <a:off x="3714750" y="30670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2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 C++ 기반 대규모 상용 SW 개발</a:t>
            </a:r>
          </a:p>
          <a:p xmlns:a="http://schemas.openxmlformats.org/drawingml/2006/main">
            <a:pPr algn="l">
              <a:lnSpc>
                <a:spcPct val="122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 기존 코드 유지보수 및 기능 확장</a:t>
            </a:r>
          </a:p>
          <a:p xmlns:a="http://schemas.openxmlformats.org/drawingml/2006/main">
            <a:pPr algn="l">
              <a:lnSpc>
                <a:spcPct val="122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 성능과 안정성이 중요한 모듈 개발</a:t>
            </a:r>
          </a:p>
          <a:p xmlns:a="http://schemas.openxmlformats.org/drawingml/2006/main">
            <a:pPr algn="l">
              <a:lnSpc>
                <a:spcPct val="122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 사용자 요구사항을 제품 기능으로 전환</a:t>
            </a:r>
          </a:p>
        </p:txBody>
      </p:sp>
      <p:sp>
        <p:nvSpPr>
          <p:cNvPr id="15" name="">
            <a:extLst xmlns:a="http://schemas.openxmlformats.org/drawingml/2006/main">
              <a:ext uri="{FF2B5EF4-FFF2-40B4-BE49-F238E27FC236}">
                <a16:creationId xmlns:a16="http://schemas.microsoft.com/office/drawing/2014/main" id="{7EF0F71F-5EB1-4E2E-8994-1FD1611ACFF7}"/>
              </a:ext>
            </a:extLst>
          </p:cNvPr>
          <p:cNvSpPr>
            <a:spLocks xmlns:a="http://schemas.openxmlformats.org/drawingml/2006/main" noGrp="1"/>
          </p:cNvSpPr>
          <p:nvPr/>
        </p:nvSpPr>
        <p:spPr>
          <a:xfrm xmlns:a="http://schemas.openxmlformats.org/drawingml/2006/main">
            <a:off x="6991350" y="1409700"/>
            <a:ext cx="4514850" cy="3848100"/>
          </a:xfrm>
          <a:prstGeom xmlns:a="http://schemas.openxmlformats.org/drawingml/2006/main" prst="roundRect">
            <a:avLst>
              <a:gd name="adj" fmla="val 1980"/>
            </a:avLst>
          </a:prstGeom>
          <a:solidFill xmlns:a="http://schemas.openxmlformats.org/drawingml/2006/main">
            <a:srgbClr val="F4F5F6"/>
          </a:solidFill>
          <a:ln xmlns:a="http://schemas.openxmlformats.org/drawingml/2006/main" w="14288">
            <a:solidFill>
              <a:srgbClr val="AEB4BB"/>
            </a:solidFill>
            <a:prstDash val="dash"/>
          </a:ln>
        </p:spPr>
      </p:sp>
      <p:sp>
        <p:nvSpPr>
          <p:cNvPr id="16" name="">
            <a:extLst xmlns:a="http://schemas.openxmlformats.org/drawingml/2006/main">
              <a:ext uri="{FF2B5EF4-FFF2-40B4-BE49-F238E27FC236}">
                <a16:creationId xmlns:a16="http://schemas.microsoft.com/office/drawing/2014/main" id="{BB26EA1D-EAE4-4349-B1AF-3F46D2D76432}"/>
              </a:ext>
            </a:extLst>
          </p:cNvPr>
          <p:cNvSpPr>
            <a:spLocks xmlns:a="http://schemas.openxmlformats.org/drawingml/2006/main" noGrp="1"/>
          </p:cNvSpPr>
          <p:nvPr/>
        </p:nvSpPr>
        <p:spPr>
          <a:xfrm xmlns:a="http://schemas.openxmlformats.org/drawingml/2006/main">
            <a:off x="7181850" y="163830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midas NFX 화면 / 제품 이미지</a:t>
            </a:r>
          </a:p>
        </p:txBody>
      </p:sp>
      <p:sp>
        <p:nvSpPr>
          <p:cNvPr id="17" name="">
            <a:extLst xmlns:a="http://schemas.openxmlformats.org/drawingml/2006/main">
              <a:ext uri="{FF2B5EF4-FFF2-40B4-BE49-F238E27FC236}">
                <a16:creationId xmlns:a16="http://schemas.microsoft.com/office/drawing/2014/main" id="{D25DA960-6E44-4C4C-8434-C3D6A71B6A31}"/>
              </a:ext>
            </a:extLst>
          </p:cNvPr>
          <p:cNvSpPr>
            <a:spLocks xmlns:a="http://schemas.openxmlformats.org/drawingml/2006/main" noGrp="1"/>
          </p:cNvSpPr>
          <p:nvPr/>
        </p:nvSpPr>
        <p:spPr>
          <a:xfrm xmlns:a="http://schemas.openxmlformats.org/drawingml/2006/main">
            <a:off x="7277100" y="2000250"/>
            <a:ext cx="39433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midas NFX 실행 화면, 해석 결과 화면,</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또는 제품 소개 이미지를 삽입하세요.</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개인/회사 공개 가능 범위 확인 권장</a:t>
            </a:r>
          </a:p>
        </p:txBody>
      </p:sp>
      <p:sp>
        <p:nvSpPr>
          <p:cNvPr id="18" name="">
            <a:extLst xmlns:a="http://schemas.openxmlformats.org/drawingml/2006/main">
              <a:ext uri="{FF2B5EF4-FFF2-40B4-BE49-F238E27FC236}">
                <a16:creationId xmlns:a16="http://schemas.microsoft.com/office/drawing/2014/main" id="{40FCBECE-C35E-44B4-B333-71EAA0644F9B}"/>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19" name="">
            <a:extLst xmlns:a="http://schemas.openxmlformats.org/drawingml/2006/main">
              <a:ext uri="{FF2B5EF4-FFF2-40B4-BE49-F238E27FC236}">
                <a16:creationId xmlns:a16="http://schemas.microsoft.com/office/drawing/2014/main" id="{C6FE9F32-5EBD-49E6-923E-86DECB437631}"/>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midas NFX 화면 캡처 또는 공개 가능한 제품 이미지를 넣습니다.</a:t>
            </a:r>
          </a:p>
        </p:txBody>
      </p:sp>
      <p:sp>
        <p:nvSpPr>
          <p:cNvPr id="20" name="">
            <a:extLst xmlns:a="http://schemas.openxmlformats.org/drawingml/2006/main">
              <a:ext uri="{FF2B5EF4-FFF2-40B4-BE49-F238E27FC236}">
                <a16:creationId xmlns:a16="http://schemas.microsoft.com/office/drawing/2014/main" id="{2AF02F69-9413-452F-9FCA-6B5CF3DCE0BD}"/>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4 / 10</a:t>
            </a:r>
          </a:p>
        </p:txBody>
      </p:sp>
    </p:spTree>
    <p:extLst>
      <p:ext uri="{BB962C8B-B14F-4D97-AF65-F5344CB8AC3E}">
        <p14:creationId xmlns:p14="http://schemas.microsoft.com/office/powerpoint/2010/main" val="768243284"/>
      </p:ext>
    </p:extLst>
  </p:cSld>
</p:sld>
</file>

<file path=ppt/slides/slide5.xml><?xml version="1.0" encoding="utf-8"?>
<p:sld xmlns:p="http://schemas.openxmlformats.org/presentationml/2006/main">
  <p:cSld>
    <p:bg>
      <p:bgPr>
        <a:solidFill xmlns:a="http://schemas.openxmlformats.org/drawingml/2006/main">
          <a:srgbClr val="FBFB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5C1F7F-91F3-4B08-87D6-E7014F895092}"/>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DE9E0F-D398-4C5F-9393-666CA25D3BB0}"/>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740ACF95-FF05-41FD-8735-DAA5973A9A98}"/>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대표 프로젝트 2: 현대자동차 치수최적화</a:t>
            </a:r>
          </a:p>
        </p:txBody>
      </p:sp>
      <p:sp>
        <p:nvSpPr>
          <p:cNvPr id="4" name="">
            <a:extLst xmlns:a="http://schemas.openxmlformats.org/drawingml/2006/main">
              <a:ext uri="{FF2B5EF4-FFF2-40B4-BE49-F238E27FC236}">
                <a16:creationId xmlns:a16="http://schemas.microsoft.com/office/drawing/2014/main" id="{F9623F76-E0F7-4D0C-8953-F33DD7DEBB31}"/>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고객 요구사항을 분석하고 알고리즘·UI·워크플로우를 제품 형태로 연결한 경험입니다.</a:t>
            </a:r>
          </a:p>
        </p:txBody>
      </p:sp>
      <p:sp>
        <p:nvSpPr>
          <p:cNvPr id="5" name="">
            <a:extLst xmlns:a="http://schemas.openxmlformats.org/drawingml/2006/main">
              <a:ext uri="{FF2B5EF4-FFF2-40B4-BE49-F238E27FC236}">
                <a16:creationId xmlns:a16="http://schemas.microsoft.com/office/drawing/2014/main" id="{32DB6CC7-F1E5-4A0C-BB0D-8E6B629927C5}"/>
              </a:ext>
            </a:extLst>
          </p:cNvPr>
          <p:cNvSpPr>
            <a:spLocks xmlns:a="http://schemas.openxmlformats.org/drawingml/2006/main" noGrp="1"/>
          </p:cNvSpPr>
          <p:nvPr/>
        </p:nvSpPr>
        <p:spPr>
          <a:xfrm xmlns:a="http://schemas.openxmlformats.org/drawingml/2006/main">
            <a:off x="685800" y="1428750"/>
            <a:ext cx="23622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1E4E8"/>
            </a:solidFill>
            <a:prstDash val="solid"/>
          </a:ln>
        </p:spPr>
      </p:sp>
      <p:sp>
        <p:nvSpPr>
          <p:cNvPr id="6" name="">
            <a:extLst xmlns:a="http://schemas.openxmlformats.org/drawingml/2006/main">
              <a:ext uri="{FF2B5EF4-FFF2-40B4-BE49-F238E27FC236}">
                <a16:creationId xmlns:a16="http://schemas.microsoft.com/office/drawing/2014/main" id="{DE17027D-3C80-42AE-8997-640B7076A063}"/>
              </a:ext>
            </a:extLst>
          </p:cNvPr>
          <p:cNvSpPr>
            <a:spLocks xmlns:a="http://schemas.openxmlformats.org/drawingml/2006/main" noGrp="1"/>
          </p:cNvSpPr>
          <p:nvPr/>
        </p:nvSpPr>
        <p:spPr>
          <a:xfrm xmlns:a="http://schemas.openxmlformats.org/drawingml/2006/main">
            <a:off x="838200" y="1562100"/>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고객 문제</a:t>
            </a:r>
          </a:p>
        </p:txBody>
      </p:sp>
      <p:sp>
        <p:nvSpPr>
          <p:cNvPr id="7" name="">
            <a:extLst xmlns:a="http://schemas.openxmlformats.org/drawingml/2006/main">
              <a:ext uri="{FF2B5EF4-FFF2-40B4-BE49-F238E27FC236}">
                <a16:creationId xmlns:a16="http://schemas.microsoft.com/office/drawing/2014/main" id="{9B5AF0FC-24C2-4E99-B10D-B49E7C1CC659}"/>
              </a:ext>
            </a:extLst>
          </p:cNvPr>
          <p:cNvSpPr>
            <a:spLocks xmlns:a="http://schemas.openxmlformats.org/drawingml/2006/main" noGrp="1"/>
          </p:cNvSpPr>
          <p:nvPr/>
        </p:nvSpPr>
        <p:spPr>
          <a:xfrm xmlns:a="http://schemas.openxmlformats.org/drawingml/2006/main">
            <a:off x="838200" y="186690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차량 설계 과정에서 강성 향상과 경량화가 동시에 필요</a:t>
            </a:r>
          </a:p>
        </p:txBody>
      </p:sp>
      <p:sp>
        <p:nvSpPr>
          <p:cNvPr id="8" name="">
            <a:extLst xmlns:a="http://schemas.openxmlformats.org/drawingml/2006/main">
              <a:ext uri="{FF2B5EF4-FFF2-40B4-BE49-F238E27FC236}">
                <a16:creationId xmlns:a16="http://schemas.microsoft.com/office/drawing/2014/main" id="{B9B49437-B95B-41BC-BC03-9BFB992117E1}"/>
              </a:ext>
            </a:extLst>
          </p:cNvPr>
          <p:cNvSpPr>
            <a:spLocks xmlns:a="http://schemas.openxmlformats.org/drawingml/2006/main" noGrp="1"/>
          </p:cNvSpPr>
          <p:nvPr/>
        </p:nvSpPr>
        <p:spPr>
          <a:xfrm xmlns:a="http://schemas.openxmlformats.org/drawingml/2006/main">
            <a:off x="3276600" y="1428750"/>
            <a:ext cx="23622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1E4E8"/>
            </a:solidFill>
            <a:prstDash val="solid"/>
          </a:ln>
        </p:spPr>
      </p:sp>
      <p:sp>
        <p:nvSpPr>
          <p:cNvPr id="9" name="">
            <a:extLst xmlns:a="http://schemas.openxmlformats.org/drawingml/2006/main">
              <a:ext uri="{FF2B5EF4-FFF2-40B4-BE49-F238E27FC236}">
                <a16:creationId xmlns:a16="http://schemas.microsoft.com/office/drawing/2014/main" id="{55853E76-E862-4396-82D0-DB21E43C72C2}"/>
              </a:ext>
            </a:extLst>
          </p:cNvPr>
          <p:cNvSpPr>
            <a:spLocks xmlns:a="http://schemas.openxmlformats.org/drawingml/2006/main" noGrp="1"/>
          </p:cNvSpPr>
          <p:nvPr/>
        </p:nvSpPr>
        <p:spPr>
          <a:xfrm xmlns:a="http://schemas.openxmlformats.org/drawingml/2006/main">
            <a:off x="3429000" y="1562100"/>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역할</a:t>
            </a:r>
          </a:p>
        </p:txBody>
      </p:sp>
      <p:sp>
        <p:nvSpPr>
          <p:cNvPr id="10" name="">
            <a:extLst xmlns:a="http://schemas.openxmlformats.org/drawingml/2006/main">
              <a:ext uri="{FF2B5EF4-FFF2-40B4-BE49-F238E27FC236}">
                <a16:creationId xmlns:a16="http://schemas.microsoft.com/office/drawing/2014/main" id="{A3588B89-884C-42C6-8B4E-2DF8C477E6B5}"/>
              </a:ext>
            </a:extLst>
          </p:cNvPr>
          <p:cNvSpPr>
            <a:spLocks xmlns:a="http://schemas.openxmlformats.org/drawingml/2006/main" noGrp="1"/>
          </p:cNvSpPr>
          <p:nvPr/>
        </p:nvSpPr>
        <p:spPr>
          <a:xfrm xmlns:a="http://schemas.openxmlformats.org/drawingml/2006/main">
            <a:off x="3429000" y="186690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실무 리더로 요구사항 정리와 구현 방향을 조율</a:t>
            </a:r>
          </a:p>
        </p:txBody>
      </p:sp>
      <p:sp>
        <p:nvSpPr>
          <p:cNvPr id="11" name="">
            <a:extLst xmlns:a="http://schemas.openxmlformats.org/drawingml/2006/main">
              <a:ext uri="{FF2B5EF4-FFF2-40B4-BE49-F238E27FC236}">
                <a16:creationId xmlns:a16="http://schemas.microsoft.com/office/drawing/2014/main" id="{77E986C3-60E3-4337-A840-FA304F0D7698}"/>
              </a:ext>
            </a:extLst>
          </p:cNvPr>
          <p:cNvSpPr>
            <a:spLocks xmlns:a="http://schemas.openxmlformats.org/drawingml/2006/main" noGrp="1"/>
          </p:cNvSpPr>
          <p:nvPr/>
        </p:nvSpPr>
        <p:spPr>
          <a:xfrm xmlns:a="http://schemas.openxmlformats.org/drawingml/2006/main">
            <a:off x="685800" y="2781300"/>
            <a:ext cx="23622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1E4E8"/>
            </a:solidFill>
            <a:prstDash val="solid"/>
          </a:ln>
        </p:spPr>
      </p:sp>
      <p:sp>
        <p:nvSpPr>
          <p:cNvPr id="12" name="">
            <a:extLst xmlns:a="http://schemas.openxmlformats.org/drawingml/2006/main">
              <a:ext uri="{FF2B5EF4-FFF2-40B4-BE49-F238E27FC236}">
                <a16:creationId xmlns:a16="http://schemas.microsoft.com/office/drawing/2014/main" id="{B13DCE46-9D94-4FF9-BF53-B2E9779FE895}"/>
              </a:ext>
            </a:extLst>
          </p:cNvPr>
          <p:cNvSpPr>
            <a:spLocks xmlns:a="http://schemas.openxmlformats.org/drawingml/2006/main" noGrp="1"/>
          </p:cNvSpPr>
          <p:nvPr/>
        </p:nvSpPr>
        <p:spPr>
          <a:xfrm xmlns:a="http://schemas.openxmlformats.org/drawingml/2006/main">
            <a:off x="838200" y="2914650"/>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개발 내용</a:t>
            </a:r>
          </a:p>
        </p:txBody>
      </p:sp>
      <p:sp>
        <p:nvSpPr>
          <p:cNvPr id="13" name="">
            <a:extLst xmlns:a="http://schemas.openxmlformats.org/drawingml/2006/main">
              <a:ext uri="{FF2B5EF4-FFF2-40B4-BE49-F238E27FC236}">
                <a16:creationId xmlns:a16="http://schemas.microsoft.com/office/drawing/2014/main" id="{E195A453-BE96-44C8-A2D5-07573AAEE851}"/>
              </a:ext>
            </a:extLst>
          </p:cNvPr>
          <p:cNvSpPr>
            <a:spLocks xmlns:a="http://schemas.openxmlformats.org/drawingml/2006/main" noGrp="1"/>
          </p:cNvSpPr>
          <p:nvPr/>
        </p:nvSpPr>
        <p:spPr>
          <a:xfrm xmlns:a="http://schemas.openxmlformats.org/drawingml/2006/main">
            <a:off x="838200" y="3219450"/>
            <a:ext cx="2057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DOE, 민감도 해석, 응답면 모델, 사용자 맞춤형 UI</a:t>
            </a:r>
          </a:p>
        </p:txBody>
      </p:sp>
      <p:sp>
        <p:nvSpPr>
          <p:cNvPr id="14" name="">
            <a:extLst xmlns:a="http://schemas.openxmlformats.org/drawingml/2006/main">
              <a:ext uri="{FF2B5EF4-FFF2-40B4-BE49-F238E27FC236}">
                <a16:creationId xmlns:a16="http://schemas.microsoft.com/office/drawing/2014/main" id="{5F426D15-8896-41A4-9051-62464FFF55A4}"/>
              </a:ext>
            </a:extLst>
          </p:cNvPr>
          <p:cNvSpPr>
            <a:spLocks xmlns:a="http://schemas.openxmlformats.org/drawingml/2006/main" noGrp="1"/>
          </p:cNvSpPr>
          <p:nvPr/>
        </p:nvSpPr>
        <p:spPr>
          <a:xfrm xmlns:a="http://schemas.openxmlformats.org/drawingml/2006/main">
            <a:off x="3276600" y="2781300"/>
            <a:ext cx="23622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F0B8B1"/>
            </a:solidFill>
            <a:prstDash val="solid"/>
          </a:ln>
        </p:spPr>
      </p:sp>
      <p:sp>
        <p:nvSpPr>
          <p:cNvPr id="15" name="">
            <a:extLst xmlns:a="http://schemas.openxmlformats.org/drawingml/2006/main">
              <a:ext uri="{FF2B5EF4-FFF2-40B4-BE49-F238E27FC236}">
                <a16:creationId xmlns:a16="http://schemas.microsoft.com/office/drawing/2014/main" id="{A198F628-98C6-41F1-A0F2-50F9581FDBD3}"/>
              </a:ext>
            </a:extLst>
          </p:cNvPr>
          <p:cNvSpPr>
            <a:spLocks xmlns:a="http://schemas.openxmlformats.org/drawingml/2006/main" noGrp="1"/>
          </p:cNvSpPr>
          <p:nvPr/>
        </p:nvSpPr>
        <p:spPr>
          <a:xfrm xmlns:a="http://schemas.openxmlformats.org/drawingml/2006/main">
            <a:off x="3429000" y="2914650"/>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성과</a:t>
            </a:r>
          </a:p>
        </p:txBody>
      </p:sp>
      <p:sp>
        <p:nvSpPr>
          <p:cNvPr id="16" name="">
            <a:extLst xmlns:a="http://schemas.openxmlformats.org/drawingml/2006/main">
              <a:ext uri="{FF2B5EF4-FFF2-40B4-BE49-F238E27FC236}">
                <a16:creationId xmlns:a16="http://schemas.microsoft.com/office/drawing/2014/main" id="{7549F6C8-FAB8-4417-8221-B706997F95AF}"/>
              </a:ext>
            </a:extLst>
          </p:cNvPr>
          <p:cNvSpPr>
            <a:spLocks xmlns:a="http://schemas.openxmlformats.org/drawingml/2006/main" noGrp="1"/>
          </p:cNvSpPr>
          <p:nvPr/>
        </p:nvSpPr>
        <p:spPr>
          <a:xfrm xmlns:a="http://schemas.openxmlformats.org/drawingml/2006/main">
            <a:off x="3429000" y="3219450"/>
            <a:ext cx="2057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실제 차량 설계 프로세스 적용 및 후속 SW 도입 계약 성사</a:t>
            </a:r>
          </a:p>
        </p:txBody>
      </p:sp>
      <p:sp>
        <p:nvSpPr>
          <p:cNvPr id="17" name="">
            <a:extLst xmlns:a="http://schemas.openxmlformats.org/drawingml/2006/main">
              <a:ext uri="{FF2B5EF4-FFF2-40B4-BE49-F238E27FC236}">
                <a16:creationId xmlns:a16="http://schemas.microsoft.com/office/drawing/2014/main" id="{7D955D58-BEE3-4D67-9A25-5AB9372469B4}"/>
              </a:ext>
            </a:extLst>
          </p:cNvPr>
          <p:cNvSpPr>
            <a:spLocks xmlns:a="http://schemas.openxmlformats.org/drawingml/2006/main" noGrp="1"/>
          </p:cNvSpPr>
          <p:nvPr/>
        </p:nvSpPr>
        <p:spPr>
          <a:xfrm xmlns:a="http://schemas.openxmlformats.org/drawingml/2006/main">
            <a:off x="685800" y="4476750"/>
            <a:ext cx="99060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공고와 연결</a:t>
            </a:r>
          </a:p>
        </p:txBody>
      </p:sp>
      <p:sp>
        <p:nvSpPr>
          <p:cNvPr id="18" name="">
            <a:extLst xmlns:a="http://schemas.openxmlformats.org/drawingml/2006/main">
              <a:ext uri="{FF2B5EF4-FFF2-40B4-BE49-F238E27FC236}">
                <a16:creationId xmlns:a16="http://schemas.microsoft.com/office/drawing/2014/main" id="{EDC8EA27-563A-45F1-B469-03F398523AA3}"/>
              </a:ext>
            </a:extLst>
          </p:cNvPr>
          <p:cNvSpPr>
            <a:spLocks xmlns:a="http://schemas.openxmlformats.org/drawingml/2006/main" noGrp="1"/>
          </p:cNvSpPr>
          <p:nvPr/>
        </p:nvSpPr>
        <p:spPr>
          <a:xfrm xmlns:a="http://schemas.openxmlformats.org/drawingml/2006/main">
            <a:off x="1790700" y="44577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95741"/>
          </a:bodyPr>
          <a:lstStyle xmlns:a="http://schemas.openxmlformats.org/drawingml/2006/main"/>
          <a:p xmlns:a="http://schemas.openxmlformats.org/drawingml/2006/main">
            <a:pPr algn="l">
              <a:lnSpc>
                <a:spcPct val="108000"/>
              </a:lnSpc>
              <a:buNone/>
              <a:defRPr sz="1088" b="1">
                <a:solidFill>
                  <a:srgbClr val="111827"/>
                </a:solidFill>
                <a:latin typeface="Malgun Gothic"/>
                <a:ea typeface="Malgun Gothic"/>
                <a:cs typeface="Malgun Gothic"/>
              </a:defRPr>
            </a:pPr>
            <a:r>
              <a:rPr sz="1088" b="1">
                <a:solidFill>
                  <a:srgbClr val="111827"/>
                </a:solidFill>
                <a:latin typeface="Malgun Gothic"/>
                <a:ea typeface="Malgun Gothic"/>
                <a:cs typeface="Malgun Gothic"/>
              </a:rPr>
              <a:t>고객 요구사항 분석 → 알고리즘 구현 → 사용자 워크플로우 설계까지 이어지는 실무형 개발 경험</a:t>
            </a:r>
          </a:p>
        </p:txBody>
      </p:sp>
      <p:sp>
        <p:nvSpPr>
          <p:cNvPr id="19" name="">
            <a:extLst xmlns:a="http://schemas.openxmlformats.org/drawingml/2006/main">
              <a:ext uri="{FF2B5EF4-FFF2-40B4-BE49-F238E27FC236}">
                <a16:creationId xmlns:a16="http://schemas.microsoft.com/office/drawing/2014/main" id="{D43D70E9-4792-436A-9422-261A1D1EBD34}"/>
              </a:ext>
            </a:extLst>
          </p:cNvPr>
          <p:cNvSpPr>
            <a:spLocks xmlns:a="http://schemas.openxmlformats.org/drawingml/2006/main" noGrp="1"/>
          </p:cNvSpPr>
          <p:nvPr/>
        </p:nvSpPr>
        <p:spPr>
          <a:xfrm xmlns:a="http://schemas.openxmlformats.org/drawingml/2006/main">
            <a:off x="6629400" y="1428750"/>
            <a:ext cx="4876800" cy="3829050"/>
          </a:xfrm>
          <a:prstGeom xmlns:a="http://schemas.openxmlformats.org/drawingml/2006/main" prst="roundRect">
            <a:avLst>
              <a:gd name="adj" fmla="val 1990"/>
            </a:avLst>
          </a:prstGeom>
          <a:solidFill xmlns:a="http://schemas.openxmlformats.org/drawingml/2006/main">
            <a:srgbClr val="F4F5F6"/>
          </a:solidFill>
          <a:ln xmlns:a="http://schemas.openxmlformats.org/drawingml/2006/main" w="14288">
            <a:solidFill>
              <a:srgbClr val="AEB4BB"/>
            </a:solidFill>
            <a:prstDash val="dash"/>
          </a:ln>
        </p:spPr>
      </p:sp>
      <p:sp>
        <p:nvSpPr>
          <p:cNvPr id="20" name="">
            <a:extLst xmlns:a="http://schemas.openxmlformats.org/drawingml/2006/main">
              <a:ext uri="{FF2B5EF4-FFF2-40B4-BE49-F238E27FC236}">
                <a16:creationId xmlns:a16="http://schemas.microsoft.com/office/drawing/2014/main" id="{2CEC001D-6AAC-42E5-B7E3-5612F5FC9AC9}"/>
              </a:ext>
            </a:extLst>
          </p:cNvPr>
          <p:cNvSpPr>
            <a:spLocks xmlns:a="http://schemas.openxmlformats.org/drawingml/2006/main" noGrp="1"/>
          </p:cNvSpPr>
          <p:nvPr/>
        </p:nvSpPr>
        <p:spPr>
          <a:xfrm xmlns:a="http://schemas.openxmlformats.org/drawingml/2006/main">
            <a:off x="6819900" y="165735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최적화 흐름도 / DOE·응답면 그래프 / UI 캡처</a:t>
            </a:r>
          </a:p>
        </p:txBody>
      </p:sp>
      <p:sp>
        <p:nvSpPr>
          <p:cNvPr id="21" name="">
            <a:extLst xmlns:a="http://schemas.openxmlformats.org/drawingml/2006/main">
              <a:ext uri="{FF2B5EF4-FFF2-40B4-BE49-F238E27FC236}">
                <a16:creationId xmlns:a16="http://schemas.microsoft.com/office/drawing/2014/main" id="{D650FC9E-EAFE-47AA-89F3-E23C7908D4CD}"/>
              </a:ext>
            </a:extLst>
          </p:cNvPr>
          <p:cNvSpPr>
            <a:spLocks xmlns:a="http://schemas.openxmlformats.org/drawingml/2006/main" noGrp="1"/>
          </p:cNvSpPr>
          <p:nvPr/>
        </p:nvSpPr>
        <p:spPr>
          <a:xfrm xmlns:a="http://schemas.openxmlformats.org/drawingml/2006/main">
            <a:off x="6915150" y="2019300"/>
            <a:ext cx="4305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최적화 프로세스 도식, DOE 결과,</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응답면 그래프, 사용자 UI 화면 중</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공개 가능한 이미지를 삽입하세요.</a:t>
            </a:r>
          </a:p>
        </p:txBody>
      </p:sp>
      <p:sp>
        <p:nvSpPr>
          <p:cNvPr id="22" name="">
            <a:extLst xmlns:a="http://schemas.openxmlformats.org/drawingml/2006/main">
              <a:ext uri="{FF2B5EF4-FFF2-40B4-BE49-F238E27FC236}">
                <a16:creationId xmlns:a16="http://schemas.microsoft.com/office/drawing/2014/main" id="{11051C8C-572E-4B95-8240-89675DBE96E3}"/>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23" name="">
            <a:extLst xmlns:a="http://schemas.openxmlformats.org/drawingml/2006/main">
              <a:ext uri="{FF2B5EF4-FFF2-40B4-BE49-F238E27FC236}">
                <a16:creationId xmlns:a16="http://schemas.microsoft.com/office/drawing/2014/main" id="{0D7B899B-F689-4B3A-BC7E-D474B9EF86EF}"/>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최적화 흐름도, DOE/응답면 그래프, 사용자 맞춤 UI 캡처를 넣습니다.</a:t>
            </a:r>
          </a:p>
        </p:txBody>
      </p:sp>
      <p:sp>
        <p:nvSpPr>
          <p:cNvPr id="24" name="">
            <a:extLst xmlns:a="http://schemas.openxmlformats.org/drawingml/2006/main">
              <a:ext uri="{FF2B5EF4-FFF2-40B4-BE49-F238E27FC236}">
                <a16:creationId xmlns:a16="http://schemas.microsoft.com/office/drawing/2014/main" id="{14D35E65-7D2B-40C3-8D0C-2E3679D222FE}"/>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5 / 10</a:t>
            </a:r>
          </a:p>
        </p:txBody>
      </p:sp>
    </p:spTree>
    <p:extLst>
      <p:ext uri="{BB962C8B-B14F-4D97-AF65-F5344CB8AC3E}">
        <p14:creationId xmlns:p14="http://schemas.microsoft.com/office/powerpoint/2010/main" val="511188586"/>
      </p:ext>
    </p:extLst>
  </p:cSld>
</p:sld>
</file>

<file path=ppt/slides/slide6.xml><?xml version="1.0" encoding="utf-8"?>
<p:sld xmlns:p="http://schemas.openxmlformats.org/presentationml/2006/main">
  <p:cSld>
    <p:bg>
      <p:bgPr>
        <a:solidFill xmlns:a="http://schemas.openxmlformats.org/drawingml/2006/main">
          <a:srgbClr val="1217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68C219-E90E-4231-9DF1-8853C9AD29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7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FA3CD8-9520-47C7-ABE3-631D305F62B3}"/>
              </a:ext>
            </a:extLst>
          </p:cNvPr>
          <p:cNvSpPr>
            <a:spLocks xmlns:a="http://schemas.openxmlformats.org/drawingml/2006/main" noGrp="1"/>
          </p:cNvSpPr>
          <p:nvPr/>
        </p:nvSpPr>
        <p:spPr>
          <a:xfrm xmlns:a="http://schemas.openxmlformats.org/drawingml/2006/main">
            <a:off x="523875" y="1390650"/>
            <a:ext cx="26670" cy="2667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156487-9D42-4877-91FF-C7F58E6B4357}"/>
              </a:ext>
            </a:extLst>
          </p:cNvPr>
          <p:cNvSpPr>
            <a:spLocks xmlns:a="http://schemas.openxmlformats.org/drawingml/2006/main" noGrp="1"/>
          </p:cNvSpPr>
          <p:nvPr/>
        </p:nvSpPr>
        <p:spPr>
          <a:xfrm xmlns:a="http://schemas.openxmlformats.org/drawingml/2006/main">
            <a:off x="1390650" y="18383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F2A4B1-2AB3-4CB6-A158-73992CEA7D2A}"/>
              </a:ext>
            </a:extLst>
          </p:cNvPr>
          <p:cNvSpPr>
            <a:spLocks xmlns:a="http://schemas.openxmlformats.org/drawingml/2006/main" noGrp="1"/>
          </p:cNvSpPr>
          <p:nvPr/>
        </p:nvSpPr>
        <p:spPr>
          <a:xfrm xmlns:a="http://schemas.openxmlformats.org/drawingml/2006/main">
            <a:off x="2257425" y="22860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043360-5D68-4457-85CA-9D6E581F4022}"/>
              </a:ext>
            </a:extLst>
          </p:cNvPr>
          <p:cNvSpPr>
            <a:spLocks xmlns:a="http://schemas.openxmlformats.org/drawingml/2006/main" noGrp="1"/>
          </p:cNvSpPr>
          <p:nvPr/>
        </p:nvSpPr>
        <p:spPr>
          <a:xfrm xmlns:a="http://schemas.openxmlformats.org/drawingml/2006/main">
            <a:off x="3124200" y="273367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B07F77-7F14-4DDC-8525-A18ECDF03423}"/>
              </a:ext>
            </a:extLst>
          </p:cNvPr>
          <p:cNvSpPr>
            <a:spLocks xmlns:a="http://schemas.openxmlformats.org/drawingml/2006/main" noGrp="1"/>
          </p:cNvSpPr>
          <p:nvPr/>
        </p:nvSpPr>
        <p:spPr>
          <a:xfrm xmlns:a="http://schemas.openxmlformats.org/drawingml/2006/main">
            <a:off x="3990975" y="31813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222E15-96B2-467E-AB1D-A4811019F6BF}"/>
              </a:ext>
            </a:extLst>
          </p:cNvPr>
          <p:cNvSpPr>
            <a:spLocks xmlns:a="http://schemas.openxmlformats.org/drawingml/2006/main" noGrp="1"/>
          </p:cNvSpPr>
          <p:nvPr/>
        </p:nvSpPr>
        <p:spPr>
          <a:xfrm xmlns:a="http://schemas.openxmlformats.org/drawingml/2006/main">
            <a:off x="4857750" y="3629025"/>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6057DA7-4BEB-4D7E-9304-4895F010CC5A}"/>
              </a:ext>
            </a:extLst>
          </p:cNvPr>
          <p:cNvSpPr>
            <a:spLocks xmlns:a="http://schemas.openxmlformats.org/drawingml/2006/main" noGrp="1"/>
          </p:cNvSpPr>
          <p:nvPr/>
        </p:nvSpPr>
        <p:spPr>
          <a:xfrm xmlns:a="http://schemas.openxmlformats.org/drawingml/2006/main">
            <a:off x="5724525" y="4076700"/>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14F869-67B9-452E-820D-45A5AAA07137}"/>
              </a:ext>
            </a:extLst>
          </p:cNvPr>
          <p:cNvSpPr>
            <a:spLocks xmlns:a="http://schemas.openxmlformats.org/drawingml/2006/main" noGrp="1"/>
          </p:cNvSpPr>
          <p:nvPr/>
        </p:nvSpPr>
        <p:spPr>
          <a:xfrm xmlns:a="http://schemas.openxmlformats.org/drawingml/2006/main">
            <a:off x="6591300" y="45243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97B9E6-AA8F-4D06-8FE2-6F340FF0729A}"/>
              </a:ext>
            </a:extLst>
          </p:cNvPr>
          <p:cNvSpPr>
            <a:spLocks xmlns:a="http://schemas.openxmlformats.org/drawingml/2006/main" noGrp="1"/>
          </p:cNvSpPr>
          <p:nvPr/>
        </p:nvSpPr>
        <p:spPr>
          <a:xfrm xmlns:a="http://schemas.openxmlformats.org/drawingml/2006/main">
            <a:off x="7458075" y="49720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ED378F-E167-4FBA-A9E6-AA526839ECF9}"/>
              </a:ext>
            </a:extLst>
          </p:cNvPr>
          <p:cNvSpPr>
            <a:spLocks xmlns:a="http://schemas.openxmlformats.org/drawingml/2006/main" noGrp="1"/>
          </p:cNvSpPr>
          <p:nvPr/>
        </p:nvSpPr>
        <p:spPr>
          <a:xfrm xmlns:a="http://schemas.openxmlformats.org/drawingml/2006/main">
            <a:off x="8324850" y="541972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D1CDBC-BAE4-4DB9-9104-061D19806389}"/>
              </a:ext>
            </a:extLst>
          </p:cNvPr>
          <p:cNvSpPr>
            <a:spLocks xmlns:a="http://schemas.openxmlformats.org/drawingml/2006/main" noGrp="1"/>
          </p:cNvSpPr>
          <p:nvPr/>
        </p:nvSpPr>
        <p:spPr>
          <a:xfrm xmlns:a="http://schemas.openxmlformats.org/drawingml/2006/main">
            <a:off x="9191625" y="1485900"/>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6E1BC3-A43C-4497-A59F-6C86C6349522}"/>
              </a:ext>
            </a:extLst>
          </p:cNvPr>
          <p:cNvSpPr>
            <a:spLocks xmlns:a="http://schemas.openxmlformats.org/drawingml/2006/main" noGrp="1"/>
          </p:cNvSpPr>
          <p:nvPr/>
        </p:nvSpPr>
        <p:spPr>
          <a:xfrm xmlns:a="http://schemas.openxmlformats.org/drawingml/2006/main">
            <a:off x="10058400" y="19335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8116E5-0497-4A48-9EF4-1B2806894D33}"/>
              </a:ext>
            </a:extLst>
          </p:cNvPr>
          <p:cNvSpPr>
            <a:spLocks xmlns:a="http://schemas.openxmlformats.org/drawingml/2006/main" noGrp="1"/>
          </p:cNvSpPr>
          <p:nvPr/>
        </p:nvSpPr>
        <p:spPr>
          <a:xfrm xmlns:a="http://schemas.openxmlformats.org/drawingml/2006/main">
            <a:off x="10925175" y="2381250"/>
            <a:ext cx="19050" cy="1905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5EDBD0B-111B-4B1A-8D99-7F7208803D19}"/>
              </a:ext>
            </a:extLst>
          </p:cNvPr>
          <p:cNvSpPr>
            <a:spLocks xmlns:a="http://schemas.openxmlformats.org/drawingml/2006/main" noGrp="1"/>
          </p:cNvSpPr>
          <p:nvPr/>
        </p:nvSpPr>
        <p:spPr>
          <a:xfrm xmlns:a="http://schemas.openxmlformats.org/drawingml/2006/main">
            <a:off x="838200" y="28289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6C0131-1532-472C-B66C-F47B19FE1FD1}"/>
              </a:ext>
            </a:extLst>
          </p:cNvPr>
          <p:cNvSpPr>
            <a:spLocks xmlns:a="http://schemas.openxmlformats.org/drawingml/2006/main" noGrp="1"/>
          </p:cNvSpPr>
          <p:nvPr/>
        </p:nvSpPr>
        <p:spPr>
          <a:xfrm xmlns:a="http://schemas.openxmlformats.org/drawingml/2006/main">
            <a:off x="1704975" y="32766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77CB397-3323-41BC-844C-AD98E5EA5D46}"/>
              </a:ext>
            </a:extLst>
          </p:cNvPr>
          <p:cNvSpPr>
            <a:spLocks xmlns:a="http://schemas.openxmlformats.org/drawingml/2006/main" noGrp="1"/>
          </p:cNvSpPr>
          <p:nvPr/>
        </p:nvSpPr>
        <p:spPr>
          <a:xfrm xmlns:a="http://schemas.openxmlformats.org/drawingml/2006/main">
            <a:off x="2571750" y="3724275"/>
            <a:ext cx="26670" cy="2667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553D0F5-B36B-43E5-A377-EDE47F982A4C}"/>
              </a:ext>
            </a:extLst>
          </p:cNvPr>
          <p:cNvSpPr>
            <a:spLocks xmlns:a="http://schemas.openxmlformats.org/drawingml/2006/main" noGrp="1"/>
          </p:cNvSpPr>
          <p:nvPr/>
        </p:nvSpPr>
        <p:spPr>
          <a:xfrm xmlns:a="http://schemas.openxmlformats.org/drawingml/2006/main">
            <a:off x="3438525" y="4171950"/>
            <a:ext cx="13335" cy="13335"/>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A31918-8CD7-4354-9A74-25ADF354B9A4}"/>
              </a:ext>
            </a:extLst>
          </p:cNvPr>
          <p:cNvSpPr>
            <a:spLocks xmlns:a="http://schemas.openxmlformats.org/drawingml/2006/main" noGrp="1"/>
          </p:cNvSpPr>
          <p:nvPr/>
        </p:nvSpPr>
        <p:spPr>
          <a:xfrm xmlns:a="http://schemas.openxmlformats.org/drawingml/2006/main">
            <a:off x="4305300" y="461962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EB6B93-D617-4FBC-B4D3-63F1BEF88483}"/>
              </a:ext>
            </a:extLst>
          </p:cNvPr>
          <p:cNvSpPr>
            <a:spLocks xmlns:a="http://schemas.openxmlformats.org/drawingml/2006/main" noGrp="1"/>
          </p:cNvSpPr>
          <p:nvPr/>
        </p:nvSpPr>
        <p:spPr>
          <a:xfrm xmlns:a="http://schemas.openxmlformats.org/drawingml/2006/main">
            <a:off x="5172075" y="5067300"/>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B45FD8-ACAE-473A-AFD4-A92401F2F463}"/>
              </a:ext>
            </a:extLst>
          </p:cNvPr>
          <p:cNvSpPr>
            <a:spLocks xmlns:a="http://schemas.openxmlformats.org/drawingml/2006/main" noGrp="1"/>
          </p:cNvSpPr>
          <p:nvPr/>
        </p:nvSpPr>
        <p:spPr>
          <a:xfrm xmlns:a="http://schemas.openxmlformats.org/drawingml/2006/main">
            <a:off x="6038850" y="11334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700DA7F-147A-4F2A-8615-823B0F66CF3D}"/>
              </a:ext>
            </a:extLst>
          </p:cNvPr>
          <p:cNvSpPr>
            <a:spLocks xmlns:a="http://schemas.openxmlformats.org/drawingml/2006/main" noGrp="1"/>
          </p:cNvSpPr>
          <p:nvPr/>
        </p:nvSpPr>
        <p:spPr>
          <a:xfrm xmlns:a="http://schemas.openxmlformats.org/drawingml/2006/main">
            <a:off x="6905625" y="1581150"/>
            <a:ext cx="26670" cy="26670"/>
          </a:xfrm>
          <a:prstGeom xmlns:a="http://schemas.openxmlformats.org/drawingml/2006/main" prst="ellipse">
            <a:avLst/>
          </a:prstGeom>
          <a:solidFill xmlns:a="http://schemas.openxmlformats.org/drawingml/2006/main">
            <a:srgbClr val="E03C31">
              <a:alpha val="60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74DF6F0-66B6-4B2E-A064-3A281AB25877}"/>
              </a:ext>
            </a:extLst>
          </p:cNvPr>
          <p:cNvSpPr>
            <a:spLocks xmlns:a="http://schemas.openxmlformats.org/drawingml/2006/main" noGrp="1"/>
          </p:cNvSpPr>
          <p:nvPr/>
        </p:nvSpPr>
        <p:spPr>
          <a:xfrm xmlns:a="http://schemas.openxmlformats.org/drawingml/2006/main">
            <a:off x="7772400" y="2028825"/>
            <a:ext cx="19050" cy="19050"/>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CE64BB8-149B-4FFF-A0A8-F4725F067A70}"/>
              </a:ext>
            </a:extLst>
          </p:cNvPr>
          <p:cNvSpPr>
            <a:spLocks xmlns:a="http://schemas.openxmlformats.org/drawingml/2006/main" noGrp="1"/>
          </p:cNvSpPr>
          <p:nvPr/>
        </p:nvSpPr>
        <p:spPr>
          <a:xfrm xmlns:a="http://schemas.openxmlformats.org/drawingml/2006/main">
            <a:off x="8639175" y="2476500"/>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FD1E564-35DF-4096-B233-2C587D7A0A5B}"/>
              </a:ext>
            </a:extLst>
          </p:cNvPr>
          <p:cNvSpPr>
            <a:spLocks xmlns:a="http://schemas.openxmlformats.org/drawingml/2006/main" noGrp="1"/>
          </p:cNvSpPr>
          <p:nvPr/>
        </p:nvSpPr>
        <p:spPr>
          <a:xfrm xmlns:a="http://schemas.openxmlformats.org/drawingml/2006/main">
            <a:off x="9505950" y="2924175"/>
            <a:ext cx="13335" cy="13335"/>
          </a:xfrm>
          <a:prstGeom xmlns:a="http://schemas.openxmlformats.org/drawingml/2006/main" prst="ellipse">
            <a:avLst/>
          </a:prstGeom>
          <a:solidFill xmlns:a="http://schemas.openxmlformats.org/drawingml/2006/main">
            <a:srgbClr val="FFFFFF">
              <a:alpha val="55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B016DD1-E082-4ADA-89E2-14E1C8F698A5}"/>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E18093C-AC42-4247-ADE2-751393607042}"/>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06</a:t>
            </a:r>
          </a:p>
        </p:txBody>
      </p:sp>
      <p:sp>
        <p:nvSpPr>
          <p:cNvPr id="28" name="">
            <a:extLst xmlns:a="http://schemas.openxmlformats.org/drawingml/2006/main">
              <a:ext uri="{FF2B5EF4-FFF2-40B4-BE49-F238E27FC236}">
                <a16:creationId xmlns:a16="http://schemas.microsoft.com/office/drawing/2014/main" id="{CD776B1D-01EE-4D5F-9084-3A4257AC5EDD}"/>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N.I.N.A Manual Focuser Plugin</a:t>
            </a:r>
          </a:p>
        </p:txBody>
      </p:sp>
      <p:sp>
        <p:nvSpPr>
          <p:cNvPr id="29" name="">
            <a:extLst xmlns:a="http://schemas.openxmlformats.org/drawingml/2006/main">
              <a:ext uri="{FF2B5EF4-FFF2-40B4-BE49-F238E27FC236}">
                <a16:creationId xmlns:a16="http://schemas.microsoft.com/office/drawing/2014/main" id="{AB1C97AC-6563-41D9-A142-9C10B72085B6}"/>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D7DCE0"/>
                </a:solidFill>
                <a:latin typeface="Malgun Gothic"/>
                <a:ea typeface="Malgun Gothic"/>
                <a:cs typeface="Malgun Gothic"/>
              </a:defRPr>
            </a:pPr>
            <a:r>
              <a:rPr sz="1163" b="0">
                <a:solidFill>
                  <a:srgbClr val="D7DCE0"/>
                </a:solidFill>
                <a:latin typeface="Malgun Gothic"/>
                <a:ea typeface="Malgun Gothic"/>
                <a:cs typeface="Malgun Gothic"/>
              </a:rPr>
              <a:t>핵심 차별점: 천문 관측 SW를 직접 사용하고 확장해본 실전 경험입니다.</a:t>
            </a:r>
          </a:p>
        </p:txBody>
      </p:sp>
      <p:sp>
        <p:nvSpPr>
          <p:cNvPr id="30" name="">
            <a:extLst xmlns:a="http://schemas.openxmlformats.org/drawingml/2006/main">
              <a:ext uri="{FF2B5EF4-FFF2-40B4-BE49-F238E27FC236}">
                <a16:creationId xmlns:a16="http://schemas.microsoft.com/office/drawing/2014/main" id="{C61BD6C7-E6A9-4AAA-8F81-BEFE35EA091D}"/>
              </a:ext>
            </a:extLst>
          </p:cNvPr>
          <p:cNvSpPr>
            <a:spLocks xmlns:a="http://schemas.openxmlformats.org/drawingml/2006/main" noGrp="1"/>
          </p:cNvSpPr>
          <p:nvPr/>
        </p:nvSpPr>
        <p:spPr>
          <a:xfrm xmlns:a="http://schemas.openxmlformats.org/drawingml/2006/main">
            <a:off x="685800" y="1257300"/>
            <a:ext cx="1028700" cy="266700"/>
          </a:xfrm>
          <a:prstGeom xmlns:a="http://schemas.openxmlformats.org/drawingml/2006/main" prst="roundRect">
            <a:avLst>
              <a:gd name="adj" fmla="val 28571"/>
            </a:avLst>
          </a:prstGeom>
          <a:solidFill xmlns:a="http://schemas.openxmlformats.org/drawingml/2006/main">
            <a:srgbClr val="362725"/>
          </a:solidFill>
          <a:ln xmlns:a="http://schemas.openxmlformats.org/drawingml/2006/main" w="9525">
            <a:solidFill>
              <a:srgbClr val="5E3934"/>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FFB6AE"/>
                </a:solidFill>
                <a:latin typeface="Malgun Gothic"/>
                <a:ea typeface="Malgun Gothic"/>
                <a:cs typeface="Malgun Gothic"/>
              </a:defRPr>
            </a:pPr>
            <a:r>
              <a:rPr sz="863" b="1">
                <a:solidFill>
                  <a:srgbClr val="FFB6AE"/>
                </a:solidFill>
                <a:latin typeface="Malgun Gothic"/>
                <a:ea typeface="Malgun Gothic"/>
                <a:cs typeface="Malgun Gothic"/>
              </a:rPr>
              <a:t>개인 프로젝트</a:t>
            </a:r>
          </a:p>
        </p:txBody>
      </p:sp>
      <p:sp>
        <p:nvSpPr>
          <p:cNvPr id="31" name="">
            <a:extLst xmlns:a="http://schemas.openxmlformats.org/drawingml/2006/main">
              <a:ext uri="{FF2B5EF4-FFF2-40B4-BE49-F238E27FC236}">
                <a16:creationId xmlns:a16="http://schemas.microsoft.com/office/drawing/2014/main" id="{8433F1FE-F04E-465C-8FC4-03C2CF4F0B24}"/>
              </a:ext>
            </a:extLst>
          </p:cNvPr>
          <p:cNvSpPr>
            <a:spLocks xmlns:a="http://schemas.openxmlformats.org/drawingml/2006/main" noGrp="1"/>
          </p:cNvSpPr>
          <p:nvPr/>
        </p:nvSpPr>
        <p:spPr>
          <a:xfrm xmlns:a="http://schemas.openxmlformats.org/drawingml/2006/main">
            <a:off x="1847850" y="12477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13" b="1">
                <a:solidFill>
                  <a:srgbClr val="A7D6E5"/>
                </a:solidFill>
                <a:latin typeface="Malgun Gothic"/>
                <a:ea typeface="Malgun Gothic"/>
                <a:cs typeface="Malgun Gothic"/>
              </a:defRPr>
            </a:pPr>
            <a:r>
              <a:rPr sz="1013" b="1">
                <a:solidFill>
                  <a:srgbClr val="A7D6E5"/>
                </a:solidFill>
                <a:latin typeface="Malgun Gothic"/>
                <a:ea typeface="Malgun Gothic"/>
                <a:cs typeface="Malgun Gothic"/>
              </a:rPr>
              <a:t>GitHub: github.com/squallseo/Nina.Manualfocuser</a:t>
            </a:r>
          </a:p>
        </p:txBody>
      </p:sp>
      <p:sp>
        <p:nvSpPr>
          <p:cNvPr id="32" name="">
            <a:extLst xmlns:a="http://schemas.openxmlformats.org/drawingml/2006/main">
              <a:ext uri="{FF2B5EF4-FFF2-40B4-BE49-F238E27FC236}">
                <a16:creationId xmlns:a16="http://schemas.microsoft.com/office/drawing/2014/main" id="{4D303F1F-1F47-40A3-A45C-8956057EF235}"/>
              </a:ext>
            </a:extLst>
          </p:cNvPr>
          <p:cNvSpPr>
            <a:spLocks xmlns:a="http://schemas.openxmlformats.org/drawingml/2006/main" noGrp="1"/>
          </p:cNvSpPr>
          <p:nvPr/>
        </p:nvSpPr>
        <p:spPr>
          <a:xfrm xmlns:a="http://schemas.openxmlformats.org/drawingml/2006/main">
            <a:off x="685800" y="1790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개발 목적</a:t>
            </a:r>
          </a:p>
        </p:txBody>
      </p:sp>
      <p:sp>
        <p:nvSpPr>
          <p:cNvPr id="33" name="">
            <a:extLst xmlns:a="http://schemas.openxmlformats.org/drawingml/2006/main">
              <a:ext uri="{FF2B5EF4-FFF2-40B4-BE49-F238E27FC236}">
                <a16:creationId xmlns:a16="http://schemas.microsoft.com/office/drawing/2014/main" id="{43D46A5D-9CEC-483C-A74D-2C633FF08709}"/>
              </a:ext>
            </a:extLst>
          </p:cNvPr>
          <p:cNvSpPr>
            <a:spLocks xmlns:a="http://schemas.openxmlformats.org/drawingml/2006/main" noGrp="1"/>
          </p:cNvSpPr>
          <p:nvPr/>
        </p:nvSpPr>
        <p:spPr>
          <a:xfrm xmlns:a="http://schemas.openxmlformats.org/drawingml/2006/main">
            <a:off x="685800" y="20955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2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자동 포커서가 없는 환경에서도 수동 포커싱 과정을 더 편리하게 기록하고 보조하기 위해 개발했습니다.</a:t>
            </a:r>
          </a:p>
        </p:txBody>
      </p:sp>
      <p:sp>
        <p:nvSpPr>
          <p:cNvPr id="34" name="">
            <a:extLst xmlns:a="http://schemas.openxmlformats.org/drawingml/2006/main">
              <a:ext uri="{FF2B5EF4-FFF2-40B4-BE49-F238E27FC236}">
                <a16:creationId xmlns:a16="http://schemas.microsoft.com/office/drawing/2014/main" id="{470E64C3-C4D7-44C4-8ABA-4EE8E3CA7EAC}"/>
              </a:ext>
            </a:extLst>
          </p:cNvPr>
          <p:cNvSpPr>
            <a:spLocks xmlns:a="http://schemas.openxmlformats.org/drawingml/2006/main" noGrp="1"/>
          </p:cNvSpPr>
          <p:nvPr/>
        </p:nvSpPr>
        <p:spPr>
          <a:xfrm xmlns:a="http://schemas.openxmlformats.org/drawingml/2006/main">
            <a:off x="685800" y="29908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기술적 의미</a:t>
            </a:r>
          </a:p>
        </p:txBody>
      </p:sp>
      <p:sp>
        <p:nvSpPr>
          <p:cNvPr id="35" name="">
            <a:extLst xmlns:a="http://schemas.openxmlformats.org/drawingml/2006/main">
              <a:ext uri="{FF2B5EF4-FFF2-40B4-BE49-F238E27FC236}">
                <a16:creationId xmlns:a16="http://schemas.microsoft.com/office/drawing/2014/main" id="{6337AF2C-44B0-4089-848F-38A1325C8177}"/>
              </a:ext>
            </a:extLst>
          </p:cNvPr>
          <p:cNvSpPr>
            <a:spLocks xmlns:a="http://schemas.openxmlformats.org/drawingml/2006/main" noGrp="1"/>
          </p:cNvSpPr>
          <p:nvPr/>
        </p:nvSpPr>
        <p:spPr>
          <a:xfrm xmlns:a="http://schemas.openxmlformats.org/drawingml/2006/main">
            <a:off x="685800" y="3314700"/>
            <a:ext cx="4953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3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 기존 오픈소스 구조 분석</a:t>
            </a:r>
          </a:p>
          <a:p xmlns:a="http://schemas.openxmlformats.org/drawingml/2006/main">
            <a:pPr algn="l">
              <a:lnSpc>
                <a:spcPct val="123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 플러그인 구조 이해</a:t>
            </a:r>
          </a:p>
          <a:p xmlns:a="http://schemas.openxmlformats.org/drawingml/2006/main">
            <a:pPr algn="l">
              <a:lnSpc>
                <a:spcPct val="123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 천문 관측 워크플로우 기반 기능 설계</a:t>
            </a:r>
          </a:p>
          <a:p xmlns:a="http://schemas.openxmlformats.org/drawingml/2006/main">
            <a:pPr algn="l">
              <a:lnSpc>
                <a:spcPct val="123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 실제 사용 가능한 형태로 배포</a:t>
            </a:r>
          </a:p>
          <a:p xmlns:a="http://schemas.openxmlformats.org/drawingml/2006/main">
            <a:pPr algn="l">
              <a:lnSpc>
                <a:spcPct val="123000"/>
              </a:lnSpc>
              <a:buNone/>
              <a:defRPr sz="1065" b="0">
                <a:solidFill>
                  <a:srgbClr val="D9DEE4"/>
                </a:solidFill>
                <a:latin typeface="Malgun Gothic"/>
                <a:ea typeface="Malgun Gothic"/>
                <a:cs typeface="Malgun Gothic"/>
              </a:defRPr>
            </a:pPr>
            <a:r>
              <a:rPr sz="1065" b="0">
                <a:solidFill>
                  <a:srgbClr val="D9DEE4"/>
                </a:solidFill>
                <a:latin typeface="Malgun Gothic"/>
                <a:ea typeface="Malgun Gothic"/>
                <a:cs typeface="Malgun Gothic"/>
              </a:rPr>
              <a:t>• GitHub 기반 코드 관리</a:t>
            </a:r>
          </a:p>
        </p:txBody>
      </p:sp>
      <p:sp>
        <p:nvSpPr>
          <p:cNvPr id="36" name="">
            <a:extLst xmlns:a="http://schemas.openxmlformats.org/drawingml/2006/main">
              <a:ext uri="{FF2B5EF4-FFF2-40B4-BE49-F238E27FC236}">
                <a16:creationId xmlns:a16="http://schemas.microsoft.com/office/drawing/2014/main" id="{E179612E-8519-4BD7-B66A-66B1FCA53915}"/>
              </a:ext>
            </a:extLst>
          </p:cNvPr>
          <p:cNvSpPr>
            <a:spLocks xmlns:a="http://schemas.openxmlformats.org/drawingml/2006/main" noGrp="1"/>
          </p:cNvSpPr>
          <p:nvPr/>
        </p:nvSpPr>
        <p:spPr>
          <a:xfrm xmlns:a="http://schemas.openxmlformats.org/drawingml/2006/main">
            <a:off x="6286500" y="1390650"/>
            <a:ext cx="2381250" cy="1524000"/>
          </a:xfrm>
          <a:prstGeom xmlns:a="http://schemas.openxmlformats.org/drawingml/2006/main" prst="roundRect">
            <a:avLst>
              <a:gd name="adj" fmla="val 5000"/>
            </a:avLst>
          </a:prstGeom>
          <a:solidFill xmlns:a="http://schemas.openxmlformats.org/drawingml/2006/main">
            <a:srgbClr val="2B3036"/>
          </a:solidFill>
          <a:ln xmlns:a="http://schemas.openxmlformats.org/drawingml/2006/main" w="14288">
            <a:solidFill>
              <a:srgbClr val="858B92"/>
            </a:solidFill>
            <a:prstDash val="dash"/>
          </a:ln>
        </p:spPr>
      </p:sp>
      <p:sp>
        <p:nvSpPr>
          <p:cNvPr id="37" name="">
            <a:extLst xmlns:a="http://schemas.openxmlformats.org/drawingml/2006/main">
              <a:ext uri="{FF2B5EF4-FFF2-40B4-BE49-F238E27FC236}">
                <a16:creationId xmlns:a16="http://schemas.microsoft.com/office/drawing/2014/main" id="{4633F9C9-8A1C-44E9-B0AA-1753444C1D2A}"/>
              </a:ext>
            </a:extLst>
          </p:cNvPr>
          <p:cNvSpPr>
            <a:spLocks xmlns:a="http://schemas.openxmlformats.org/drawingml/2006/main" noGrp="1"/>
          </p:cNvSpPr>
          <p:nvPr/>
        </p:nvSpPr>
        <p:spPr>
          <a:xfrm xmlns:a="http://schemas.openxmlformats.org/drawingml/2006/main">
            <a:off x="6477000" y="1619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F2F4F5"/>
                </a:solidFill>
                <a:latin typeface="Malgun Gothic"/>
                <a:ea typeface="Malgun Gothic"/>
                <a:cs typeface="Malgun Gothic"/>
              </a:defRPr>
            </a:pPr>
            <a:r>
              <a:rPr sz="975" b="1">
                <a:solidFill>
                  <a:srgbClr val="F2F4F5"/>
                </a:solidFill>
                <a:latin typeface="Malgun Gothic"/>
                <a:ea typeface="Malgun Gothic"/>
                <a:cs typeface="Malgun Gothic"/>
              </a:rPr>
              <a:t>GitHub 저장소 캡처</a:t>
            </a:r>
          </a:p>
        </p:txBody>
      </p:sp>
      <p:sp>
        <p:nvSpPr>
          <p:cNvPr id="38" name="">
            <a:extLst xmlns:a="http://schemas.openxmlformats.org/drawingml/2006/main">
              <a:ext uri="{FF2B5EF4-FFF2-40B4-BE49-F238E27FC236}">
                <a16:creationId xmlns:a16="http://schemas.microsoft.com/office/drawing/2014/main" id="{7EF4F184-9715-4A85-8953-64E1A3BB6A72}"/>
              </a:ext>
            </a:extLst>
          </p:cNvPr>
          <p:cNvSpPr>
            <a:spLocks xmlns:a="http://schemas.openxmlformats.org/drawingml/2006/main" noGrp="1"/>
          </p:cNvSpPr>
          <p:nvPr/>
        </p:nvSpPr>
        <p:spPr>
          <a:xfrm xmlns:a="http://schemas.openxmlformats.org/drawingml/2006/main">
            <a:off x="6572250" y="1981200"/>
            <a:ext cx="180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README, 코드 구조, 릴리스/커밋 내역이</a:t>
            </a:r>
          </a:p>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보이는 저장소 화면</a:t>
            </a:r>
          </a:p>
        </p:txBody>
      </p:sp>
      <p:sp>
        <p:nvSpPr>
          <p:cNvPr id="39" name="">
            <a:extLst xmlns:a="http://schemas.openxmlformats.org/drawingml/2006/main">
              <a:ext uri="{FF2B5EF4-FFF2-40B4-BE49-F238E27FC236}">
                <a16:creationId xmlns:a16="http://schemas.microsoft.com/office/drawing/2014/main" id="{643E529F-A17C-4701-BC6F-B2DAC53705A1}"/>
              </a:ext>
            </a:extLst>
          </p:cNvPr>
          <p:cNvSpPr>
            <a:spLocks xmlns:a="http://schemas.openxmlformats.org/drawingml/2006/main" noGrp="1"/>
          </p:cNvSpPr>
          <p:nvPr/>
        </p:nvSpPr>
        <p:spPr>
          <a:xfrm xmlns:a="http://schemas.openxmlformats.org/drawingml/2006/main">
            <a:off x="8858250" y="1390650"/>
            <a:ext cx="2381250" cy="1524000"/>
          </a:xfrm>
          <a:prstGeom xmlns:a="http://schemas.openxmlformats.org/drawingml/2006/main" prst="roundRect">
            <a:avLst>
              <a:gd name="adj" fmla="val 5000"/>
            </a:avLst>
          </a:prstGeom>
          <a:solidFill xmlns:a="http://schemas.openxmlformats.org/drawingml/2006/main">
            <a:srgbClr val="2B3036"/>
          </a:solidFill>
          <a:ln xmlns:a="http://schemas.openxmlformats.org/drawingml/2006/main" w="14288">
            <a:solidFill>
              <a:srgbClr val="858B92"/>
            </a:solidFill>
            <a:prstDash val="dash"/>
          </a:ln>
        </p:spPr>
      </p:sp>
      <p:sp>
        <p:nvSpPr>
          <p:cNvPr id="40" name="">
            <a:extLst xmlns:a="http://schemas.openxmlformats.org/drawingml/2006/main">
              <a:ext uri="{FF2B5EF4-FFF2-40B4-BE49-F238E27FC236}">
                <a16:creationId xmlns:a16="http://schemas.microsoft.com/office/drawing/2014/main" id="{6DA85E4E-40B7-4D18-B0B6-1B86E8B04EBD}"/>
              </a:ext>
            </a:extLst>
          </p:cNvPr>
          <p:cNvSpPr>
            <a:spLocks xmlns:a="http://schemas.openxmlformats.org/drawingml/2006/main" noGrp="1"/>
          </p:cNvSpPr>
          <p:nvPr/>
        </p:nvSpPr>
        <p:spPr>
          <a:xfrm xmlns:a="http://schemas.openxmlformats.org/drawingml/2006/main">
            <a:off x="9048750" y="1619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F2F4F5"/>
                </a:solidFill>
                <a:latin typeface="Malgun Gothic"/>
                <a:ea typeface="Malgun Gothic"/>
                <a:cs typeface="Malgun Gothic"/>
              </a:defRPr>
            </a:pPr>
            <a:r>
              <a:rPr sz="975" b="1">
                <a:solidFill>
                  <a:srgbClr val="F2F4F5"/>
                </a:solidFill>
                <a:latin typeface="Malgun Gothic"/>
                <a:ea typeface="Malgun Gothic"/>
                <a:cs typeface="Malgun Gothic"/>
              </a:rPr>
              <a:t>플러그인 실행 화면</a:t>
            </a:r>
          </a:p>
        </p:txBody>
      </p:sp>
      <p:sp>
        <p:nvSpPr>
          <p:cNvPr id="41" name="">
            <a:extLst xmlns:a="http://schemas.openxmlformats.org/drawingml/2006/main">
              <a:ext uri="{FF2B5EF4-FFF2-40B4-BE49-F238E27FC236}">
                <a16:creationId xmlns:a16="http://schemas.microsoft.com/office/drawing/2014/main" id="{6258C1B5-C6D2-4D3A-8DA4-DC5D6B98C37A}"/>
              </a:ext>
            </a:extLst>
          </p:cNvPr>
          <p:cNvSpPr>
            <a:spLocks xmlns:a="http://schemas.openxmlformats.org/drawingml/2006/main" noGrp="1"/>
          </p:cNvSpPr>
          <p:nvPr/>
        </p:nvSpPr>
        <p:spPr>
          <a:xfrm xmlns:a="http://schemas.openxmlformats.org/drawingml/2006/main">
            <a:off x="9144000" y="1981200"/>
            <a:ext cx="180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N.I.N.A 안에서 플러그인이 동작하는</a:t>
            </a:r>
          </a:p>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실제 UI 캡처</a:t>
            </a:r>
          </a:p>
        </p:txBody>
      </p:sp>
      <p:sp>
        <p:nvSpPr>
          <p:cNvPr id="42" name="">
            <a:extLst xmlns:a="http://schemas.openxmlformats.org/drawingml/2006/main">
              <a:ext uri="{FF2B5EF4-FFF2-40B4-BE49-F238E27FC236}">
                <a16:creationId xmlns:a16="http://schemas.microsoft.com/office/drawing/2014/main" id="{0F00E572-827B-4D62-8750-6F201FA305D3}"/>
              </a:ext>
            </a:extLst>
          </p:cNvPr>
          <p:cNvSpPr>
            <a:spLocks xmlns:a="http://schemas.openxmlformats.org/drawingml/2006/main" noGrp="1"/>
          </p:cNvSpPr>
          <p:nvPr/>
        </p:nvSpPr>
        <p:spPr>
          <a:xfrm xmlns:a="http://schemas.openxmlformats.org/drawingml/2006/main">
            <a:off x="6286500" y="3181350"/>
            <a:ext cx="4953000" cy="1809750"/>
          </a:xfrm>
          <a:prstGeom xmlns:a="http://schemas.openxmlformats.org/drawingml/2006/main" prst="roundRect">
            <a:avLst>
              <a:gd name="adj" fmla="val 4211"/>
            </a:avLst>
          </a:prstGeom>
          <a:solidFill xmlns:a="http://schemas.openxmlformats.org/drawingml/2006/main">
            <a:srgbClr val="2B3036"/>
          </a:solidFill>
          <a:ln xmlns:a="http://schemas.openxmlformats.org/drawingml/2006/main" w="14288">
            <a:solidFill>
              <a:srgbClr val="858B92"/>
            </a:solidFill>
            <a:prstDash val="dash"/>
          </a:ln>
        </p:spPr>
      </p:sp>
      <p:sp>
        <p:nvSpPr>
          <p:cNvPr id="43" name="">
            <a:extLst xmlns:a="http://schemas.openxmlformats.org/drawingml/2006/main">
              <a:ext uri="{FF2B5EF4-FFF2-40B4-BE49-F238E27FC236}">
                <a16:creationId xmlns:a16="http://schemas.microsoft.com/office/drawing/2014/main" id="{F141FEBD-DA79-4039-AD7A-0C5B6AE8E078}"/>
              </a:ext>
            </a:extLst>
          </p:cNvPr>
          <p:cNvSpPr>
            <a:spLocks xmlns:a="http://schemas.openxmlformats.org/drawingml/2006/main" noGrp="1"/>
          </p:cNvSpPr>
          <p:nvPr/>
        </p:nvSpPr>
        <p:spPr>
          <a:xfrm xmlns:a="http://schemas.openxmlformats.org/drawingml/2006/main">
            <a:off x="6477000" y="34099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F2F4F5"/>
                </a:solidFill>
                <a:latin typeface="Malgun Gothic"/>
                <a:ea typeface="Malgun Gothic"/>
                <a:cs typeface="Malgun Gothic"/>
              </a:defRPr>
            </a:pPr>
            <a:r>
              <a:rPr sz="975" b="1">
                <a:solidFill>
                  <a:srgbClr val="F2F4F5"/>
                </a:solidFill>
                <a:latin typeface="Malgun Gothic"/>
                <a:ea typeface="Malgun Gothic"/>
                <a:cs typeface="Malgun Gothic"/>
              </a:rPr>
              <a:t>포커싱 Workflow 이미지</a:t>
            </a:r>
          </a:p>
        </p:txBody>
      </p:sp>
      <p:sp>
        <p:nvSpPr>
          <p:cNvPr id="44" name="">
            <a:extLst xmlns:a="http://schemas.openxmlformats.org/drawingml/2006/main">
              <a:ext uri="{FF2B5EF4-FFF2-40B4-BE49-F238E27FC236}">
                <a16:creationId xmlns:a16="http://schemas.microsoft.com/office/drawing/2014/main" id="{12C0BEE3-E5CB-4019-B87C-0D51293AEF27}"/>
              </a:ext>
            </a:extLst>
          </p:cNvPr>
          <p:cNvSpPr>
            <a:spLocks xmlns:a="http://schemas.openxmlformats.org/drawingml/2006/main" noGrp="1"/>
          </p:cNvSpPr>
          <p:nvPr/>
        </p:nvSpPr>
        <p:spPr>
          <a:xfrm xmlns:a="http://schemas.openxmlformats.org/drawingml/2006/main">
            <a:off x="6572250" y="3771900"/>
            <a:ext cx="4381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수동 포커싱 절차, 기록 방식, 사용자 흐름을</a:t>
            </a:r>
          </a:p>
          <a:p xmlns:a="http://schemas.openxmlformats.org/drawingml/2006/main">
            <a:pPr algn="ctr">
              <a:lnSpc>
                <a:spcPct val="120000"/>
              </a:lnSpc>
              <a:buNone/>
              <a:defRPr sz="900" b="0">
                <a:solidFill>
                  <a:srgbClr val="C8D0D8"/>
                </a:solidFill>
                <a:latin typeface="Malgun Gothic"/>
                <a:ea typeface="Malgun Gothic"/>
                <a:cs typeface="Malgun Gothic"/>
              </a:defRPr>
            </a:pPr>
            <a:r>
              <a:rPr sz="900" b="0">
                <a:solidFill>
                  <a:srgbClr val="C8D0D8"/>
                </a:solidFill>
                <a:latin typeface="Malgun Gothic"/>
                <a:ea typeface="Malgun Gothic"/>
                <a:cs typeface="Malgun Gothic"/>
              </a:rPr>
              <a:t>한눈에 보여주는 다이어그램 또는 캡처</a:t>
            </a:r>
          </a:p>
        </p:txBody>
      </p:sp>
      <p:sp>
        <p:nvSpPr>
          <p:cNvPr id="45" name="">
            <a:extLst xmlns:a="http://schemas.openxmlformats.org/drawingml/2006/main">
              <a:ext uri="{FF2B5EF4-FFF2-40B4-BE49-F238E27FC236}">
                <a16:creationId xmlns:a16="http://schemas.microsoft.com/office/drawing/2014/main" id="{18161EF3-BC9E-4198-911B-640A163070BD}"/>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3A4148"/>
            </a:solidFill>
            <a:prstDash val="solid"/>
          </a:ln>
        </p:spPr>
      </p:sp>
      <p:sp>
        <p:nvSpPr>
          <p:cNvPr id="46" name="">
            <a:extLst xmlns:a="http://schemas.openxmlformats.org/drawingml/2006/main">
              <a:ext uri="{FF2B5EF4-FFF2-40B4-BE49-F238E27FC236}">
                <a16:creationId xmlns:a16="http://schemas.microsoft.com/office/drawing/2014/main" id="{D7612D4B-C976-41AA-9C00-CB34F336DF80}"/>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AEB7C0"/>
                </a:solidFill>
                <a:latin typeface="Malgun Gothic"/>
                <a:ea typeface="Malgun Gothic"/>
                <a:cs typeface="Malgun Gothic"/>
              </a:defRPr>
            </a:pPr>
            <a:r>
              <a:rPr sz="713" b="0">
                <a:solidFill>
                  <a:srgbClr val="AEB7C0"/>
                </a:solidFill>
                <a:latin typeface="Malgun Gothic"/>
                <a:ea typeface="Malgun Gothic"/>
                <a:cs typeface="Malgun Gothic"/>
              </a:rPr>
              <a:t>이미지 삽입 가이드: GitHub 저장소, N.I.N.A 실행 화면, 포커싱 workflow 이미지를 각각 넣습니다.</a:t>
            </a:r>
          </a:p>
        </p:txBody>
      </p:sp>
      <p:sp>
        <p:nvSpPr>
          <p:cNvPr id="47" name="">
            <a:extLst xmlns:a="http://schemas.openxmlformats.org/drawingml/2006/main">
              <a:ext uri="{FF2B5EF4-FFF2-40B4-BE49-F238E27FC236}">
                <a16:creationId xmlns:a16="http://schemas.microsoft.com/office/drawing/2014/main" id="{3192ACC5-9D2E-4E05-83A0-52584518E962}"/>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AEB7C0"/>
                </a:solidFill>
                <a:latin typeface="Malgun Gothic"/>
                <a:ea typeface="Malgun Gothic"/>
                <a:cs typeface="Malgun Gothic"/>
              </a:defRPr>
            </a:pPr>
            <a:r>
              <a:rPr sz="713" b="0">
                <a:solidFill>
                  <a:srgbClr val="AEB7C0"/>
                </a:solidFill>
                <a:latin typeface="Malgun Gothic"/>
                <a:ea typeface="Malgun Gothic"/>
                <a:cs typeface="Malgun Gothic"/>
              </a:rPr>
              <a:t>6 / 10</a:t>
            </a:r>
          </a:p>
        </p:txBody>
      </p:sp>
    </p:spTree>
    <p:extLst>
      <p:ext uri="{BB962C8B-B14F-4D97-AF65-F5344CB8AC3E}">
        <p14:creationId xmlns:p14="http://schemas.microsoft.com/office/powerpoint/2010/main" val="13473978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B8FC76-CEB3-49F2-94E4-9C6779F00027}"/>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2A7E0B-3152-431E-8AAF-9FF3A9EA8B7B}"/>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004AFF76-0DAC-445C-B6BF-940EDA67C304}"/>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기술 역량 매핑</a:t>
            </a:r>
          </a:p>
        </p:txBody>
      </p:sp>
      <p:sp>
        <p:nvSpPr>
          <p:cNvPr id="4" name="">
            <a:extLst xmlns:a="http://schemas.openxmlformats.org/drawingml/2006/main">
              <a:ext uri="{FF2B5EF4-FFF2-40B4-BE49-F238E27FC236}">
                <a16:creationId xmlns:a16="http://schemas.microsoft.com/office/drawing/2014/main" id="{1D301F02-9133-4A12-BDB6-A28A38D07AEF}"/>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강점은 근거로, 부족한 영역은 보완 계획으로 정리합니다.</a:t>
            </a:r>
          </a:p>
        </p:txBody>
      </p:sp>
      <p:sp>
        <p:nvSpPr>
          <p:cNvPr id="5" name="">
            <a:extLst xmlns:a="http://schemas.openxmlformats.org/drawingml/2006/main">
              <a:ext uri="{FF2B5EF4-FFF2-40B4-BE49-F238E27FC236}">
                <a16:creationId xmlns:a16="http://schemas.microsoft.com/office/drawing/2014/main" id="{11794A17-0E58-4266-B956-931246DE5117}"/>
              </a:ext>
            </a:extLst>
          </p:cNvPr>
          <p:cNvSpPr>
            <a:spLocks xmlns:a="http://schemas.openxmlformats.org/drawingml/2006/main" noGrp="1"/>
          </p:cNvSpPr>
          <p:nvPr/>
        </p:nvSpPr>
        <p:spPr>
          <a:xfrm xmlns:a="http://schemas.openxmlformats.org/drawingml/2006/main">
            <a:off x="685800" y="1390650"/>
            <a:ext cx="1162050" cy="428625"/>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832" b="1">
                <a:solidFill>
                  <a:srgbClr val="FFFFFF"/>
                </a:solidFill>
                <a:latin typeface="Malgun Gothic"/>
                <a:ea typeface="Malgun Gothic"/>
                <a:cs typeface="Malgun Gothic"/>
              </a:defRPr>
            </a:pPr>
            <a:r>
              <a:rPr sz="832" b="1">
                <a:solidFill>
                  <a:srgbClr val="FFFFFF"/>
                </a:solidFill>
                <a:latin typeface="Malgun Gothic"/>
                <a:ea typeface="Malgun Gothic"/>
                <a:cs typeface="Malgun Gothic"/>
              </a:rPr>
              <a:t>영역</a:t>
            </a:r>
          </a:p>
        </p:txBody>
      </p:sp>
      <p:sp>
        <p:nvSpPr>
          <p:cNvPr id="6" name="">
            <a:extLst xmlns:a="http://schemas.openxmlformats.org/drawingml/2006/main">
              <a:ext uri="{FF2B5EF4-FFF2-40B4-BE49-F238E27FC236}">
                <a16:creationId xmlns:a16="http://schemas.microsoft.com/office/drawing/2014/main" id="{B0D9C4B6-A5F1-4208-9C6B-A43AE829F3BB}"/>
              </a:ext>
            </a:extLst>
          </p:cNvPr>
          <p:cNvSpPr>
            <a:spLocks xmlns:a="http://schemas.openxmlformats.org/drawingml/2006/main" noGrp="1"/>
          </p:cNvSpPr>
          <p:nvPr/>
        </p:nvSpPr>
        <p:spPr>
          <a:xfrm xmlns:a="http://schemas.openxmlformats.org/drawingml/2006/main">
            <a:off x="1847850" y="1390650"/>
            <a:ext cx="838200" cy="428625"/>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832" b="1">
                <a:solidFill>
                  <a:srgbClr val="FFFFFF"/>
                </a:solidFill>
                <a:latin typeface="Malgun Gothic"/>
                <a:ea typeface="Malgun Gothic"/>
                <a:cs typeface="Malgun Gothic"/>
              </a:defRPr>
            </a:pPr>
            <a:r>
              <a:rPr sz="832" b="1">
                <a:solidFill>
                  <a:srgbClr val="FFFFFF"/>
                </a:solidFill>
                <a:latin typeface="Malgun Gothic"/>
                <a:ea typeface="Malgun Gothic"/>
                <a:cs typeface="Malgun Gothic"/>
              </a:rPr>
              <a:t>수준</a:t>
            </a:r>
          </a:p>
        </p:txBody>
      </p:sp>
      <p:sp>
        <p:nvSpPr>
          <p:cNvPr id="7" name="">
            <a:extLst xmlns:a="http://schemas.openxmlformats.org/drawingml/2006/main">
              <a:ext uri="{FF2B5EF4-FFF2-40B4-BE49-F238E27FC236}">
                <a16:creationId xmlns:a16="http://schemas.microsoft.com/office/drawing/2014/main" id="{750CF314-9C45-44ED-868B-B485FCCEA175}"/>
              </a:ext>
            </a:extLst>
          </p:cNvPr>
          <p:cNvSpPr>
            <a:spLocks xmlns:a="http://schemas.openxmlformats.org/drawingml/2006/main" noGrp="1"/>
          </p:cNvSpPr>
          <p:nvPr/>
        </p:nvSpPr>
        <p:spPr>
          <a:xfrm xmlns:a="http://schemas.openxmlformats.org/drawingml/2006/main">
            <a:off x="2686050" y="1390650"/>
            <a:ext cx="2809875" cy="428625"/>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832" b="1">
                <a:solidFill>
                  <a:srgbClr val="FFFFFF"/>
                </a:solidFill>
                <a:latin typeface="Malgun Gothic"/>
                <a:ea typeface="Malgun Gothic"/>
                <a:cs typeface="Malgun Gothic"/>
              </a:defRPr>
            </a:pPr>
            <a:r>
              <a:rPr sz="832" b="1">
                <a:solidFill>
                  <a:srgbClr val="FFFFFF"/>
                </a:solidFill>
                <a:latin typeface="Malgun Gothic"/>
                <a:ea typeface="Malgun Gothic"/>
                <a:cs typeface="Malgun Gothic"/>
              </a:rPr>
              <a:t>근거</a:t>
            </a:r>
          </a:p>
        </p:txBody>
      </p:sp>
      <p:sp>
        <p:nvSpPr>
          <p:cNvPr id="8" name="">
            <a:extLst xmlns:a="http://schemas.openxmlformats.org/drawingml/2006/main">
              <a:ext uri="{FF2B5EF4-FFF2-40B4-BE49-F238E27FC236}">
                <a16:creationId xmlns:a16="http://schemas.microsoft.com/office/drawing/2014/main" id="{0A451C42-E13F-4828-BE91-E0EC59FED704}"/>
              </a:ext>
            </a:extLst>
          </p:cNvPr>
          <p:cNvSpPr>
            <a:spLocks xmlns:a="http://schemas.openxmlformats.org/drawingml/2006/main" noGrp="1"/>
          </p:cNvSpPr>
          <p:nvPr/>
        </p:nvSpPr>
        <p:spPr>
          <a:xfrm xmlns:a="http://schemas.openxmlformats.org/drawingml/2006/main">
            <a:off x="5495925" y="1390650"/>
            <a:ext cx="2381250" cy="428625"/>
          </a:xfrm>
          <a:prstGeom xmlns:a="http://schemas.openxmlformats.org/drawingml/2006/main" prst="rect">
            <a:avLst/>
          </a:prstGeom>
          <a:solidFill xmlns:a="http://schemas.openxmlformats.org/drawingml/2006/main">
            <a:srgbClr val="1F2328"/>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832" b="1">
                <a:solidFill>
                  <a:srgbClr val="FFFFFF"/>
                </a:solidFill>
                <a:latin typeface="Malgun Gothic"/>
                <a:ea typeface="Malgun Gothic"/>
                <a:cs typeface="Malgun Gothic"/>
              </a:defRPr>
            </a:pPr>
            <a:r>
              <a:rPr sz="832" b="1">
                <a:solidFill>
                  <a:srgbClr val="FFFFFF"/>
                </a:solidFill>
                <a:latin typeface="Malgun Gothic"/>
                <a:ea typeface="Malgun Gothic"/>
                <a:cs typeface="Malgun Gothic"/>
              </a:rPr>
              <a:t>보완 계획</a:t>
            </a:r>
          </a:p>
        </p:txBody>
      </p:sp>
      <p:sp>
        <p:nvSpPr>
          <p:cNvPr id="9" name="">
            <a:extLst xmlns:a="http://schemas.openxmlformats.org/drawingml/2006/main">
              <a:ext uri="{FF2B5EF4-FFF2-40B4-BE49-F238E27FC236}">
                <a16:creationId xmlns:a16="http://schemas.microsoft.com/office/drawing/2014/main" id="{CF0778AB-132E-45D5-8C05-42FBEEE7C715}"/>
              </a:ext>
            </a:extLst>
          </p:cNvPr>
          <p:cNvSpPr>
            <a:spLocks xmlns:a="http://schemas.openxmlformats.org/drawingml/2006/main" noGrp="1"/>
          </p:cNvSpPr>
          <p:nvPr/>
        </p:nvSpPr>
        <p:spPr>
          <a:xfrm xmlns:a="http://schemas.openxmlformats.org/drawingml/2006/main">
            <a:off x="685800" y="1819275"/>
            <a:ext cx="11620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C/C++</a:t>
            </a:r>
          </a:p>
        </p:txBody>
      </p:sp>
      <p:sp>
        <p:nvSpPr>
          <p:cNvPr id="10" name="">
            <a:extLst xmlns:a="http://schemas.openxmlformats.org/drawingml/2006/main">
              <a:ext uri="{FF2B5EF4-FFF2-40B4-BE49-F238E27FC236}">
                <a16:creationId xmlns:a16="http://schemas.microsoft.com/office/drawing/2014/main" id="{759CD417-CD17-4810-BE56-5DB5ED31708C}"/>
              </a:ext>
            </a:extLst>
          </p:cNvPr>
          <p:cNvSpPr>
            <a:spLocks xmlns:a="http://schemas.openxmlformats.org/drawingml/2006/main" noGrp="1"/>
          </p:cNvSpPr>
          <p:nvPr/>
        </p:nvSpPr>
        <p:spPr>
          <a:xfrm xmlns:a="http://schemas.openxmlformats.org/drawingml/2006/main">
            <a:off x="1847850" y="1819275"/>
            <a:ext cx="838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강함</a:t>
            </a:r>
          </a:p>
        </p:txBody>
      </p:sp>
      <p:sp>
        <p:nvSpPr>
          <p:cNvPr id="11" name="">
            <a:extLst xmlns:a="http://schemas.openxmlformats.org/drawingml/2006/main">
              <a:ext uri="{FF2B5EF4-FFF2-40B4-BE49-F238E27FC236}">
                <a16:creationId xmlns:a16="http://schemas.microsoft.com/office/drawing/2014/main" id="{68D56F79-4696-45CB-8A75-822DDBFB3DA2}"/>
              </a:ext>
            </a:extLst>
          </p:cNvPr>
          <p:cNvSpPr>
            <a:spLocks xmlns:a="http://schemas.openxmlformats.org/drawingml/2006/main" noGrp="1"/>
          </p:cNvSpPr>
          <p:nvPr/>
        </p:nvSpPr>
        <p:spPr>
          <a:xfrm xmlns:a="http://schemas.openxmlformats.org/drawingml/2006/main">
            <a:off x="2686050" y="1819275"/>
            <a:ext cx="2809875"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20년 이상 상용 엔지니어링 SW 개발</a:t>
            </a:r>
          </a:p>
        </p:txBody>
      </p:sp>
      <p:sp>
        <p:nvSpPr>
          <p:cNvPr id="12" name="">
            <a:extLst xmlns:a="http://schemas.openxmlformats.org/drawingml/2006/main">
              <a:ext uri="{FF2B5EF4-FFF2-40B4-BE49-F238E27FC236}">
                <a16:creationId xmlns:a16="http://schemas.microsoft.com/office/drawing/2014/main" id="{15266BCA-751C-4E19-B65B-282902AD851E}"/>
              </a:ext>
            </a:extLst>
          </p:cNvPr>
          <p:cNvSpPr>
            <a:spLocks xmlns:a="http://schemas.openxmlformats.org/drawingml/2006/main" noGrp="1"/>
          </p:cNvSpPr>
          <p:nvPr/>
        </p:nvSpPr>
        <p:spPr>
          <a:xfrm xmlns:a="http://schemas.openxmlformats.org/drawingml/2006/main">
            <a:off x="5495925" y="1819275"/>
            <a:ext cx="23812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실무 적용 지속</a:t>
            </a:r>
          </a:p>
        </p:txBody>
      </p:sp>
      <p:sp>
        <p:nvSpPr>
          <p:cNvPr id="13" name="">
            <a:extLst xmlns:a="http://schemas.openxmlformats.org/drawingml/2006/main">
              <a:ext uri="{FF2B5EF4-FFF2-40B4-BE49-F238E27FC236}">
                <a16:creationId xmlns:a16="http://schemas.microsoft.com/office/drawing/2014/main" id="{B7A1467A-63C2-4F18-8573-519D6511FED9}"/>
              </a:ext>
            </a:extLst>
          </p:cNvPr>
          <p:cNvSpPr>
            <a:spLocks xmlns:a="http://schemas.openxmlformats.org/drawingml/2006/main" noGrp="1"/>
          </p:cNvSpPr>
          <p:nvPr/>
        </p:nvSpPr>
        <p:spPr>
          <a:xfrm xmlns:a="http://schemas.openxmlformats.org/drawingml/2006/main">
            <a:off x="685800" y="2247900"/>
            <a:ext cx="11620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MFC</a:t>
            </a:r>
          </a:p>
        </p:txBody>
      </p:sp>
      <p:sp>
        <p:nvSpPr>
          <p:cNvPr id="14" name="">
            <a:extLst xmlns:a="http://schemas.openxmlformats.org/drawingml/2006/main">
              <a:ext uri="{FF2B5EF4-FFF2-40B4-BE49-F238E27FC236}">
                <a16:creationId xmlns:a16="http://schemas.microsoft.com/office/drawing/2014/main" id="{827B52F0-01D0-4DC4-8AF5-C111793DB435}"/>
              </a:ext>
            </a:extLst>
          </p:cNvPr>
          <p:cNvSpPr>
            <a:spLocks xmlns:a="http://schemas.openxmlformats.org/drawingml/2006/main" noGrp="1"/>
          </p:cNvSpPr>
          <p:nvPr/>
        </p:nvSpPr>
        <p:spPr>
          <a:xfrm xmlns:a="http://schemas.openxmlformats.org/drawingml/2006/main">
            <a:off x="1847850" y="2247900"/>
            <a:ext cx="83820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경험 있음</a:t>
            </a:r>
          </a:p>
        </p:txBody>
      </p:sp>
      <p:sp>
        <p:nvSpPr>
          <p:cNvPr id="15" name="">
            <a:extLst xmlns:a="http://schemas.openxmlformats.org/drawingml/2006/main">
              <a:ext uri="{FF2B5EF4-FFF2-40B4-BE49-F238E27FC236}">
                <a16:creationId xmlns:a16="http://schemas.microsoft.com/office/drawing/2014/main" id="{460A3B2F-3775-4BAD-BFFA-85488BF8CF32}"/>
              </a:ext>
            </a:extLst>
          </p:cNvPr>
          <p:cNvSpPr>
            <a:spLocks xmlns:a="http://schemas.openxmlformats.org/drawingml/2006/main" noGrp="1"/>
          </p:cNvSpPr>
          <p:nvPr/>
        </p:nvSpPr>
        <p:spPr>
          <a:xfrm xmlns:a="http://schemas.openxmlformats.org/drawingml/2006/main">
            <a:off x="2686050" y="2247900"/>
            <a:ext cx="2809875"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Windows 응용 프로그램 개발</a:t>
            </a:r>
          </a:p>
        </p:txBody>
      </p:sp>
      <p:sp>
        <p:nvSpPr>
          <p:cNvPr id="16" name="">
            <a:extLst xmlns:a="http://schemas.openxmlformats.org/drawingml/2006/main">
              <a:ext uri="{FF2B5EF4-FFF2-40B4-BE49-F238E27FC236}">
                <a16:creationId xmlns:a16="http://schemas.microsoft.com/office/drawing/2014/main" id="{558225EC-57C9-4772-B14C-273189E0853E}"/>
              </a:ext>
            </a:extLst>
          </p:cNvPr>
          <p:cNvSpPr>
            <a:spLocks xmlns:a="http://schemas.openxmlformats.org/drawingml/2006/main" noGrp="1"/>
          </p:cNvSpPr>
          <p:nvPr/>
        </p:nvSpPr>
        <p:spPr>
          <a:xfrm xmlns:a="http://schemas.openxmlformats.org/drawingml/2006/main">
            <a:off x="5495925" y="2247900"/>
            <a:ext cx="23812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필요 시 기존 코드 기준 적응</a:t>
            </a:r>
          </a:p>
        </p:txBody>
      </p:sp>
      <p:sp>
        <p:nvSpPr>
          <p:cNvPr id="17" name="">
            <a:extLst xmlns:a="http://schemas.openxmlformats.org/drawingml/2006/main">
              <a:ext uri="{FF2B5EF4-FFF2-40B4-BE49-F238E27FC236}">
                <a16:creationId xmlns:a16="http://schemas.microsoft.com/office/drawing/2014/main" id="{28002B5E-BD39-4064-8E09-6E9DCFDEFB44}"/>
              </a:ext>
            </a:extLst>
          </p:cNvPr>
          <p:cNvSpPr>
            <a:spLocks xmlns:a="http://schemas.openxmlformats.org/drawingml/2006/main" noGrp="1"/>
          </p:cNvSpPr>
          <p:nvPr/>
        </p:nvSpPr>
        <p:spPr>
          <a:xfrm xmlns:a="http://schemas.openxmlformats.org/drawingml/2006/main">
            <a:off x="685800" y="2676525"/>
            <a:ext cx="11620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Python/MATLAB</a:t>
            </a:r>
          </a:p>
        </p:txBody>
      </p:sp>
      <p:sp>
        <p:nvSpPr>
          <p:cNvPr id="18" name="">
            <a:extLst xmlns:a="http://schemas.openxmlformats.org/drawingml/2006/main">
              <a:ext uri="{FF2B5EF4-FFF2-40B4-BE49-F238E27FC236}">
                <a16:creationId xmlns:a16="http://schemas.microsoft.com/office/drawing/2014/main" id="{D615F8C5-FB7D-4B0E-B65E-E9C37C5470DB}"/>
              </a:ext>
            </a:extLst>
          </p:cNvPr>
          <p:cNvSpPr>
            <a:spLocks xmlns:a="http://schemas.openxmlformats.org/drawingml/2006/main" noGrp="1"/>
          </p:cNvSpPr>
          <p:nvPr/>
        </p:nvSpPr>
        <p:spPr>
          <a:xfrm xmlns:a="http://schemas.openxmlformats.org/drawingml/2006/main">
            <a:off x="1847850" y="2676525"/>
            <a:ext cx="838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경험 있음</a:t>
            </a:r>
          </a:p>
        </p:txBody>
      </p:sp>
      <p:sp>
        <p:nvSpPr>
          <p:cNvPr id="19" name="">
            <a:extLst xmlns:a="http://schemas.openxmlformats.org/drawingml/2006/main">
              <a:ext uri="{FF2B5EF4-FFF2-40B4-BE49-F238E27FC236}">
                <a16:creationId xmlns:a16="http://schemas.microsoft.com/office/drawing/2014/main" id="{3D377944-6EBE-4DB9-865C-438BC7C71D7F}"/>
              </a:ext>
            </a:extLst>
          </p:cNvPr>
          <p:cNvSpPr>
            <a:spLocks xmlns:a="http://schemas.openxmlformats.org/drawingml/2006/main" noGrp="1"/>
          </p:cNvSpPr>
          <p:nvPr/>
        </p:nvSpPr>
        <p:spPr>
          <a:xfrm xmlns:a="http://schemas.openxmlformats.org/drawingml/2006/main">
            <a:off x="2686050" y="2676525"/>
            <a:ext cx="2809875"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알고리즘 검증 및 자동화</a:t>
            </a:r>
          </a:p>
        </p:txBody>
      </p:sp>
      <p:sp>
        <p:nvSpPr>
          <p:cNvPr id="20" name="">
            <a:extLst xmlns:a="http://schemas.openxmlformats.org/drawingml/2006/main">
              <a:ext uri="{FF2B5EF4-FFF2-40B4-BE49-F238E27FC236}">
                <a16:creationId xmlns:a16="http://schemas.microsoft.com/office/drawing/2014/main" id="{712B74A7-68D7-498C-8BD3-0DFA7CB49C29}"/>
              </a:ext>
            </a:extLst>
          </p:cNvPr>
          <p:cNvSpPr>
            <a:spLocks xmlns:a="http://schemas.openxmlformats.org/drawingml/2006/main" noGrp="1"/>
          </p:cNvSpPr>
          <p:nvPr/>
        </p:nvSpPr>
        <p:spPr>
          <a:xfrm xmlns:a="http://schemas.openxmlformats.org/drawingml/2006/main">
            <a:off x="5495925" y="2676525"/>
            <a:ext cx="23812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도메인 자동화에 활용</a:t>
            </a:r>
          </a:p>
        </p:txBody>
      </p:sp>
      <p:sp>
        <p:nvSpPr>
          <p:cNvPr id="21" name="">
            <a:extLst xmlns:a="http://schemas.openxmlformats.org/drawingml/2006/main">
              <a:ext uri="{FF2B5EF4-FFF2-40B4-BE49-F238E27FC236}">
                <a16:creationId xmlns:a16="http://schemas.microsoft.com/office/drawing/2014/main" id="{9E68CC4A-5B1C-4510-AEAF-A3165C2754E5}"/>
              </a:ext>
            </a:extLst>
          </p:cNvPr>
          <p:cNvSpPr>
            <a:spLocks xmlns:a="http://schemas.openxmlformats.org/drawingml/2006/main" noGrp="1"/>
          </p:cNvSpPr>
          <p:nvPr/>
        </p:nvSpPr>
        <p:spPr>
          <a:xfrm xmlns:a="http://schemas.openxmlformats.org/drawingml/2006/main">
            <a:off x="685800" y="3105150"/>
            <a:ext cx="11620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Git</a:t>
            </a:r>
          </a:p>
        </p:txBody>
      </p:sp>
      <p:sp>
        <p:nvSpPr>
          <p:cNvPr id="22" name="">
            <a:extLst xmlns:a="http://schemas.openxmlformats.org/drawingml/2006/main">
              <a:ext uri="{FF2B5EF4-FFF2-40B4-BE49-F238E27FC236}">
                <a16:creationId xmlns:a16="http://schemas.microsoft.com/office/drawing/2014/main" id="{872AE67D-388A-4C65-B7D8-4547F54EE88F}"/>
              </a:ext>
            </a:extLst>
          </p:cNvPr>
          <p:cNvSpPr>
            <a:spLocks xmlns:a="http://schemas.openxmlformats.org/drawingml/2006/main" noGrp="1"/>
          </p:cNvSpPr>
          <p:nvPr/>
        </p:nvSpPr>
        <p:spPr>
          <a:xfrm xmlns:a="http://schemas.openxmlformats.org/drawingml/2006/main">
            <a:off x="1847850" y="3105150"/>
            <a:ext cx="83820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경험 있음</a:t>
            </a:r>
          </a:p>
        </p:txBody>
      </p:sp>
      <p:sp>
        <p:nvSpPr>
          <p:cNvPr id="23" name="">
            <a:extLst xmlns:a="http://schemas.openxmlformats.org/drawingml/2006/main">
              <a:ext uri="{FF2B5EF4-FFF2-40B4-BE49-F238E27FC236}">
                <a16:creationId xmlns:a16="http://schemas.microsoft.com/office/drawing/2014/main" id="{CFF178B2-7BFB-4237-9B3B-22B48D72EF2C}"/>
              </a:ext>
            </a:extLst>
          </p:cNvPr>
          <p:cNvSpPr>
            <a:spLocks xmlns:a="http://schemas.openxmlformats.org/drawingml/2006/main" noGrp="1"/>
          </p:cNvSpPr>
          <p:nvPr/>
        </p:nvSpPr>
        <p:spPr>
          <a:xfrm xmlns:a="http://schemas.openxmlformats.org/drawingml/2006/main">
            <a:off x="2686050" y="3105150"/>
            <a:ext cx="2809875"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프로젝트 및 개인 개발 관리</a:t>
            </a:r>
          </a:p>
        </p:txBody>
      </p:sp>
      <p:sp>
        <p:nvSpPr>
          <p:cNvPr id="24" name="">
            <a:extLst xmlns:a="http://schemas.openxmlformats.org/drawingml/2006/main">
              <a:ext uri="{FF2B5EF4-FFF2-40B4-BE49-F238E27FC236}">
                <a16:creationId xmlns:a16="http://schemas.microsoft.com/office/drawing/2014/main" id="{B7443F89-50C8-424E-A912-B1100774374D}"/>
              </a:ext>
            </a:extLst>
          </p:cNvPr>
          <p:cNvSpPr>
            <a:spLocks xmlns:a="http://schemas.openxmlformats.org/drawingml/2006/main" noGrp="1"/>
          </p:cNvSpPr>
          <p:nvPr/>
        </p:nvSpPr>
        <p:spPr>
          <a:xfrm xmlns:a="http://schemas.openxmlformats.org/drawingml/2006/main">
            <a:off x="5495925" y="3105150"/>
            <a:ext cx="23812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협업 규칙에 맞춰 적용</a:t>
            </a:r>
          </a:p>
        </p:txBody>
      </p:sp>
      <p:sp>
        <p:nvSpPr>
          <p:cNvPr id="25" name="">
            <a:extLst xmlns:a="http://schemas.openxmlformats.org/drawingml/2006/main">
              <a:ext uri="{FF2B5EF4-FFF2-40B4-BE49-F238E27FC236}">
                <a16:creationId xmlns:a16="http://schemas.microsoft.com/office/drawing/2014/main" id="{2EDF43BB-8814-40B0-B434-B014CE49A182}"/>
              </a:ext>
            </a:extLst>
          </p:cNvPr>
          <p:cNvSpPr>
            <a:spLocks xmlns:a="http://schemas.openxmlformats.org/drawingml/2006/main" noGrp="1"/>
          </p:cNvSpPr>
          <p:nvPr/>
        </p:nvSpPr>
        <p:spPr>
          <a:xfrm xmlns:a="http://schemas.openxmlformats.org/drawingml/2006/main">
            <a:off x="685800" y="3533775"/>
            <a:ext cx="11620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기존 코드 유지보수</a:t>
            </a:r>
          </a:p>
        </p:txBody>
      </p:sp>
      <p:sp>
        <p:nvSpPr>
          <p:cNvPr id="26" name="">
            <a:extLst xmlns:a="http://schemas.openxmlformats.org/drawingml/2006/main">
              <a:ext uri="{FF2B5EF4-FFF2-40B4-BE49-F238E27FC236}">
                <a16:creationId xmlns:a16="http://schemas.microsoft.com/office/drawing/2014/main" id="{E61B6CF7-3BB0-4364-909C-C87E36FC3A46}"/>
              </a:ext>
            </a:extLst>
          </p:cNvPr>
          <p:cNvSpPr>
            <a:spLocks xmlns:a="http://schemas.openxmlformats.org/drawingml/2006/main" noGrp="1"/>
          </p:cNvSpPr>
          <p:nvPr/>
        </p:nvSpPr>
        <p:spPr>
          <a:xfrm xmlns:a="http://schemas.openxmlformats.org/drawingml/2006/main">
            <a:off x="1847850" y="3533775"/>
            <a:ext cx="838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강함</a:t>
            </a:r>
          </a:p>
        </p:txBody>
      </p:sp>
      <p:sp>
        <p:nvSpPr>
          <p:cNvPr id="27" name="">
            <a:extLst xmlns:a="http://schemas.openxmlformats.org/drawingml/2006/main">
              <a:ext uri="{FF2B5EF4-FFF2-40B4-BE49-F238E27FC236}">
                <a16:creationId xmlns:a16="http://schemas.microsoft.com/office/drawing/2014/main" id="{5828A451-CB27-4A87-871E-2B1D49D52559}"/>
              </a:ext>
            </a:extLst>
          </p:cNvPr>
          <p:cNvSpPr>
            <a:spLocks xmlns:a="http://schemas.openxmlformats.org/drawingml/2006/main" noGrp="1"/>
          </p:cNvSpPr>
          <p:nvPr/>
        </p:nvSpPr>
        <p:spPr>
          <a:xfrm xmlns:a="http://schemas.openxmlformats.org/drawingml/2006/main">
            <a:off x="2686050" y="3533775"/>
            <a:ext cx="2809875"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장기 운영 상용 SW 기능 개선</a:t>
            </a:r>
          </a:p>
        </p:txBody>
      </p:sp>
      <p:sp>
        <p:nvSpPr>
          <p:cNvPr id="28" name="">
            <a:extLst xmlns:a="http://schemas.openxmlformats.org/drawingml/2006/main">
              <a:ext uri="{FF2B5EF4-FFF2-40B4-BE49-F238E27FC236}">
                <a16:creationId xmlns:a16="http://schemas.microsoft.com/office/drawing/2014/main" id="{B5CE1598-2229-4D31-9721-D3D41726592F}"/>
              </a:ext>
            </a:extLst>
          </p:cNvPr>
          <p:cNvSpPr>
            <a:spLocks xmlns:a="http://schemas.openxmlformats.org/drawingml/2006/main" noGrp="1"/>
          </p:cNvSpPr>
          <p:nvPr/>
        </p:nvSpPr>
        <p:spPr>
          <a:xfrm xmlns:a="http://schemas.openxmlformats.org/drawingml/2006/main">
            <a:off x="5495925" y="3533775"/>
            <a:ext cx="23812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리팩토링 기준 공유</a:t>
            </a:r>
          </a:p>
        </p:txBody>
      </p:sp>
      <p:sp>
        <p:nvSpPr>
          <p:cNvPr id="29" name="">
            <a:extLst xmlns:a="http://schemas.openxmlformats.org/drawingml/2006/main">
              <a:ext uri="{FF2B5EF4-FFF2-40B4-BE49-F238E27FC236}">
                <a16:creationId xmlns:a16="http://schemas.microsoft.com/office/drawing/2014/main" id="{C29E6E50-73C0-46EC-BAF8-421C4C5801B1}"/>
              </a:ext>
            </a:extLst>
          </p:cNvPr>
          <p:cNvSpPr>
            <a:spLocks xmlns:a="http://schemas.openxmlformats.org/drawingml/2006/main" noGrp="1"/>
          </p:cNvSpPr>
          <p:nvPr/>
        </p:nvSpPr>
        <p:spPr>
          <a:xfrm xmlns:a="http://schemas.openxmlformats.org/drawingml/2006/main">
            <a:off x="685800" y="3962400"/>
            <a:ext cx="11620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외부 라이브러리 활용</a:t>
            </a:r>
          </a:p>
        </p:txBody>
      </p:sp>
      <p:sp>
        <p:nvSpPr>
          <p:cNvPr id="30" name="">
            <a:extLst xmlns:a="http://schemas.openxmlformats.org/drawingml/2006/main">
              <a:ext uri="{FF2B5EF4-FFF2-40B4-BE49-F238E27FC236}">
                <a16:creationId xmlns:a16="http://schemas.microsoft.com/office/drawing/2014/main" id="{CEA34649-E898-45E0-966D-B1DADB96BC70}"/>
              </a:ext>
            </a:extLst>
          </p:cNvPr>
          <p:cNvSpPr>
            <a:spLocks xmlns:a="http://schemas.openxmlformats.org/drawingml/2006/main" noGrp="1"/>
          </p:cNvSpPr>
          <p:nvPr/>
        </p:nvSpPr>
        <p:spPr>
          <a:xfrm xmlns:a="http://schemas.openxmlformats.org/drawingml/2006/main">
            <a:off x="1847850" y="3962400"/>
            <a:ext cx="83820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경험 있음</a:t>
            </a:r>
          </a:p>
        </p:txBody>
      </p:sp>
      <p:sp>
        <p:nvSpPr>
          <p:cNvPr id="31" name="">
            <a:extLst xmlns:a="http://schemas.openxmlformats.org/drawingml/2006/main">
              <a:ext uri="{FF2B5EF4-FFF2-40B4-BE49-F238E27FC236}">
                <a16:creationId xmlns:a16="http://schemas.microsoft.com/office/drawing/2014/main" id="{20ABDAA7-9E1E-488A-910C-F737970CB8C9}"/>
              </a:ext>
            </a:extLst>
          </p:cNvPr>
          <p:cNvSpPr>
            <a:spLocks xmlns:a="http://schemas.openxmlformats.org/drawingml/2006/main" noGrp="1"/>
          </p:cNvSpPr>
          <p:nvPr/>
        </p:nvSpPr>
        <p:spPr>
          <a:xfrm xmlns:a="http://schemas.openxmlformats.org/drawingml/2006/main">
            <a:off x="2686050" y="3962400"/>
            <a:ext cx="2809875"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N.I.N.A 플러그인 개발</a:t>
            </a:r>
          </a:p>
        </p:txBody>
      </p:sp>
      <p:sp>
        <p:nvSpPr>
          <p:cNvPr id="32" name="">
            <a:extLst xmlns:a="http://schemas.openxmlformats.org/drawingml/2006/main">
              <a:ext uri="{FF2B5EF4-FFF2-40B4-BE49-F238E27FC236}">
                <a16:creationId xmlns:a16="http://schemas.microsoft.com/office/drawing/2014/main" id="{2D6BD037-2D1E-4516-81F2-62FAC070150E}"/>
              </a:ext>
            </a:extLst>
          </p:cNvPr>
          <p:cNvSpPr>
            <a:spLocks xmlns:a="http://schemas.openxmlformats.org/drawingml/2006/main" noGrp="1"/>
          </p:cNvSpPr>
          <p:nvPr/>
        </p:nvSpPr>
        <p:spPr>
          <a:xfrm xmlns:a="http://schemas.openxmlformats.org/drawingml/2006/main">
            <a:off x="5495925" y="3962400"/>
            <a:ext cx="2381250" cy="428625"/>
          </a:xfrm>
          <a:prstGeom xmlns:a="http://schemas.openxmlformats.org/drawingml/2006/main" prst="rect">
            <a:avLst/>
          </a:prstGeom>
          <a:solidFill xmlns:a="http://schemas.openxmlformats.org/drawingml/2006/main">
            <a:srgbClr val="FAFBFC"/>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SDK/API 연동으로 확장</a:t>
            </a:r>
          </a:p>
        </p:txBody>
      </p:sp>
      <p:sp>
        <p:nvSpPr>
          <p:cNvPr id="33" name="">
            <a:extLst xmlns:a="http://schemas.openxmlformats.org/drawingml/2006/main">
              <a:ext uri="{FF2B5EF4-FFF2-40B4-BE49-F238E27FC236}">
                <a16:creationId xmlns:a16="http://schemas.microsoft.com/office/drawing/2014/main" id="{FB55EC7F-B19D-4D25-8CCB-60D03D7AF2ED}"/>
              </a:ext>
            </a:extLst>
          </p:cNvPr>
          <p:cNvSpPr>
            <a:spLocks xmlns:a="http://schemas.openxmlformats.org/drawingml/2006/main" noGrp="1"/>
          </p:cNvSpPr>
          <p:nvPr/>
        </p:nvSpPr>
        <p:spPr>
          <a:xfrm xmlns:a="http://schemas.openxmlformats.org/drawingml/2006/main">
            <a:off x="685800" y="4391025"/>
            <a:ext cx="11620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TCP/IP</a:t>
            </a:r>
          </a:p>
        </p:txBody>
      </p:sp>
      <p:sp>
        <p:nvSpPr>
          <p:cNvPr id="34" name="">
            <a:extLst xmlns:a="http://schemas.openxmlformats.org/drawingml/2006/main">
              <a:ext uri="{FF2B5EF4-FFF2-40B4-BE49-F238E27FC236}">
                <a16:creationId xmlns:a16="http://schemas.microsoft.com/office/drawing/2014/main" id="{0F4F50A3-EE52-414D-B863-01D703B514B9}"/>
              </a:ext>
            </a:extLst>
          </p:cNvPr>
          <p:cNvSpPr>
            <a:spLocks xmlns:a="http://schemas.openxmlformats.org/drawingml/2006/main" noGrp="1"/>
          </p:cNvSpPr>
          <p:nvPr/>
        </p:nvSpPr>
        <p:spPr>
          <a:xfrm xmlns:a="http://schemas.openxmlformats.org/drawingml/2006/main">
            <a:off x="1847850" y="4391025"/>
            <a:ext cx="83820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E03C31"/>
                </a:solidFill>
                <a:latin typeface="Malgun Gothic"/>
                <a:ea typeface="Malgun Gothic"/>
                <a:cs typeface="Malgun Gothic"/>
              </a:defRPr>
            </a:pPr>
            <a:r>
              <a:rPr sz="780" b="0">
                <a:solidFill>
                  <a:srgbClr val="E03C31"/>
                </a:solidFill>
                <a:latin typeface="Malgun Gothic"/>
                <a:ea typeface="Malgun Gothic"/>
                <a:cs typeface="Malgun Gothic"/>
              </a:rPr>
              <a:t>보완 필요</a:t>
            </a:r>
          </a:p>
        </p:txBody>
      </p:sp>
      <p:sp>
        <p:nvSpPr>
          <p:cNvPr id="35" name="">
            <a:extLst xmlns:a="http://schemas.openxmlformats.org/drawingml/2006/main">
              <a:ext uri="{FF2B5EF4-FFF2-40B4-BE49-F238E27FC236}">
                <a16:creationId xmlns:a16="http://schemas.microsoft.com/office/drawing/2014/main" id="{3DE6A05B-1103-4471-A63F-C0EEB8A70011}"/>
              </a:ext>
            </a:extLst>
          </p:cNvPr>
          <p:cNvSpPr>
            <a:spLocks xmlns:a="http://schemas.openxmlformats.org/drawingml/2006/main" noGrp="1"/>
          </p:cNvSpPr>
          <p:nvPr/>
        </p:nvSpPr>
        <p:spPr>
          <a:xfrm xmlns:a="http://schemas.openxmlformats.org/drawingml/2006/main">
            <a:off x="2686050" y="4391025"/>
            <a:ext cx="2809875"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기초 학습 및 샘플 프로젝트 예정</a:t>
            </a:r>
          </a:p>
        </p:txBody>
      </p:sp>
      <p:sp>
        <p:nvSpPr>
          <p:cNvPr id="36" name="">
            <a:extLst xmlns:a="http://schemas.openxmlformats.org/drawingml/2006/main">
              <a:ext uri="{FF2B5EF4-FFF2-40B4-BE49-F238E27FC236}">
                <a16:creationId xmlns:a16="http://schemas.microsoft.com/office/drawing/2014/main" id="{93A67917-17D5-4D3E-9C85-6747AB8A040F}"/>
              </a:ext>
            </a:extLst>
          </p:cNvPr>
          <p:cNvSpPr>
            <a:spLocks xmlns:a="http://schemas.openxmlformats.org/drawingml/2006/main" noGrp="1"/>
          </p:cNvSpPr>
          <p:nvPr/>
        </p:nvSpPr>
        <p:spPr>
          <a:xfrm xmlns:a="http://schemas.openxmlformats.org/drawingml/2006/main">
            <a:off x="5495925" y="4391025"/>
            <a:ext cx="23812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소켓 통신 예제 구현</a:t>
            </a:r>
          </a:p>
        </p:txBody>
      </p:sp>
      <p:sp>
        <p:nvSpPr>
          <p:cNvPr id="37" name="">
            <a:extLst xmlns:a="http://schemas.openxmlformats.org/drawingml/2006/main">
              <a:ext uri="{FF2B5EF4-FFF2-40B4-BE49-F238E27FC236}">
                <a16:creationId xmlns:a16="http://schemas.microsoft.com/office/drawing/2014/main" id="{2F429113-456F-48ED-BCF7-947656292826}"/>
              </a:ext>
            </a:extLst>
          </p:cNvPr>
          <p:cNvSpPr>
            <a:spLocks xmlns:a="http://schemas.openxmlformats.org/drawingml/2006/main" noGrp="1"/>
          </p:cNvSpPr>
          <p:nvPr/>
        </p:nvSpPr>
        <p:spPr>
          <a:xfrm xmlns:a="http://schemas.openxmlformats.org/drawingml/2006/main">
            <a:off x="685800" y="4819650"/>
            <a:ext cx="11620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Linux</a:t>
            </a:r>
          </a:p>
        </p:txBody>
      </p:sp>
      <p:sp>
        <p:nvSpPr>
          <p:cNvPr id="38" name="">
            <a:extLst xmlns:a="http://schemas.openxmlformats.org/drawingml/2006/main">
              <a:ext uri="{FF2B5EF4-FFF2-40B4-BE49-F238E27FC236}">
                <a16:creationId xmlns:a16="http://schemas.microsoft.com/office/drawing/2014/main" id="{6E55E2A4-3287-472E-95B5-83DDB88483F2}"/>
              </a:ext>
            </a:extLst>
          </p:cNvPr>
          <p:cNvSpPr>
            <a:spLocks xmlns:a="http://schemas.openxmlformats.org/drawingml/2006/main" noGrp="1"/>
          </p:cNvSpPr>
          <p:nvPr/>
        </p:nvSpPr>
        <p:spPr>
          <a:xfrm xmlns:a="http://schemas.openxmlformats.org/drawingml/2006/main">
            <a:off x="1847850" y="4819650"/>
            <a:ext cx="83820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E03C31"/>
                </a:solidFill>
                <a:latin typeface="Malgun Gothic"/>
                <a:ea typeface="Malgun Gothic"/>
                <a:cs typeface="Malgun Gothic"/>
              </a:defRPr>
            </a:pPr>
            <a:r>
              <a:rPr sz="780" b="0">
                <a:solidFill>
                  <a:srgbClr val="E03C31"/>
                </a:solidFill>
                <a:latin typeface="Malgun Gothic"/>
                <a:ea typeface="Malgun Gothic"/>
                <a:cs typeface="Malgun Gothic"/>
              </a:rPr>
              <a:t>보완 필요</a:t>
            </a:r>
          </a:p>
        </p:txBody>
      </p:sp>
      <p:sp>
        <p:nvSpPr>
          <p:cNvPr id="39" name="">
            <a:extLst xmlns:a="http://schemas.openxmlformats.org/drawingml/2006/main">
              <a:ext uri="{FF2B5EF4-FFF2-40B4-BE49-F238E27FC236}">
                <a16:creationId xmlns:a16="http://schemas.microsoft.com/office/drawing/2014/main" id="{650806B8-6EA8-4641-AEF0-9793B986F373}"/>
              </a:ext>
            </a:extLst>
          </p:cNvPr>
          <p:cNvSpPr>
            <a:spLocks xmlns:a="http://schemas.openxmlformats.org/drawingml/2006/main" noGrp="1"/>
          </p:cNvSpPr>
          <p:nvPr/>
        </p:nvSpPr>
        <p:spPr>
          <a:xfrm xmlns:a="http://schemas.openxmlformats.org/drawingml/2006/main">
            <a:off x="2686050" y="4819650"/>
            <a:ext cx="2809875"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개발 환경 적응 필요</a:t>
            </a:r>
          </a:p>
        </p:txBody>
      </p:sp>
      <p:sp>
        <p:nvSpPr>
          <p:cNvPr id="40" name="">
            <a:extLst xmlns:a="http://schemas.openxmlformats.org/drawingml/2006/main">
              <a:ext uri="{FF2B5EF4-FFF2-40B4-BE49-F238E27FC236}">
                <a16:creationId xmlns:a16="http://schemas.microsoft.com/office/drawing/2014/main" id="{B03ED786-5F2E-45DE-8932-FF995EB632EF}"/>
              </a:ext>
            </a:extLst>
          </p:cNvPr>
          <p:cNvSpPr>
            <a:spLocks xmlns:a="http://schemas.openxmlformats.org/drawingml/2006/main" noGrp="1"/>
          </p:cNvSpPr>
          <p:nvPr/>
        </p:nvSpPr>
        <p:spPr>
          <a:xfrm xmlns:a="http://schemas.openxmlformats.org/drawingml/2006/main">
            <a:off x="5495925" y="4819650"/>
            <a:ext cx="23812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빌드/디버깅 루틴 학습</a:t>
            </a:r>
          </a:p>
        </p:txBody>
      </p:sp>
      <p:sp>
        <p:nvSpPr>
          <p:cNvPr id="41" name="">
            <a:extLst xmlns:a="http://schemas.openxmlformats.org/drawingml/2006/main">
              <a:ext uri="{FF2B5EF4-FFF2-40B4-BE49-F238E27FC236}">
                <a16:creationId xmlns:a16="http://schemas.microsoft.com/office/drawing/2014/main" id="{E935542A-CD71-4D27-BBFD-C9D7B23F2F96}"/>
              </a:ext>
            </a:extLst>
          </p:cNvPr>
          <p:cNvSpPr>
            <a:spLocks xmlns:a="http://schemas.openxmlformats.org/drawingml/2006/main" noGrp="1"/>
          </p:cNvSpPr>
          <p:nvPr/>
        </p:nvSpPr>
        <p:spPr>
          <a:xfrm xmlns:a="http://schemas.openxmlformats.org/drawingml/2006/main">
            <a:off x="685800" y="5248275"/>
            <a:ext cx="11620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1">
                <a:solidFill>
                  <a:srgbClr val="1F2328"/>
                </a:solidFill>
                <a:latin typeface="Malgun Gothic"/>
                <a:ea typeface="Malgun Gothic"/>
                <a:cs typeface="Malgun Gothic"/>
              </a:defRPr>
            </a:pPr>
            <a:r>
              <a:rPr sz="780" b="1">
                <a:solidFill>
                  <a:srgbClr val="1F2328"/>
                </a:solidFill>
                <a:latin typeface="Malgun Gothic"/>
                <a:ea typeface="Malgun Gothic"/>
                <a:cs typeface="Malgun Gothic"/>
              </a:rPr>
              <a:t>장비 SDK 제어</a:t>
            </a:r>
          </a:p>
        </p:txBody>
      </p:sp>
      <p:sp>
        <p:nvSpPr>
          <p:cNvPr id="42" name="">
            <a:extLst xmlns:a="http://schemas.openxmlformats.org/drawingml/2006/main">
              <a:ext uri="{FF2B5EF4-FFF2-40B4-BE49-F238E27FC236}">
                <a16:creationId xmlns:a16="http://schemas.microsoft.com/office/drawing/2014/main" id="{E3A3E3F1-FF0F-4B5E-BF4C-0CB8C24F9BDB}"/>
              </a:ext>
            </a:extLst>
          </p:cNvPr>
          <p:cNvSpPr>
            <a:spLocks xmlns:a="http://schemas.openxmlformats.org/drawingml/2006/main" noGrp="1"/>
          </p:cNvSpPr>
          <p:nvPr/>
        </p:nvSpPr>
        <p:spPr>
          <a:xfrm xmlns:a="http://schemas.openxmlformats.org/drawingml/2006/main">
            <a:off x="1847850" y="5248275"/>
            <a:ext cx="83820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E03C31"/>
                </a:solidFill>
                <a:latin typeface="Malgun Gothic"/>
                <a:ea typeface="Malgun Gothic"/>
                <a:cs typeface="Malgun Gothic"/>
              </a:defRPr>
            </a:pPr>
            <a:r>
              <a:rPr sz="780" b="0">
                <a:solidFill>
                  <a:srgbClr val="E03C31"/>
                </a:solidFill>
                <a:latin typeface="Malgun Gothic"/>
                <a:ea typeface="Malgun Gothic"/>
                <a:cs typeface="Malgun Gothic"/>
              </a:rPr>
              <a:t>보완 필요</a:t>
            </a:r>
          </a:p>
        </p:txBody>
      </p:sp>
      <p:sp>
        <p:nvSpPr>
          <p:cNvPr id="43" name="">
            <a:extLst xmlns:a="http://schemas.openxmlformats.org/drawingml/2006/main">
              <a:ext uri="{FF2B5EF4-FFF2-40B4-BE49-F238E27FC236}">
                <a16:creationId xmlns:a16="http://schemas.microsoft.com/office/drawing/2014/main" id="{29D28D3E-9F74-4665-80BF-36DA22910C99}"/>
              </a:ext>
            </a:extLst>
          </p:cNvPr>
          <p:cNvSpPr>
            <a:spLocks xmlns:a="http://schemas.openxmlformats.org/drawingml/2006/main" noGrp="1"/>
          </p:cNvSpPr>
          <p:nvPr/>
        </p:nvSpPr>
        <p:spPr>
          <a:xfrm xmlns:a="http://schemas.openxmlformats.org/drawingml/2006/main">
            <a:off x="2686050" y="5248275"/>
            <a:ext cx="2809875"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API 연동 경험 기반 확장 예정</a:t>
            </a:r>
          </a:p>
        </p:txBody>
      </p:sp>
      <p:sp>
        <p:nvSpPr>
          <p:cNvPr id="44" name="">
            <a:extLst xmlns:a="http://schemas.openxmlformats.org/drawingml/2006/main">
              <a:ext uri="{FF2B5EF4-FFF2-40B4-BE49-F238E27FC236}">
                <a16:creationId xmlns:a16="http://schemas.microsoft.com/office/drawing/2014/main" id="{FDE11DDB-F1C7-4D49-8046-3C9706BBD29B}"/>
              </a:ext>
            </a:extLst>
          </p:cNvPr>
          <p:cNvSpPr>
            <a:spLocks xmlns:a="http://schemas.openxmlformats.org/drawingml/2006/main" noGrp="1"/>
          </p:cNvSpPr>
          <p:nvPr/>
        </p:nvSpPr>
        <p:spPr>
          <a:xfrm xmlns:a="http://schemas.openxmlformats.org/drawingml/2006/main">
            <a:off x="5495925" y="5248275"/>
            <a:ext cx="2381250" cy="428625"/>
          </a:xfrm>
          <a:prstGeom xmlns:a="http://schemas.openxmlformats.org/drawingml/2006/main" prst="rect">
            <a:avLst/>
          </a:prstGeom>
          <a:solidFill xmlns:a="http://schemas.openxmlformats.org/drawingml/2006/main">
            <a:srgbClr val="FFF5F3"/>
          </a:solidFill>
          <a:ln xmlns:a="http://schemas.openxmlformats.org/drawingml/2006/main" w="9525">
            <a:solidFill>
              <a:srgbClr val="D8DEE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l">
              <a:lnSpc>
                <a:spcPct val="108000"/>
              </a:lnSpc>
              <a:buNone/>
              <a:defRPr sz="780" b="0">
                <a:solidFill>
                  <a:srgbClr val="111827"/>
                </a:solidFill>
                <a:latin typeface="Malgun Gothic"/>
                <a:ea typeface="Malgun Gothic"/>
                <a:cs typeface="Malgun Gothic"/>
              </a:defRPr>
            </a:pPr>
            <a:r>
              <a:rPr sz="780" b="0">
                <a:solidFill>
                  <a:srgbClr val="111827"/>
                </a:solidFill>
                <a:latin typeface="Malgun Gothic"/>
                <a:ea typeface="Malgun Gothic"/>
                <a:cs typeface="Malgun Gothic"/>
              </a:rPr>
              <a:t>카메라/마운트 SDK 샘플 구현</a:t>
            </a:r>
          </a:p>
        </p:txBody>
      </p:sp>
      <p:sp>
        <p:nvSpPr>
          <p:cNvPr id="45" name="">
            <a:extLst xmlns:a="http://schemas.openxmlformats.org/drawingml/2006/main">
              <a:ext uri="{FF2B5EF4-FFF2-40B4-BE49-F238E27FC236}">
                <a16:creationId xmlns:a16="http://schemas.microsoft.com/office/drawing/2014/main" id="{B519C221-4DD6-4465-B0A8-97B86186F7FE}"/>
              </a:ext>
            </a:extLst>
          </p:cNvPr>
          <p:cNvSpPr>
            <a:spLocks xmlns:a="http://schemas.openxmlformats.org/drawingml/2006/main" noGrp="1"/>
          </p:cNvSpPr>
          <p:nvPr/>
        </p:nvSpPr>
        <p:spPr>
          <a:xfrm xmlns:a="http://schemas.openxmlformats.org/drawingml/2006/main">
            <a:off x="8172450" y="1390650"/>
            <a:ext cx="3333750" cy="3857625"/>
          </a:xfrm>
          <a:prstGeom xmlns:a="http://schemas.openxmlformats.org/drawingml/2006/main" prst="roundRect">
            <a:avLst>
              <a:gd name="adj" fmla="val 2286"/>
            </a:avLst>
          </a:prstGeom>
          <a:solidFill xmlns:a="http://schemas.openxmlformats.org/drawingml/2006/main">
            <a:srgbClr val="F4F5F6"/>
          </a:solidFill>
          <a:ln xmlns:a="http://schemas.openxmlformats.org/drawingml/2006/main" w="14288">
            <a:solidFill>
              <a:srgbClr val="AEB4BB"/>
            </a:solidFill>
            <a:prstDash val="dash"/>
          </a:ln>
        </p:spPr>
      </p:sp>
      <p:sp>
        <p:nvSpPr>
          <p:cNvPr id="46" name="">
            <a:extLst xmlns:a="http://schemas.openxmlformats.org/drawingml/2006/main">
              <a:ext uri="{FF2B5EF4-FFF2-40B4-BE49-F238E27FC236}">
                <a16:creationId xmlns:a16="http://schemas.microsoft.com/office/drawing/2014/main" id="{BC7689A9-2516-4D90-8691-2AE51B41BDCD}"/>
              </a:ext>
            </a:extLst>
          </p:cNvPr>
          <p:cNvSpPr>
            <a:spLocks xmlns:a="http://schemas.openxmlformats.org/drawingml/2006/main" noGrp="1"/>
          </p:cNvSpPr>
          <p:nvPr/>
        </p:nvSpPr>
        <p:spPr>
          <a:xfrm xmlns:a="http://schemas.openxmlformats.org/drawingml/2006/main">
            <a:off x="8362950" y="16192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기술 스택 아이콘 영역</a:t>
            </a:r>
          </a:p>
        </p:txBody>
      </p:sp>
      <p:sp>
        <p:nvSpPr>
          <p:cNvPr id="47" name="">
            <a:extLst xmlns:a="http://schemas.openxmlformats.org/drawingml/2006/main">
              <a:ext uri="{FF2B5EF4-FFF2-40B4-BE49-F238E27FC236}">
                <a16:creationId xmlns:a16="http://schemas.microsoft.com/office/drawing/2014/main" id="{91541077-52D3-4334-905B-8F4F83E859D1}"/>
              </a:ext>
            </a:extLst>
          </p:cNvPr>
          <p:cNvSpPr>
            <a:spLocks xmlns:a="http://schemas.openxmlformats.org/drawingml/2006/main" noGrp="1"/>
          </p:cNvSpPr>
          <p:nvPr/>
        </p:nvSpPr>
        <p:spPr>
          <a:xfrm xmlns:a="http://schemas.openxmlformats.org/drawingml/2006/main">
            <a:off x="8458200" y="1981200"/>
            <a:ext cx="2762250" cy="2981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C++ / MFC / Python / MATLAB / Git /</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N.I.N.A / TCP-IP / Linux / Device SDK</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아이콘을 배치하세요.</a:t>
            </a:r>
          </a:p>
        </p:txBody>
      </p:sp>
      <p:sp>
        <p:nvSpPr>
          <p:cNvPr id="48" name="">
            <a:extLst xmlns:a="http://schemas.openxmlformats.org/drawingml/2006/main">
              <a:ext uri="{FF2B5EF4-FFF2-40B4-BE49-F238E27FC236}">
                <a16:creationId xmlns:a16="http://schemas.microsoft.com/office/drawing/2014/main" id="{2E4F08B6-29E3-4E5B-B490-2D178507F56A}"/>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49" name="">
            <a:extLst xmlns:a="http://schemas.openxmlformats.org/drawingml/2006/main">
              <a:ext uri="{FF2B5EF4-FFF2-40B4-BE49-F238E27FC236}">
                <a16:creationId xmlns:a16="http://schemas.microsoft.com/office/drawing/2014/main" id="{B46E3EE6-A738-4731-809B-D466561BBB69}"/>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기술 스택 아이콘을 넣고, 보완 필요 영역은 학습 계획과 함께 보이게 합니다.</a:t>
            </a:r>
          </a:p>
        </p:txBody>
      </p:sp>
      <p:sp>
        <p:nvSpPr>
          <p:cNvPr id="50" name="">
            <a:extLst xmlns:a="http://schemas.openxmlformats.org/drawingml/2006/main">
              <a:ext uri="{FF2B5EF4-FFF2-40B4-BE49-F238E27FC236}">
                <a16:creationId xmlns:a16="http://schemas.microsoft.com/office/drawing/2014/main" id="{78F6A630-A797-449B-BD3D-BC7D23F8F879}"/>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7 / 10</a:t>
            </a:r>
          </a:p>
        </p:txBody>
      </p:sp>
    </p:spTree>
    <p:extLst>
      <p:ext uri="{BB962C8B-B14F-4D97-AF65-F5344CB8AC3E}">
        <p14:creationId xmlns:p14="http://schemas.microsoft.com/office/powerpoint/2010/main" val="731550411"/>
      </p:ext>
    </p:extLst>
  </p:cSld>
</p:sld>
</file>

<file path=ppt/slides/slide8.xml><?xml version="1.0" encoding="utf-8"?>
<p:sld xmlns:p="http://schemas.openxmlformats.org/presentationml/2006/main">
  <p:cSld>
    <p:bg>
      <p:bgPr>
        <a:solidFill xmlns:a="http://schemas.openxmlformats.org/drawingml/2006/main">
          <a:srgbClr val="FBFB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57918B-668C-400C-991A-39CBD2953F10}"/>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404DA3-325E-4158-AB3C-D22C550D06D3}"/>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67E556FB-F259-4BD4-8E0F-4D5758CCA2A2}"/>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빠르게 적응할 수 있는 이유</a:t>
            </a:r>
          </a:p>
        </p:txBody>
      </p:sp>
      <p:sp>
        <p:nvSpPr>
          <p:cNvPr id="4" name="">
            <a:extLst xmlns:a="http://schemas.openxmlformats.org/drawingml/2006/main">
              <a:ext uri="{FF2B5EF4-FFF2-40B4-BE49-F238E27FC236}">
                <a16:creationId xmlns:a16="http://schemas.microsoft.com/office/drawing/2014/main" id="{D2CA9FFE-7A7D-49E7-AA0E-EA033EC1356B}"/>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오랜 기간 직접 코드를 작성하고 문제를 분석해온 개발자입니다.</a:t>
            </a:r>
          </a:p>
        </p:txBody>
      </p:sp>
      <p:sp>
        <p:nvSpPr>
          <p:cNvPr id="5" name="">
            <a:extLst xmlns:a="http://schemas.openxmlformats.org/drawingml/2006/main">
              <a:ext uri="{FF2B5EF4-FFF2-40B4-BE49-F238E27FC236}">
                <a16:creationId xmlns:a16="http://schemas.microsoft.com/office/drawing/2014/main" id="{A13983F4-63CF-4DAB-8E20-C30204895D15}"/>
              </a:ext>
            </a:extLst>
          </p:cNvPr>
          <p:cNvSpPr>
            <a:spLocks xmlns:a="http://schemas.openxmlformats.org/drawingml/2006/main" noGrp="1"/>
          </p:cNvSpPr>
          <p:nvPr/>
        </p:nvSpPr>
        <p:spPr>
          <a:xfrm xmlns:a="http://schemas.openxmlformats.org/drawingml/2006/main">
            <a:off x="685800" y="1314450"/>
            <a:ext cx="657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4000"/>
              </a:lnSpc>
              <a:buNone/>
              <a:defRPr sz="1650" b="1">
                <a:solidFill>
                  <a:srgbClr val="111827"/>
                </a:solidFill>
                <a:latin typeface="Malgun Gothic"/>
                <a:ea typeface="Malgun Gothic"/>
                <a:cs typeface="Malgun Gothic"/>
              </a:defRPr>
            </a:pPr>
            <a:r>
              <a:rPr sz="1650" b="1">
                <a:solidFill>
                  <a:srgbClr val="111827"/>
                </a:solidFill>
                <a:latin typeface="Malgun Gothic"/>
                <a:ea typeface="Malgun Gothic"/>
                <a:cs typeface="Malgun Gothic"/>
              </a:rPr>
              <a:t>“저는 관리자로만 일해온 사람이 아니라,</a:t>
            </a:r>
          </a:p>
          <a:p xmlns:a="http://schemas.openxmlformats.org/drawingml/2006/main">
            <a:pPr algn="l">
              <a:lnSpc>
                <a:spcPct val="114000"/>
              </a:lnSpc>
              <a:buNone/>
              <a:defRPr sz="1650" b="1">
                <a:solidFill>
                  <a:srgbClr val="111827"/>
                </a:solidFill>
                <a:latin typeface="Malgun Gothic"/>
                <a:ea typeface="Malgun Gothic"/>
                <a:cs typeface="Malgun Gothic"/>
              </a:defRPr>
            </a:pPr>
            <a:r>
              <a:rPr sz="1650" b="1">
                <a:solidFill>
                  <a:srgbClr val="111827"/>
                </a:solidFill>
                <a:latin typeface="Malgun Gothic"/>
                <a:ea typeface="Malgun Gothic"/>
                <a:cs typeface="Malgun Gothic"/>
              </a:rPr>
              <a:t>오랜 기간 직접 코드를 작성하고 문제를 분석해온 개발자입니다.”</a:t>
            </a:r>
          </a:p>
        </p:txBody>
      </p:sp>
      <p:sp>
        <p:nvSpPr>
          <p:cNvPr id="6" name="">
            <a:extLst xmlns:a="http://schemas.openxmlformats.org/drawingml/2006/main">
              <a:ext uri="{FF2B5EF4-FFF2-40B4-BE49-F238E27FC236}">
                <a16:creationId xmlns:a16="http://schemas.microsoft.com/office/drawing/2014/main" id="{B7E3DDE8-3FDC-413B-91F8-9F0DA6B6A08C}"/>
              </a:ext>
            </a:extLst>
          </p:cNvPr>
          <p:cNvSpPr>
            <a:spLocks xmlns:a="http://schemas.openxmlformats.org/drawingml/2006/main" noGrp="1"/>
          </p:cNvSpPr>
          <p:nvPr/>
        </p:nvSpPr>
        <p:spPr>
          <a:xfrm xmlns:a="http://schemas.openxmlformats.org/drawingml/2006/main">
            <a:off x="685800" y="2628900"/>
            <a:ext cx="20002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4E8"/>
            </a:solidFill>
            <a:prstDash val="solid"/>
          </a:ln>
        </p:spPr>
      </p:sp>
      <p:sp>
        <p:nvSpPr>
          <p:cNvPr id="7" name="">
            <a:extLst xmlns:a="http://schemas.openxmlformats.org/drawingml/2006/main">
              <a:ext uri="{FF2B5EF4-FFF2-40B4-BE49-F238E27FC236}">
                <a16:creationId xmlns:a16="http://schemas.microsoft.com/office/drawing/2014/main" id="{1F5B2DBF-4837-4C57-92A6-C1D0E1F5F104}"/>
              </a:ext>
            </a:extLst>
          </p:cNvPr>
          <p:cNvSpPr>
            <a:spLocks xmlns:a="http://schemas.openxmlformats.org/drawingml/2006/main" noGrp="1"/>
          </p:cNvSpPr>
          <p:nvPr/>
        </p:nvSpPr>
        <p:spPr>
          <a:xfrm xmlns:a="http://schemas.openxmlformats.org/drawingml/2006/main">
            <a:off x="838200" y="2762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코드 이해</a:t>
            </a:r>
          </a:p>
        </p:txBody>
      </p:sp>
      <p:sp>
        <p:nvSpPr>
          <p:cNvPr id="8" name="">
            <a:extLst xmlns:a="http://schemas.openxmlformats.org/drawingml/2006/main">
              <a:ext uri="{FF2B5EF4-FFF2-40B4-BE49-F238E27FC236}">
                <a16:creationId xmlns:a16="http://schemas.microsoft.com/office/drawing/2014/main" id="{1446AFC3-BEB0-4FE8-AEF6-C101E6941F96}"/>
              </a:ext>
            </a:extLst>
          </p:cNvPr>
          <p:cNvSpPr>
            <a:spLocks xmlns:a="http://schemas.openxmlformats.org/drawingml/2006/main" noGrp="1"/>
          </p:cNvSpPr>
          <p:nvPr/>
        </p:nvSpPr>
        <p:spPr>
          <a:xfrm xmlns:a="http://schemas.openxmlformats.org/drawingml/2006/main">
            <a:off x="838200" y="3067050"/>
            <a:ext cx="1695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새로운 도메인의 코드를 읽고 기존 구조 안에서 안정적으로 기능을 추가하는 데 익숙합니다.</a:t>
            </a:r>
          </a:p>
        </p:txBody>
      </p:sp>
      <p:sp>
        <p:nvSpPr>
          <p:cNvPr id="9" name="">
            <a:extLst xmlns:a="http://schemas.openxmlformats.org/drawingml/2006/main">
              <a:ext uri="{FF2B5EF4-FFF2-40B4-BE49-F238E27FC236}">
                <a16:creationId xmlns:a16="http://schemas.microsoft.com/office/drawing/2014/main" id="{65B3231D-8D62-4467-88CA-AD0DC31DD938}"/>
              </a:ext>
            </a:extLst>
          </p:cNvPr>
          <p:cNvSpPr>
            <a:spLocks xmlns:a="http://schemas.openxmlformats.org/drawingml/2006/main" noGrp="1"/>
          </p:cNvSpPr>
          <p:nvPr/>
        </p:nvSpPr>
        <p:spPr>
          <a:xfrm xmlns:a="http://schemas.openxmlformats.org/drawingml/2006/main">
            <a:off x="2895600" y="2628900"/>
            <a:ext cx="20002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4E8"/>
            </a:solidFill>
            <a:prstDash val="solid"/>
          </a:ln>
        </p:spPr>
      </p:sp>
      <p:sp>
        <p:nvSpPr>
          <p:cNvPr id="10" name="">
            <a:extLst xmlns:a="http://schemas.openxmlformats.org/drawingml/2006/main">
              <a:ext uri="{FF2B5EF4-FFF2-40B4-BE49-F238E27FC236}">
                <a16:creationId xmlns:a16="http://schemas.microsoft.com/office/drawing/2014/main" id="{AC2779A2-1EB6-4EDD-9228-1EE123AE34D6}"/>
              </a:ext>
            </a:extLst>
          </p:cNvPr>
          <p:cNvSpPr>
            <a:spLocks xmlns:a="http://schemas.openxmlformats.org/drawingml/2006/main" noGrp="1"/>
          </p:cNvSpPr>
          <p:nvPr/>
        </p:nvSpPr>
        <p:spPr>
          <a:xfrm xmlns:a="http://schemas.openxmlformats.org/drawingml/2006/main">
            <a:off x="3048000" y="2762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품질 기준</a:t>
            </a:r>
          </a:p>
        </p:txBody>
      </p:sp>
      <p:sp>
        <p:nvSpPr>
          <p:cNvPr id="11" name="">
            <a:extLst xmlns:a="http://schemas.openxmlformats.org/drawingml/2006/main">
              <a:ext uri="{FF2B5EF4-FFF2-40B4-BE49-F238E27FC236}">
                <a16:creationId xmlns:a16="http://schemas.microsoft.com/office/drawing/2014/main" id="{7D84976E-4B5F-4E9F-98AF-D9603DCD725D}"/>
              </a:ext>
            </a:extLst>
          </p:cNvPr>
          <p:cNvSpPr>
            <a:spLocks xmlns:a="http://schemas.openxmlformats.org/drawingml/2006/main" noGrp="1"/>
          </p:cNvSpPr>
          <p:nvPr/>
        </p:nvSpPr>
        <p:spPr>
          <a:xfrm xmlns:a="http://schemas.openxmlformats.org/drawingml/2006/main">
            <a:off x="3048000" y="3067050"/>
            <a:ext cx="1695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성능, 안정성, 유지보수성을 함께 고려하며 장기 운영 제품의 현실을 이해합니다.</a:t>
            </a:r>
          </a:p>
        </p:txBody>
      </p:sp>
      <p:sp>
        <p:nvSpPr>
          <p:cNvPr id="12" name="">
            <a:extLst xmlns:a="http://schemas.openxmlformats.org/drawingml/2006/main">
              <a:ext uri="{FF2B5EF4-FFF2-40B4-BE49-F238E27FC236}">
                <a16:creationId xmlns:a16="http://schemas.microsoft.com/office/drawing/2014/main" id="{632B9E8E-EF48-417E-BA9D-5554C937137B}"/>
              </a:ext>
            </a:extLst>
          </p:cNvPr>
          <p:cNvSpPr>
            <a:spLocks xmlns:a="http://schemas.openxmlformats.org/drawingml/2006/main" noGrp="1"/>
          </p:cNvSpPr>
          <p:nvPr/>
        </p:nvSpPr>
        <p:spPr>
          <a:xfrm xmlns:a="http://schemas.openxmlformats.org/drawingml/2006/main">
            <a:off x="5105400" y="2628900"/>
            <a:ext cx="20002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4E8"/>
            </a:solidFill>
            <a:prstDash val="solid"/>
          </a:ln>
        </p:spPr>
      </p:sp>
      <p:sp>
        <p:nvSpPr>
          <p:cNvPr id="13" name="">
            <a:extLst xmlns:a="http://schemas.openxmlformats.org/drawingml/2006/main">
              <a:ext uri="{FF2B5EF4-FFF2-40B4-BE49-F238E27FC236}">
                <a16:creationId xmlns:a16="http://schemas.microsoft.com/office/drawing/2014/main" id="{B08B84DF-F5FE-4BB6-A2CE-81B0E6D94F21}"/>
              </a:ext>
            </a:extLst>
          </p:cNvPr>
          <p:cNvSpPr>
            <a:spLocks xmlns:a="http://schemas.openxmlformats.org/drawingml/2006/main" noGrp="1"/>
          </p:cNvSpPr>
          <p:nvPr/>
        </p:nvSpPr>
        <p:spPr>
          <a:xfrm xmlns:a="http://schemas.openxmlformats.org/drawingml/2006/main">
            <a:off x="5257800" y="2762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학습 태도</a:t>
            </a:r>
          </a:p>
        </p:txBody>
      </p:sp>
      <p:sp>
        <p:nvSpPr>
          <p:cNvPr id="14" name="">
            <a:extLst xmlns:a="http://schemas.openxmlformats.org/drawingml/2006/main">
              <a:ext uri="{FF2B5EF4-FFF2-40B4-BE49-F238E27FC236}">
                <a16:creationId xmlns:a16="http://schemas.microsoft.com/office/drawing/2014/main" id="{F26DB0CF-9E3A-4C21-9AC1-B8B4218B987D}"/>
              </a:ext>
            </a:extLst>
          </p:cNvPr>
          <p:cNvSpPr>
            <a:spLocks xmlns:a="http://schemas.openxmlformats.org/drawingml/2006/main" noGrp="1"/>
          </p:cNvSpPr>
          <p:nvPr/>
        </p:nvSpPr>
        <p:spPr>
          <a:xfrm xmlns:a="http://schemas.openxmlformats.org/drawingml/2006/main">
            <a:off x="5257800" y="3067050"/>
            <a:ext cx="1695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특정 방식만 고집하기보다 팀과 제품에 필요한 방식에 맞춰 실무자로 기여합니다.</a:t>
            </a:r>
          </a:p>
        </p:txBody>
      </p:sp>
      <p:sp>
        <p:nvSpPr>
          <p:cNvPr id="15" name="">
            <a:extLst xmlns:a="http://schemas.openxmlformats.org/drawingml/2006/main">
              <a:ext uri="{FF2B5EF4-FFF2-40B4-BE49-F238E27FC236}">
                <a16:creationId xmlns:a16="http://schemas.microsoft.com/office/drawing/2014/main" id="{76FF0342-311B-4FDB-BBF3-1C5A6DBE3D40}"/>
              </a:ext>
            </a:extLst>
          </p:cNvPr>
          <p:cNvSpPr>
            <a:spLocks xmlns:a="http://schemas.openxmlformats.org/drawingml/2006/main" noGrp="1"/>
          </p:cNvSpPr>
          <p:nvPr/>
        </p:nvSpPr>
        <p:spPr>
          <a:xfrm xmlns:a="http://schemas.openxmlformats.org/drawingml/2006/main">
            <a:off x="685800" y="4381500"/>
            <a:ext cx="1123950" cy="266700"/>
          </a:xfrm>
          <a:prstGeom xmlns:a="http://schemas.openxmlformats.org/drawingml/2006/main" prst="roundRect">
            <a:avLst>
              <a:gd name="adj" fmla="val 28571"/>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보완 적용 계획</a:t>
            </a:r>
          </a:p>
        </p:txBody>
      </p:sp>
      <p:sp>
        <p:nvSpPr>
          <p:cNvPr id="16" name="">
            <a:extLst xmlns:a="http://schemas.openxmlformats.org/drawingml/2006/main">
              <a:ext uri="{FF2B5EF4-FFF2-40B4-BE49-F238E27FC236}">
                <a16:creationId xmlns:a16="http://schemas.microsoft.com/office/drawing/2014/main" id="{6C87D30C-C399-449F-88A0-DA8DD6E84B15}"/>
              </a:ext>
            </a:extLst>
          </p:cNvPr>
          <p:cNvSpPr>
            <a:spLocks xmlns:a="http://schemas.openxmlformats.org/drawingml/2006/main" noGrp="1"/>
          </p:cNvSpPr>
          <p:nvPr/>
        </p:nvSpPr>
        <p:spPr>
          <a:xfrm xmlns:a="http://schemas.openxmlformats.org/drawingml/2006/main">
            <a:off x="1943100" y="4362450"/>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65" b="0">
                <a:solidFill>
                  <a:srgbClr val="111827"/>
                </a:solidFill>
                <a:latin typeface="Malgun Gothic"/>
                <a:ea typeface="Malgun Gothic"/>
                <a:cs typeface="Malgun Gothic"/>
              </a:defRPr>
            </a:pPr>
            <a:r>
              <a:rPr sz="1065" b="0">
                <a:solidFill>
                  <a:srgbClr val="111827"/>
                </a:solidFill>
                <a:latin typeface="Malgun Gothic"/>
                <a:ea typeface="Malgun Gothic"/>
                <a:cs typeface="Malgun Gothic"/>
              </a:rPr>
              <a:t>천문 관측에 대한 실제 관심을 기반으로 통신 인터페이스, 장비 SDK, Linux 환경을 빠르게 학습해 실무에 적용하겠습니다.</a:t>
            </a:r>
          </a:p>
        </p:txBody>
      </p:sp>
      <p:sp>
        <p:nvSpPr>
          <p:cNvPr id="17" name="">
            <a:extLst xmlns:a="http://schemas.openxmlformats.org/drawingml/2006/main">
              <a:ext uri="{FF2B5EF4-FFF2-40B4-BE49-F238E27FC236}">
                <a16:creationId xmlns:a16="http://schemas.microsoft.com/office/drawing/2014/main" id="{2C651F7F-A98C-4A1C-9584-CB830E6E7787}"/>
              </a:ext>
            </a:extLst>
          </p:cNvPr>
          <p:cNvSpPr>
            <a:spLocks xmlns:a="http://schemas.openxmlformats.org/drawingml/2006/main" noGrp="1"/>
          </p:cNvSpPr>
          <p:nvPr/>
        </p:nvSpPr>
        <p:spPr>
          <a:xfrm xmlns:a="http://schemas.openxmlformats.org/drawingml/2006/main">
            <a:off x="685800" y="5010150"/>
            <a:ext cx="1143000" cy="285750"/>
          </a:xfrm>
          <a:prstGeom xmlns:a="http://schemas.openxmlformats.org/drawingml/2006/main" prst="roundRect">
            <a:avLst>
              <a:gd name="adj" fmla="val 50000"/>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TCP/IP 샘플</a:t>
            </a:r>
          </a:p>
        </p:txBody>
      </p:sp>
      <p:sp>
        <p:nvSpPr>
          <p:cNvPr id="18" name="">
            <a:extLst xmlns:a="http://schemas.openxmlformats.org/drawingml/2006/main">
              <a:ext uri="{FF2B5EF4-FFF2-40B4-BE49-F238E27FC236}">
                <a16:creationId xmlns:a16="http://schemas.microsoft.com/office/drawing/2014/main" id="{93CE48D6-91A7-4EFF-874A-71D58A97DE1C}"/>
              </a:ext>
            </a:extLst>
          </p:cNvPr>
          <p:cNvSpPr>
            <a:spLocks xmlns:a="http://schemas.openxmlformats.org/drawingml/2006/main" noGrp="1"/>
          </p:cNvSpPr>
          <p:nvPr/>
        </p:nvSpPr>
        <p:spPr>
          <a:xfrm xmlns:a="http://schemas.openxmlformats.org/drawingml/2006/main">
            <a:off x="1962150" y="5010150"/>
            <a:ext cx="1238250" cy="285750"/>
          </a:xfrm>
          <a:prstGeom xmlns:a="http://schemas.openxmlformats.org/drawingml/2006/main" prst="roundRect">
            <a:avLst>
              <a:gd name="adj" fmla="val 50000"/>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장비 SDK 예제</a:t>
            </a:r>
          </a:p>
        </p:txBody>
      </p:sp>
      <p:sp>
        <p:nvSpPr>
          <p:cNvPr id="19" name="">
            <a:extLst xmlns:a="http://schemas.openxmlformats.org/drawingml/2006/main">
              <a:ext uri="{FF2B5EF4-FFF2-40B4-BE49-F238E27FC236}">
                <a16:creationId xmlns:a16="http://schemas.microsoft.com/office/drawing/2014/main" id="{2941E62A-BD8B-4B4A-A707-B7B7C4641A9E}"/>
              </a:ext>
            </a:extLst>
          </p:cNvPr>
          <p:cNvSpPr>
            <a:spLocks xmlns:a="http://schemas.openxmlformats.org/drawingml/2006/main" noGrp="1"/>
          </p:cNvSpPr>
          <p:nvPr/>
        </p:nvSpPr>
        <p:spPr>
          <a:xfrm xmlns:a="http://schemas.openxmlformats.org/drawingml/2006/main">
            <a:off x="3333750" y="5010150"/>
            <a:ext cx="1447800" cy="285750"/>
          </a:xfrm>
          <a:prstGeom xmlns:a="http://schemas.openxmlformats.org/drawingml/2006/main" prst="roundRect">
            <a:avLst>
              <a:gd name="adj" fmla="val 50000"/>
            </a:avLst>
          </a:prstGeom>
          <a:solidFill xmlns:a="http://schemas.openxmlformats.org/drawingml/2006/main">
            <a:srgbClr val="FFF1EF"/>
          </a:solidFill>
          <a:ln xmlns:a="http://schemas.openxmlformats.org/drawingml/2006/main" w="9525">
            <a:solidFill>
              <a:srgbClr val="F2B7AF"/>
            </a:solidFill>
            <a:prstDash val="solid"/>
          </a:ln>
        </p:spPr>
        <p:txBody>
          <a:bodyPr xmlns:a="http://schemas.openxmlformats.org/drawingml/2006/main" lIns="76200" tIns="28575" rIns="76200" bIns="28575" anchor="ctr">
            <a:normAutofit fontScale="100000"/>
          </a:bodyPr>
          <a:lstStyle xmlns:a="http://schemas.openxmlformats.org/drawingml/2006/main"/>
          <a:p xmlns:a="http://schemas.openxmlformats.org/drawingml/2006/main">
            <a:pPr algn="ctr">
              <a:defRPr sz="863" b="1">
                <a:solidFill>
                  <a:srgbClr val="E03C31"/>
                </a:solidFill>
                <a:latin typeface="Malgun Gothic"/>
                <a:ea typeface="Malgun Gothic"/>
                <a:cs typeface="Malgun Gothic"/>
              </a:defRPr>
            </a:pPr>
            <a:r>
              <a:rPr sz="863" b="1">
                <a:solidFill>
                  <a:srgbClr val="E03C31"/>
                </a:solidFill>
                <a:latin typeface="Malgun Gothic"/>
                <a:ea typeface="Malgun Gothic"/>
                <a:cs typeface="Malgun Gothic"/>
              </a:rPr>
              <a:t>Linux 빌드/디버깅</a:t>
            </a:r>
          </a:p>
        </p:txBody>
      </p:sp>
      <p:sp>
        <p:nvSpPr>
          <p:cNvPr id="20" name="">
            <a:extLst xmlns:a="http://schemas.openxmlformats.org/drawingml/2006/main">
              <a:ext uri="{FF2B5EF4-FFF2-40B4-BE49-F238E27FC236}">
                <a16:creationId xmlns:a16="http://schemas.microsoft.com/office/drawing/2014/main" id="{F70E89FC-4C8A-43AB-848E-02E8C2805BB8}"/>
              </a:ext>
            </a:extLst>
          </p:cNvPr>
          <p:cNvSpPr>
            <a:spLocks xmlns:a="http://schemas.openxmlformats.org/drawingml/2006/main" noGrp="1"/>
          </p:cNvSpPr>
          <p:nvPr/>
        </p:nvSpPr>
        <p:spPr>
          <a:xfrm xmlns:a="http://schemas.openxmlformats.org/drawingml/2006/main">
            <a:off x="7677150" y="1428750"/>
            <a:ext cx="3829050" cy="3829050"/>
          </a:xfrm>
          <a:prstGeom xmlns:a="http://schemas.openxmlformats.org/drawingml/2006/main" prst="roundRect">
            <a:avLst>
              <a:gd name="adj" fmla="val 1990"/>
            </a:avLst>
          </a:prstGeom>
          <a:solidFill xmlns:a="http://schemas.openxmlformats.org/drawingml/2006/main">
            <a:srgbClr val="F4F5F6"/>
          </a:solidFill>
          <a:ln xmlns:a="http://schemas.openxmlformats.org/drawingml/2006/main" w="14288">
            <a:solidFill>
              <a:srgbClr val="AEB4BB"/>
            </a:solidFill>
            <a:prstDash val="dash"/>
          </a:ln>
        </p:spPr>
      </p:sp>
      <p:sp>
        <p:nvSpPr>
          <p:cNvPr id="21" name="">
            <a:extLst xmlns:a="http://schemas.openxmlformats.org/drawingml/2006/main">
              <a:ext uri="{FF2B5EF4-FFF2-40B4-BE49-F238E27FC236}">
                <a16:creationId xmlns:a16="http://schemas.microsoft.com/office/drawing/2014/main" id="{187C13F8-CD8D-4201-908D-0D2A7178D080}"/>
              </a:ext>
            </a:extLst>
          </p:cNvPr>
          <p:cNvSpPr>
            <a:spLocks xmlns:a="http://schemas.openxmlformats.org/drawingml/2006/main" noGrp="1"/>
          </p:cNvSpPr>
          <p:nvPr/>
        </p:nvSpPr>
        <p:spPr>
          <a:xfrm xmlns:a="http://schemas.openxmlformats.org/drawingml/2006/main">
            <a:off x="7867650" y="16573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코드 분석 / 리팩토링 / 학습 로드맵</a:t>
            </a:r>
          </a:p>
        </p:txBody>
      </p:sp>
      <p:sp>
        <p:nvSpPr>
          <p:cNvPr id="22" name="">
            <a:extLst xmlns:a="http://schemas.openxmlformats.org/drawingml/2006/main">
              <a:ext uri="{FF2B5EF4-FFF2-40B4-BE49-F238E27FC236}">
                <a16:creationId xmlns:a16="http://schemas.microsoft.com/office/drawing/2014/main" id="{A153EDB0-3481-41CA-9BDA-896753726F9B}"/>
              </a:ext>
            </a:extLst>
          </p:cNvPr>
          <p:cNvSpPr>
            <a:spLocks xmlns:a="http://schemas.openxmlformats.org/drawingml/2006/main" noGrp="1"/>
          </p:cNvSpPr>
          <p:nvPr/>
        </p:nvSpPr>
        <p:spPr>
          <a:xfrm xmlns:a="http://schemas.openxmlformats.org/drawingml/2006/main">
            <a:off x="7962900" y="2019300"/>
            <a:ext cx="32575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기존 코드 분석 흐름, 리팩토링 전후,</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또는 TCP-IP·Linux·SDK 학습 로드맵</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이미지를 삽입하세요.</a:t>
            </a:r>
          </a:p>
        </p:txBody>
      </p:sp>
      <p:sp>
        <p:nvSpPr>
          <p:cNvPr id="23" name="">
            <a:extLst xmlns:a="http://schemas.openxmlformats.org/drawingml/2006/main">
              <a:ext uri="{FF2B5EF4-FFF2-40B4-BE49-F238E27FC236}">
                <a16:creationId xmlns:a16="http://schemas.microsoft.com/office/drawing/2014/main" id="{59CAE15A-4C9E-49E4-8FE7-6399A799495B}"/>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24" name="">
            <a:extLst xmlns:a="http://schemas.openxmlformats.org/drawingml/2006/main">
              <a:ext uri="{FF2B5EF4-FFF2-40B4-BE49-F238E27FC236}">
                <a16:creationId xmlns:a16="http://schemas.microsoft.com/office/drawing/2014/main" id="{849BFD13-0EB0-4B87-8E1A-4B1C18B790F8}"/>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코드 분석/리팩토링 사례 또는 보완 영역 학습 로드맵을 넣습니다.</a:t>
            </a:r>
          </a:p>
        </p:txBody>
      </p:sp>
      <p:sp>
        <p:nvSpPr>
          <p:cNvPr id="25" name="">
            <a:extLst xmlns:a="http://schemas.openxmlformats.org/drawingml/2006/main">
              <a:ext uri="{FF2B5EF4-FFF2-40B4-BE49-F238E27FC236}">
                <a16:creationId xmlns:a16="http://schemas.microsoft.com/office/drawing/2014/main" id="{423CC31A-4E03-4535-907B-F2A113532A66}"/>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8 / 10</a:t>
            </a:r>
          </a:p>
        </p:txBody>
      </p:sp>
    </p:spTree>
    <p:extLst>
      <p:ext uri="{BB962C8B-B14F-4D97-AF65-F5344CB8AC3E}">
        <p14:creationId xmlns:p14="http://schemas.microsoft.com/office/powerpoint/2010/main" val="5151100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BF5C90-23FF-47AE-A3BD-7EB807B0C44E}"/>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7E81F5-D2FF-494C-8D40-154E3BCFFD0F}"/>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9C6BCE2A-F3B8-405B-AA2F-E4D340C57E4C}"/>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Rainbow Robotics에서 기여 가능한 부분</a:t>
            </a:r>
          </a:p>
        </p:txBody>
      </p:sp>
      <p:sp>
        <p:nvSpPr>
          <p:cNvPr id="4" name="">
            <a:extLst xmlns:a="http://schemas.openxmlformats.org/drawingml/2006/main">
              <a:ext uri="{FF2B5EF4-FFF2-40B4-BE49-F238E27FC236}">
                <a16:creationId xmlns:a16="http://schemas.microsoft.com/office/drawing/2014/main" id="{41C893F2-4F4D-47CA-AAE8-E9BB3E02D7CF}"/>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C++ 실무 경험과 천문 관측 사용자 관점을 제품 개발로 연결하겠습니다.</a:t>
            </a:r>
          </a:p>
        </p:txBody>
      </p:sp>
      <p:sp>
        <p:nvSpPr>
          <p:cNvPr id="5" name="">
            <a:extLst xmlns:a="http://schemas.openxmlformats.org/drawingml/2006/main">
              <a:ext uri="{FF2B5EF4-FFF2-40B4-BE49-F238E27FC236}">
                <a16:creationId xmlns:a16="http://schemas.microsoft.com/office/drawing/2014/main" id="{CB8AE48A-802D-460B-B445-DF0C95E4B573}"/>
              </a:ext>
            </a:extLst>
          </p:cNvPr>
          <p:cNvSpPr>
            <a:spLocks xmlns:a="http://schemas.openxmlformats.org/drawingml/2006/main" noGrp="1"/>
          </p:cNvSpPr>
          <p:nvPr/>
        </p:nvSpPr>
        <p:spPr>
          <a:xfrm xmlns:a="http://schemas.openxmlformats.org/drawingml/2006/main">
            <a:off x="685800" y="1409700"/>
            <a:ext cx="2476500" cy="876300"/>
          </a:xfrm>
          <a:prstGeom xmlns:a="http://schemas.openxmlformats.org/drawingml/2006/main" prst="roundRect">
            <a:avLst>
              <a:gd name="adj" fmla="val 8696"/>
            </a:avLst>
          </a:prstGeom>
          <a:solidFill xmlns:a="http://schemas.openxmlformats.org/drawingml/2006/main">
            <a:srgbClr val="FFF5F3"/>
          </a:solidFill>
          <a:ln xmlns:a="http://schemas.openxmlformats.org/drawingml/2006/main" w="9525">
            <a:solidFill>
              <a:srgbClr val="F2B7AF"/>
            </a:solidFill>
            <a:prstDash val="solid"/>
          </a:ln>
        </p:spPr>
      </p:sp>
      <p:sp>
        <p:nvSpPr>
          <p:cNvPr id="6" name="">
            <a:extLst xmlns:a="http://schemas.openxmlformats.org/drawingml/2006/main">
              <a:ext uri="{FF2B5EF4-FFF2-40B4-BE49-F238E27FC236}">
                <a16:creationId xmlns:a16="http://schemas.microsoft.com/office/drawing/2014/main" id="{1AD6505A-53F5-45F2-B8C2-91333EAFD85B}"/>
              </a:ext>
            </a:extLst>
          </p:cNvPr>
          <p:cNvSpPr>
            <a:spLocks xmlns:a="http://schemas.openxmlformats.org/drawingml/2006/main" noGrp="1"/>
          </p:cNvSpPr>
          <p:nvPr/>
        </p:nvSpPr>
        <p:spPr>
          <a:xfrm xmlns:a="http://schemas.openxmlformats.org/drawingml/2006/main">
            <a:off x="838200" y="15430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E03C31"/>
                </a:solidFill>
                <a:latin typeface="Malgun Gothic"/>
                <a:ea typeface="Malgun Gothic"/>
                <a:cs typeface="Malgun Gothic"/>
              </a:defRPr>
            </a:pPr>
            <a:r>
              <a:rPr sz="1050" b="1">
                <a:solidFill>
                  <a:srgbClr val="E03C31"/>
                </a:solidFill>
                <a:latin typeface="Malgun Gothic"/>
                <a:ea typeface="Malgun Gothic"/>
                <a:cs typeface="Malgun Gothic"/>
              </a:rPr>
              <a:t>C++ 기능 개발</a:t>
            </a:r>
          </a:p>
        </p:txBody>
      </p:sp>
      <p:sp>
        <p:nvSpPr>
          <p:cNvPr id="7" name="">
            <a:extLst xmlns:a="http://schemas.openxmlformats.org/drawingml/2006/main">
              <a:ext uri="{FF2B5EF4-FFF2-40B4-BE49-F238E27FC236}">
                <a16:creationId xmlns:a16="http://schemas.microsoft.com/office/drawing/2014/main" id="{BA8267A8-53C1-400C-AD1F-7F627EA99310}"/>
              </a:ext>
            </a:extLst>
          </p:cNvPr>
          <p:cNvSpPr>
            <a:spLocks xmlns:a="http://schemas.openxmlformats.org/drawingml/2006/main" noGrp="1"/>
          </p:cNvSpPr>
          <p:nvPr/>
        </p:nvSpPr>
        <p:spPr>
          <a:xfrm xmlns:a="http://schemas.openxmlformats.org/drawingml/2006/main">
            <a:off x="838200" y="18478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천문 응용 소프트웨어 기능 구현</a:t>
            </a:r>
          </a:p>
        </p:txBody>
      </p:sp>
      <p:sp>
        <p:nvSpPr>
          <p:cNvPr id="8" name="">
            <a:extLst xmlns:a="http://schemas.openxmlformats.org/drawingml/2006/main">
              <a:ext uri="{FF2B5EF4-FFF2-40B4-BE49-F238E27FC236}">
                <a16:creationId xmlns:a16="http://schemas.microsoft.com/office/drawing/2014/main" id="{11092DD4-C4D5-4DEB-BC65-920796B28987}"/>
              </a:ext>
            </a:extLst>
          </p:cNvPr>
          <p:cNvSpPr>
            <a:spLocks xmlns:a="http://schemas.openxmlformats.org/drawingml/2006/main" noGrp="1"/>
          </p:cNvSpPr>
          <p:nvPr/>
        </p:nvSpPr>
        <p:spPr>
          <a:xfrm xmlns:a="http://schemas.openxmlformats.org/drawingml/2006/main">
            <a:off x="3409950" y="1409700"/>
            <a:ext cx="2476500" cy="876300"/>
          </a:xfrm>
          <a:prstGeom xmlns:a="http://schemas.openxmlformats.org/drawingml/2006/main" prst="roundRect">
            <a:avLst>
              <a:gd name="adj" fmla="val 8696"/>
            </a:avLst>
          </a:prstGeom>
          <a:solidFill xmlns:a="http://schemas.openxmlformats.org/drawingml/2006/main">
            <a:srgbClr val="FAFBFC"/>
          </a:solidFill>
          <a:ln xmlns:a="http://schemas.openxmlformats.org/drawingml/2006/main" w="9525">
            <a:solidFill>
              <a:srgbClr val="E1E4E8"/>
            </a:solidFill>
            <a:prstDash val="solid"/>
          </a:ln>
        </p:spPr>
      </p:sp>
      <p:sp>
        <p:nvSpPr>
          <p:cNvPr id="9" name="">
            <a:extLst xmlns:a="http://schemas.openxmlformats.org/drawingml/2006/main">
              <a:ext uri="{FF2B5EF4-FFF2-40B4-BE49-F238E27FC236}">
                <a16:creationId xmlns:a16="http://schemas.microsoft.com/office/drawing/2014/main" id="{C91C2C50-DDBE-44DA-A69A-E2363AF9DEEF}"/>
              </a:ext>
            </a:extLst>
          </p:cNvPr>
          <p:cNvSpPr>
            <a:spLocks xmlns:a="http://schemas.openxmlformats.org/drawingml/2006/main" noGrp="1"/>
          </p:cNvSpPr>
          <p:nvPr/>
        </p:nvSpPr>
        <p:spPr>
          <a:xfrm xmlns:a="http://schemas.openxmlformats.org/drawingml/2006/main">
            <a:off x="3562350" y="15430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유지보수·리팩토링</a:t>
            </a:r>
          </a:p>
        </p:txBody>
      </p:sp>
      <p:sp>
        <p:nvSpPr>
          <p:cNvPr id="10" name="">
            <a:extLst xmlns:a="http://schemas.openxmlformats.org/drawingml/2006/main">
              <a:ext uri="{FF2B5EF4-FFF2-40B4-BE49-F238E27FC236}">
                <a16:creationId xmlns:a16="http://schemas.microsoft.com/office/drawing/2014/main" id="{02690304-677C-47BC-A441-E4B37ECBF3A4}"/>
              </a:ext>
            </a:extLst>
          </p:cNvPr>
          <p:cNvSpPr>
            <a:spLocks xmlns:a="http://schemas.openxmlformats.org/drawingml/2006/main" noGrp="1"/>
          </p:cNvSpPr>
          <p:nvPr/>
        </p:nvSpPr>
        <p:spPr>
          <a:xfrm xmlns:a="http://schemas.openxmlformats.org/drawingml/2006/main">
            <a:off x="3562350" y="18478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기존 코드 분석과 안정적 개선</a:t>
            </a:r>
          </a:p>
        </p:txBody>
      </p:sp>
      <p:sp>
        <p:nvSpPr>
          <p:cNvPr id="11" name="">
            <a:extLst xmlns:a="http://schemas.openxmlformats.org/drawingml/2006/main">
              <a:ext uri="{FF2B5EF4-FFF2-40B4-BE49-F238E27FC236}">
                <a16:creationId xmlns:a16="http://schemas.microsoft.com/office/drawing/2014/main" id="{1F93330C-1B60-45D8-A464-8F999EA26E63}"/>
              </a:ext>
            </a:extLst>
          </p:cNvPr>
          <p:cNvSpPr>
            <a:spLocks xmlns:a="http://schemas.openxmlformats.org/drawingml/2006/main" noGrp="1"/>
          </p:cNvSpPr>
          <p:nvPr/>
        </p:nvSpPr>
        <p:spPr>
          <a:xfrm xmlns:a="http://schemas.openxmlformats.org/drawingml/2006/main">
            <a:off x="685800" y="2533650"/>
            <a:ext cx="2476500" cy="876300"/>
          </a:xfrm>
          <a:prstGeom xmlns:a="http://schemas.openxmlformats.org/drawingml/2006/main" prst="roundRect">
            <a:avLst>
              <a:gd name="adj" fmla="val 8696"/>
            </a:avLst>
          </a:prstGeom>
          <a:solidFill xmlns:a="http://schemas.openxmlformats.org/drawingml/2006/main">
            <a:srgbClr val="FAFBFC"/>
          </a:solidFill>
          <a:ln xmlns:a="http://schemas.openxmlformats.org/drawingml/2006/main" w="9525">
            <a:solidFill>
              <a:srgbClr val="E1E4E8"/>
            </a:solidFill>
            <a:prstDash val="solid"/>
          </a:ln>
        </p:spPr>
      </p:sp>
      <p:sp>
        <p:nvSpPr>
          <p:cNvPr id="12" name="">
            <a:extLst xmlns:a="http://schemas.openxmlformats.org/drawingml/2006/main">
              <a:ext uri="{FF2B5EF4-FFF2-40B4-BE49-F238E27FC236}">
                <a16:creationId xmlns:a16="http://schemas.microsoft.com/office/drawing/2014/main" id="{31A95B74-B5F0-4E2F-BCBD-42F69C5BD45E}"/>
              </a:ext>
            </a:extLst>
          </p:cNvPr>
          <p:cNvSpPr>
            <a:spLocks xmlns:a="http://schemas.openxmlformats.org/drawingml/2006/main" noGrp="1"/>
          </p:cNvSpPr>
          <p:nvPr/>
        </p:nvSpPr>
        <p:spPr>
          <a:xfrm xmlns:a="http://schemas.openxmlformats.org/drawingml/2006/main">
            <a:off x="838200" y="266700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제어 UI/Workflow</a:t>
            </a:r>
          </a:p>
        </p:txBody>
      </p:sp>
      <p:sp>
        <p:nvSpPr>
          <p:cNvPr id="13" name="">
            <a:extLst xmlns:a="http://schemas.openxmlformats.org/drawingml/2006/main">
              <a:ext uri="{FF2B5EF4-FFF2-40B4-BE49-F238E27FC236}">
                <a16:creationId xmlns:a16="http://schemas.microsoft.com/office/drawing/2014/main" id="{B63233B1-B4F5-467F-B4DF-6E55E0C4B2FF}"/>
              </a:ext>
            </a:extLst>
          </p:cNvPr>
          <p:cNvSpPr>
            <a:spLocks xmlns:a="http://schemas.openxmlformats.org/drawingml/2006/main" noGrp="1"/>
          </p:cNvSpPr>
          <p:nvPr/>
        </p:nvSpPr>
        <p:spPr>
          <a:xfrm xmlns:a="http://schemas.openxmlformats.org/drawingml/2006/main">
            <a:off x="838200" y="2971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카메라·마운트 제어 흐름 개선</a:t>
            </a:r>
          </a:p>
        </p:txBody>
      </p:sp>
      <p:sp>
        <p:nvSpPr>
          <p:cNvPr id="14" name="">
            <a:extLst xmlns:a="http://schemas.openxmlformats.org/drawingml/2006/main">
              <a:ext uri="{FF2B5EF4-FFF2-40B4-BE49-F238E27FC236}">
                <a16:creationId xmlns:a16="http://schemas.microsoft.com/office/drawing/2014/main" id="{0B3CF42A-32FB-490F-81B5-B23D8A734992}"/>
              </a:ext>
            </a:extLst>
          </p:cNvPr>
          <p:cNvSpPr>
            <a:spLocks xmlns:a="http://schemas.openxmlformats.org/drawingml/2006/main" noGrp="1"/>
          </p:cNvSpPr>
          <p:nvPr/>
        </p:nvSpPr>
        <p:spPr>
          <a:xfrm xmlns:a="http://schemas.openxmlformats.org/drawingml/2006/main">
            <a:off x="3409950" y="2533650"/>
            <a:ext cx="2476500" cy="876300"/>
          </a:xfrm>
          <a:prstGeom xmlns:a="http://schemas.openxmlformats.org/drawingml/2006/main" prst="roundRect">
            <a:avLst>
              <a:gd name="adj" fmla="val 8696"/>
            </a:avLst>
          </a:prstGeom>
          <a:solidFill xmlns:a="http://schemas.openxmlformats.org/drawingml/2006/main">
            <a:srgbClr val="FAFBFC"/>
          </a:solidFill>
          <a:ln xmlns:a="http://schemas.openxmlformats.org/drawingml/2006/main" w="9525">
            <a:solidFill>
              <a:srgbClr val="E1E4E8"/>
            </a:solidFill>
            <a:prstDash val="solid"/>
          </a:ln>
        </p:spPr>
      </p:sp>
      <p:sp>
        <p:nvSpPr>
          <p:cNvPr id="15" name="">
            <a:extLst xmlns:a="http://schemas.openxmlformats.org/drawingml/2006/main">
              <a:ext uri="{FF2B5EF4-FFF2-40B4-BE49-F238E27FC236}">
                <a16:creationId xmlns:a16="http://schemas.microsoft.com/office/drawing/2014/main" id="{967E9ECF-5E01-43B2-9EDC-EB8A50D4BEB1}"/>
              </a:ext>
            </a:extLst>
          </p:cNvPr>
          <p:cNvSpPr>
            <a:spLocks xmlns:a="http://schemas.openxmlformats.org/drawingml/2006/main" noGrp="1"/>
          </p:cNvSpPr>
          <p:nvPr/>
        </p:nvSpPr>
        <p:spPr>
          <a:xfrm xmlns:a="http://schemas.openxmlformats.org/drawingml/2006/main">
            <a:off x="3562350" y="266700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사용자 관점 품질</a:t>
            </a:r>
          </a:p>
        </p:txBody>
      </p:sp>
      <p:sp>
        <p:nvSpPr>
          <p:cNvPr id="16" name="">
            <a:extLst xmlns:a="http://schemas.openxmlformats.org/drawingml/2006/main">
              <a:ext uri="{FF2B5EF4-FFF2-40B4-BE49-F238E27FC236}">
                <a16:creationId xmlns:a16="http://schemas.microsoft.com/office/drawing/2014/main" id="{F3CE68EB-0657-413E-9E48-7CAB7493CEF6}"/>
              </a:ext>
            </a:extLst>
          </p:cNvPr>
          <p:cNvSpPr>
            <a:spLocks xmlns:a="http://schemas.openxmlformats.org/drawingml/2006/main" noGrp="1"/>
          </p:cNvSpPr>
          <p:nvPr/>
        </p:nvSpPr>
        <p:spPr>
          <a:xfrm xmlns:a="http://schemas.openxmlformats.org/drawingml/2006/main">
            <a:off x="3562350" y="2971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관측 workflow 기반 기능 기획</a:t>
            </a:r>
          </a:p>
        </p:txBody>
      </p:sp>
      <p:sp>
        <p:nvSpPr>
          <p:cNvPr id="17" name="">
            <a:extLst xmlns:a="http://schemas.openxmlformats.org/drawingml/2006/main">
              <a:ext uri="{FF2B5EF4-FFF2-40B4-BE49-F238E27FC236}">
                <a16:creationId xmlns:a16="http://schemas.microsoft.com/office/drawing/2014/main" id="{48D1CF2A-C0F4-4EDE-86C7-A7A31D8D93CB}"/>
              </a:ext>
            </a:extLst>
          </p:cNvPr>
          <p:cNvSpPr>
            <a:spLocks xmlns:a="http://schemas.openxmlformats.org/drawingml/2006/main" noGrp="1"/>
          </p:cNvSpPr>
          <p:nvPr/>
        </p:nvSpPr>
        <p:spPr>
          <a:xfrm xmlns:a="http://schemas.openxmlformats.org/drawingml/2006/main">
            <a:off x="685800" y="3657600"/>
            <a:ext cx="2476500" cy="876300"/>
          </a:xfrm>
          <a:prstGeom xmlns:a="http://schemas.openxmlformats.org/drawingml/2006/main" prst="roundRect">
            <a:avLst>
              <a:gd name="adj" fmla="val 8696"/>
            </a:avLst>
          </a:prstGeom>
          <a:solidFill xmlns:a="http://schemas.openxmlformats.org/drawingml/2006/main">
            <a:srgbClr val="FAFBFC"/>
          </a:solidFill>
          <a:ln xmlns:a="http://schemas.openxmlformats.org/drawingml/2006/main" w="9525">
            <a:solidFill>
              <a:srgbClr val="E1E4E8"/>
            </a:solidFill>
            <a:prstDash val="solid"/>
          </a:ln>
        </p:spPr>
      </p:sp>
      <p:sp>
        <p:nvSpPr>
          <p:cNvPr id="18" name="">
            <a:extLst xmlns:a="http://schemas.openxmlformats.org/drawingml/2006/main">
              <a:ext uri="{FF2B5EF4-FFF2-40B4-BE49-F238E27FC236}">
                <a16:creationId xmlns:a16="http://schemas.microsoft.com/office/drawing/2014/main" id="{7C184A9C-FF0B-4284-880C-BB25E9E0DCCD}"/>
              </a:ext>
            </a:extLst>
          </p:cNvPr>
          <p:cNvSpPr>
            <a:spLocks xmlns:a="http://schemas.openxmlformats.org/drawingml/2006/main" noGrp="1"/>
          </p:cNvSpPr>
          <p:nvPr/>
        </p:nvSpPr>
        <p:spPr>
          <a:xfrm xmlns:a="http://schemas.openxmlformats.org/drawingml/2006/main">
            <a:off x="838200" y="37909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장기 운영 구조</a:t>
            </a:r>
          </a:p>
        </p:txBody>
      </p:sp>
      <p:sp>
        <p:nvSpPr>
          <p:cNvPr id="19" name="">
            <a:extLst xmlns:a="http://schemas.openxmlformats.org/drawingml/2006/main">
              <a:ext uri="{FF2B5EF4-FFF2-40B4-BE49-F238E27FC236}">
                <a16:creationId xmlns:a16="http://schemas.microsoft.com/office/drawing/2014/main" id="{ADD0BF04-EF2D-4F14-8A15-7E5CF0D24C51}"/>
              </a:ext>
            </a:extLst>
          </p:cNvPr>
          <p:cNvSpPr>
            <a:spLocks xmlns:a="http://schemas.openxmlformats.org/drawingml/2006/main" noGrp="1"/>
          </p:cNvSpPr>
          <p:nvPr/>
        </p:nvSpPr>
        <p:spPr>
          <a:xfrm xmlns:a="http://schemas.openxmlformats.org/drawingml/2006/main">
            <a:off x="838200" y="4095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성능·안정성·유지보수성 개선</a:t>
            </a:r>
          </a:p>
        </p:txBody>
      </p:sp>
      <p:sp>
        <p:nvSpPr>
          <p:cNvPr id="20" name="">
            <a:extLst xmlns:a="http://schemas.openxmlformats.org/drawingml/2006/main">
              <a:ext uri="{FF2B5EF4-FFF2-40B4-BE49-F238E27FC236}">
                <a16:creationId xmlns:a16="http://schemas.microsoft.com/office/drawing/2014/main" id="{C23876D5-2D6B-455F-9CF1-FAE7EDDB2422}"/>
              </a:ext>
            </a:extLst>
          </p:cNvPr>
          <p:cNvSpPr>
            <a:spLocks xmlns:a="http://schemas.openxmlformats.org/drawingml/2006/main" noGrp="1"/>
          </p:cNvSpPr>
          <p:nvPr/>
        </p:nvSpPr>
        <p:spPr>
          <a:xfrm xmlns:a="http://schemas.openxmlformats.org/drawingml/2006/main">
            <a:off x="3409950" y="3657600"/>
            <a:ext cx="2476500" cy="876300"/>
          </a:xfrm>
          <a:prstGeom xmlns:a="http://schemas.openxmlformats.org/drawingml/2006/main" prst="roundRect">
            <a:avLst>
              <a:gd name="adj" fmla="val 8696"/>
            </a:avLst>
          </a:prstGeom>
          <a:solidFill xmlns:a="http://schemas.openxmlformats.org/drawingml/2006/main">
            <a:srgbClr val="FAFBFC"/>
          </a:solidFill>
          <a:ln xmlns:a="http://schemas.openxmlformats.org/drawingml/2006/main" w="9525">
            <a:solidFill>
              <a:srgbClr val="E1E4E8"/>
            </a:solidFill>
            <a:prstDash val="solid"/>
          </a:ln>
        </p:spPr>
      </p:sp>
      <p:sp>
        <p:nvSpPr>
          <p:cNvPr id="21" name="">
            <a:extLst xmlns:a="http://schemas.openxmlformats.org/drawingml/2006/main">
              <a:ext uri="{FF2B5EF4-FFF2-40B4-BE49-F238E27FC236}">
                <a16:creationId xmlns:a16="http://schemas.microsoft.com/office/drawing/2014/main" id="{0C53521C-A342-4E80-8CA8-4DC4152AC96F}"/>
              </a:ext>
            </a:extLst>
          </p:cNvPr>
          <p:cNvSpPr>
            <a:spLocks xmlns:a="http://schemas.openxmlformats.org/drawingml/2006/main" noGrp="1"/>
          </p:cNvSpPr>
          <p:nvPr/>
        </p:nvSpPr>
        <p:spPr>
          <a:xfrm xmlns:a="http://schemas.openxmlformats.org/drawingml/2006/main">
            <a:off x="3562350" y="3790950"/>
            <a:ext cx="2171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050" b="1">
                <a:solidFill>
                  <a:srgbClr val="111827"/>
                </a:solidFill>
                <a:latin typeface="Malgun Gothic"/>
                <a:ea typeface="Malgun Gothic"/>
                <a:cs typeface="Malgun Gothic"/>
              </a:defRPr>
            </a:pPr>
            <a:r>
              <a:rPr sz="1050" b="1">
                <a:solidFill>
                  <a:srgbClr val="111827"/>
                </a:solidFill>
                <a:latin typeface="Malgun Gothic"/>
                <a:ea typeface="Malgun Gothic"/>
                <a:cs typeface="Malgun Gothic"/>
              </a:rPr>
              <a:t>외부 라이브러리 확장</a:t>
            </a:r>
          </a:p>
        </p:txBody>
      </p:sp>
      <p:sp>
        <p:nvSpPr>
          <p:cNvPr id="22" name="">
            <a:extLst xmlns:a="http://schemas.openxmlformats.org/drawingml/2006/main">
              <a:ext uri="{FF2B5EF4-FFF2-40B4-BE49-F238E27FC236}">
                <a16:creationId xmlns:a16="http://schemas.microsoft.com/office/drawing/2014/main" id="{239FE347-2357-4F71-8354-A826FA5EAAC4}"/>
              </a:ext>
            </a:extLst>
          </p:cNvPr>
          <p:cNvSpPr>
            <a:spLocks xmlns:a="http://schemas.openxmlformats.org/drawingml/2006/main" noGrp="1"/>
          </p:cNvSpPr>
          <p:nvPr/>
        </p:nvSpPr>
        <p:spPr>
          <a:xfrm xmlns:a="http://schemas.openxmlformats.org/drawingml/2006/main">
            <a:off x="3562350" y="4095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938" b="0">
                <a:solidFill>
                  <a:srgbClr val="4B5563"/>
                </a:solidFill>
                <a:latin typeface="Malgun Gothic"/>
                <a:ea typeface="Malgun Gothic"/>
                <a:cs typeface="Malgun Gothic"/>
              </a:defRPr>
            </a:pPr>
            <a:r>
              <a:rPr sz="938" b="0">
                <a:solidFill>
                  <a:srgbClr val="4B5563"/>
                </a:solidFill>
                <a:latin typeface="Malgun Gothic"/>
                <a:ea typeface="Malgun Gothic"/>
                <a:cs typeface="Malgun Gothic"/>
              </a:rPr>
              <a:t>오픈소스/API 기반 빠른 기능 확장</a:t>
            </a:r>
          </a:p>
        </p:txBody>
      </p:sp>
      <p:sp>
        <p:nvSpPr>
          <p:cNvPr id="23" name="">
            <a:extLst xmlns:a="http://schemas.openxmlformats.org/drawingml/2006/main">
              <a:ext uri="{FF2B5EF4-FFF2-40B4-BE49-F238E27FC236}">
                <a16:creationId xmlns:a16="http://schemas.microsoft.com/office/drawing/2014/main" id="{6B9F9025-37ED-45A0-B1DB-48D41656F784}"/>
              </a:ext>
            </a:extLst>
          </p:cNvPr>
          <p:cNvSpPr>
            <a:spLocks xmlns:a="http://schemas.openxmlformats.org/drawingml/2006/main" noGrp="1"/>
          </p:cNvSpPr>
          <p:nvPr/>
        </p:nvSpPr>
        <p:spPr>
          <a:xfrm xmlns:a="http://schemas.openxmlformats.org/drawingml/2006/main">
            <a:off x="6819900" y="1428750"/>
            <a:ext cx="4686300" cy="3829050"/>
          </a:xfrm>
          <a:prstGeom xmlns:a="http://schemas.openxmlformats.org/drawingml/2006/main" prst="roundRect">
            <a:avLst>
              <a:gd name="adj" fmla="val 1990"/>
            </a:avLst>
          </a:prstGeom>
          <a:solidFill xmlns:a="http://schemas.openxmlformats.org/drawingml/2006/main">
            <a:srgbClr val="F4F5F6"/>
          </a:solidFill>
          <a:ln xmlns:a="http://schemas.openxmlformats.org/drawingml/2006/main" w="14288">
            <a:solidFill>
              <a:srgbClr val="AEB4BB"/>
            </a:solidFill>
            <a:prstDash val="dash"/>
          </a:ln>
        </p:spPr>
      </p:sp>
      <p:sp>
        <p:nvSpPr>
          <p:cNvPr id="24" name="">
            <a:extLst xmlns:a="http://schemas.openxmlformats.org/drawingml/2006/main">
              <a:ext uri="{FF2B5EF4-FFF2-40B4-BE49-F238E27FC236}">
                <a16:creationId xmlns:a16="http://schemas.microsoft.com/office/drawing/2014/main" id="{6D56183B-8C1C-4F9E-9B38-338265ACC6D2}"/>
              </a:ext>
            </a:extLst>
          </p:cNvPr>
          <p:cNvSpPr>
            <a:spLocks xmlns:a="http://schemas.openxmlformats.org/drawingml/2006/main" noGrp="1"/>
          </p:cNvSpPr>
          <p:nvPr/>
        </p:nvSpPr>
        <p:spPr>
          <a:xfrm xmlns:a="http://schemas.openxmlformats.org/drawingml/2006/main">
            <a:off x="7010400" y="165735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천문 장비 제어 소프트웨어 구성도</a:t>
            </a:r>
          </a:p>
        </p:txBody>
      </p:sp>
      <p:sp>
        <p:nvSpPr>
          <p:cNvPr id="25" name="">
            <a:extLst xmlns:a="http://schemas.openxmlformats.org/drawingml/2006/main">
              <a:ext uri="{FF2B5EF4-FFF2-40B4-BE49-F238E27FC236}">
                <a16:creationId xmlns:a16="http://schemas.microsoft.com/office/drawing/2014/main" id="{9A572455-3DD0-473D-BF53-5691BD230B20}"/>
              </a:ext>
            </a:extLst>
          </p:cNvPr>
          <p:cNvSpPr>
            <a:spLocks xmlns:a="http://schemas.openxmlformats.org/drawingml/2006/main" noGrp="1"/>
          </p:cNvSpPr>
          <p:nvPr/>
        </p:nvSpPr>
        <p:spPr>
          <a:xfrm xmlns:a="http://schemas.openxmlformats.org/drawingml/2006/main">
            <a:off x="7105650" y="2019300"/>
            <a:ext cx="41148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응용 SW, 제어 UI, TCP/IP 또는 SDK,</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카메라·마운트·포커서·관측 workflow를</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연결한 구성도를 삽입하세요.</a:t>
            </a:r>
          </a:p>
        </p:txBody>
      </p:sp>
      <p:sp>
        <p:nvSpPr>
          <p:cNvPr id="26" name="">
            <a:extLst xmlns:a="http://schemas.openxmlformats.org/drawingml/2006/main">
              <a:ext uri="{FF2B5EF4-FFF2-40B4-BE49-F238E27FC236}">
                <a16:creationId xmlns:a16="http://schemas.microsoft.com/office/drawing/2014/main" id="{057D79EB-C3E0-452E-9E49-E988110169B4}"/>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27" name="">
            <a:extLst xmlns:a="http://schemas.openxmlformats.org/drawingml/2006/main">
              <a:ext uri="{FF2B5EF4-FFF2-40B4-BE49-F238E27FC236}">
                <a16:creationId xmlns:a16="http://schemas.microsoft.com/office/drawing/2014/main" id="{CD284D2B-E9BC-463C-88DD-28949E7D0491}"/>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천문 장비 제어 소프트웨어 구성도 또는 제품 아키텍처 이미지를 넣습니다.</a:t>
            </a:r>
          </a:p>
        </p:txBody>
      </p:sp>
      <p:sp>
        <p:nvSpPr>
          <p:cNvPr id="28" name="">
            <a:extLst xmlns:a="http://schemas.openxmlformats.org/drawingml/2006/main">
              <a:ext uri="{FF2B5EF4-FFF2-40B4-BE49-F238E27FC236}">
                <a16:creationId xmlns:a16="http://schemas.microsoft.com/office/drawing/2014/main" id="{0F6C33FA-0285-4861-A80D-FA6C43ED8733}"/>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9 / 10</a:t>
            </a:r>
          </a:p>
        </p:txBody>
      </p:sp>
    </p:spTree>
    <p:extLst>
      <p:ext uri="{BB962C8B-B14F-4D97-AF65-F5344CB8AC3E}">
        <p14:creationId xmlns:p14="http://schemas.microsoft.com/office/powerpoint/2010/main" val="1199961828"/>
      </p:ext>
    </p:extLst>
  </p:cSld>
</p:sld>
</file>

<file path=ppt/slides/slide10.xml><?xml version="1.0" encoding="utf-8"?>
<p:sld xmlns:p="http://schemas.openxmlformats.org/presentationml/2006/main">
  <p:cSld>
    <p:bg>
      <p:bgPr>
        <a:solidFill xmlns:a="http://schemas.openxmlformats.org/drawingml/2006/main">
          <a:srgbClr val="FBFB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C7DBD7-EA4B-42E6-B6AB-3529A3B5C33A}"/>
              </a:ext>
            </a:extLst>
          </p:cNvPr>
          <p:cNvSpPr>
            <a:spLocks xmlns:a="http://schemas.openxmlformats.org/drawingml/2006/main" noGrp="1"/>
          </p:cNvSpPr>
          <p:nvPr/>
        </p:nvSpPr>
        <p:spPr>
          <a:xfrm xmlns:a="http://schemas.openxmlformats.org/drawingml/2006/main">
            <a:off x="533400" y="400050"/>
            <a:ext cx="76200" cy="51435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3B70F2-3636-4826-A43D-296E69EE0303}"/>
              </a:ext>
            </a:extLst>
          </p:cNvPr>
          <p:cNvSpPr>
            <a:spLocks xmlns:a="http://schemas.openxmlformats.org/drawingml/2006/main" noGrp="1"/>
          </p:cNvSpPr>
          <p:nvPr/>
        </p:nvSpPr>
        <p:spPr>
          <a:xfrm xmlns:a="http://schemas.openxmlformats.org/drawingml/2006/main">
            <a:off x="685800" y="400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825" b="1">
                <a:solidFill>
                  <a:srgbClr val="E03C31"/>
                </a:solidFill>
                <a:latin typeface="Malgun Gothic"/>
                <a:ea typeface="Malgun Gothic"/>
                <a:cs typeface="Malgun Gothic"/>
              </a:defRPr>
            </a:pPr>
            <a:r>
              <a:rPr sz="825" b="1">
                <a:solidFill>
                  <a:srgbClr val="E03C31"/>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06231FA5-DDAF-4477-B1C8-4BED27D191DA}"/>
              </a:ext>
            </a:extLst>
          </p:cNvPr>
          <p:cNvSpPr>
            <a:spLocks xmlns:a="http://schemas.openxmlformats.org/drawingml/2006/main" noGrp="1"/>
          </p:cNvSpPr>
          <p:nvPr/>
        </p:nvSpPr>
        <p:spPr>
          <a:xfrm xmlns:a="http://schemas.openxmlformats.org/drawingml/2006/main">
            <a:off x="1104900" y="333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4000"/>
              </a:lnSpc>
              <a:buNone/>
              <a:defRPr sz="2250" b="1">
                <a:solidFill>
                  <a:srgbClr val="111827"/>
                </a:solidFill>
                <a:latin typeface="Malgun Gothic"/>
                <a:ea typeface="Malgun Gothic"/>
                <a:cs typeface="Malgun Gothic"/>
              </a:defRPr>
            </a:pPr>
            <a:r>
              <a:rPr sz="2250" b="1">
                <a:solidFill>
                  <a:srgbClr val="111827"/>
                </a:solidFill>
                <a:latin typeface="Malgun Gothic"/>
                <a:ea typeface="Malgun Gothic"/>
                <a:cs typeface="Malgun Gothic"/>
              </a:rPr>
              <a:t>Closing</a:t>
            </a:r>
          </a:p>
        </p:txBody>
      </p:sp>
      <p:sp>
        <p:nvSpPr>
          <p:cNvPr id="4" name="">
            <a:extLst xmlns:a="http://schemas.openxmlformats.org/drawingml/2006/main">
              <a:ext uri="{FF2B5EF4-FFF2-40B4-BE49-F238E27FC236}">
                <a16:creationId xmlns:a16="http://schemas.microsoft.com/office/drawing/2014/main" id="{4E37DFB4-A320-43C7-A426-9DAE21137744}"/>
              </a:ext>
            </a:extLst>
          </p:cNvPr>
          <p:cNvSpPr>
            <a:spLocks xmlns:a="http://schemas.openxmlformats.org/drawingml/2006/main" noGrp="1"/>
          </p:cNvSpPr>
          <p:nvPr/>
        </p:nvSpPr>
        <p:spPr>
          <a:xfrm xmlns:a="http://schemas.openxmlformats.org/drawingml/2006/main">
            <a:off x="1104900" y="742950"/>
            <a:ext cx="847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C++ 과학기술 SW 경험과 천문 관측 SW 확장 경험으로 기여하겠습니다.</a:t>
            </a:r>
          </a:p>
        </p:txBody>
      </p:sp>
      <p:sp>
        <p:nvSpPr>
          <p:cNvPr id="5" name="">
            <a:extLst xmlns:a="http://schemas.openxmlformats.org/drawingml/2006/main">
              <a:ext uri="{FF2B5EF4-FFF2-40B4-BE49-F238E27FC236}">
                <a16:creationId xmlns:a16="http://schemas.microsoft.com/office/drawing/2014/main" id="{6D1E559B-5441-4B92-A8AF-2EFC37129A58}"/>
              </a:ext>
            </a:extLst>
          </p:cNvPr>
          <p:cNvSpPr>
            <a:spLocks xmlns:a="http://schemas.openxmlformats.org/drawingml/2006/main" noGrp="1"/>
          </p:cNvSpPr>
          <p:nvPr/>
        </p:nvSpPr>
        <p:spPr>
          <a:xfrm xmlns:a="http://schemas.openxmlformats.org/drawingml/2006/main">
            <a:off x="685800" y="1371600"/>
            <a:ext cx="66675" cy="3124200"/>
          </a:xfrm>
          <a:prstGeom xmlns:a="http://schemas.openxmlformats.org/drawingml/2006/main" prst="rect">
            <a:avLst/>
          </a:prstGeom>
          <a:solidFill xmlns:a="http://schemas.openxmlformats.org/drawingml/2006/main">
            <a:srgbClr val="E03C3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590E76A-362F-4849-AA4F-88E955896550}"/>
              </a:ext>
            </a:extLst>
          </p:cNvPr>
          <p:cNvSpPr>
            <a:spLocks xmlns:a="http://schemas.openxmlformats.org/drawingml/2006/main" noGrp="1"/>
          </p:cNvSpPr>
          <p:nvPr/>
        </p:nvSpPr>
        <p:spPr>
          <a:xfrm xmlns:a="http://schemas.openxmlformats.org/drawingml/2006/main">
            <a:off x="971550" y="1409700"/>
            <a:ext cx="619125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28000"/>
              </a:lnSpc>
              <a:buNone/>
              <a:defRPr sz="1275" b="0">
                <a:solidFill>
                  <a:srgbClr val="111827"/>
                </a:solidFill>
                <a:latin typeface="Malgun Gothic"/>
                <a:ea typeface="Malgun Gothic"/>
                <a:cs typeface="Malgun Gothic"/>
              </a:defRPr>
            </a:pPr>
            <a:r>
              <a:rPr sz="1275" b="0">
                <a:solidFill>
                  <a:srgbClr val="111827"/>
                </a:solidFill>
                <a:latin typeface="Malgun Gothic"/>
                <a:ea typeface="Malgun Gothic"/>
                <a:cs typeface="Malgun Gothic"/>
              </a:rPr>
              <a:t>저는 C++ 기반 과학기술 소프트웨어를 오랜 기간 개발해왔고, 천문 관측을 실제 취미로 즐기며 관련 소프트웨어를 직접 확장해본 경험이 있습니다.</a:t>
            </a:r>
          </a:p>
          <a:p xmlns:a="http://schemas.openxmlformats.org/drawingml/2006/main">
            <a:r>
              <a:t/>
            </a:r>
          </a:p>
          <a:p xmlns:a="http://schemas.openxmlformats.org/drawingml/2006/main">
            <a:pPr algn="l">
              <a:lnSpc>
                <a:spcPct val="128000"/>
              </a:lnSpc>
              <a:buNone/>
              <a:defRPr sz="1275" b="0">
                <a:solidFill>
                  <a:srgbClr val="111827"/>
                </a:solidFill>
                <a:latin typeface="Malgun Gothic"/>
                <a:ea typeface="Malgun Gothic"/>
                <a:cs typeface="Malgun Gothic"/>
              </a:defRPr>
            </a:pPr>
            <a:r>
              <a:rPr sz="1275" b="0">
                <a:solidFill>
                  <a:srgbClr val="111827"/>
                </a:solidFill>
                <a:latin typeface="Malgun Gothic"/>
                <a:ea typeface="Malgun Gothic"/>
                <a:cs typeface="Malgun Gothic"/>
              </a:rPr>
              <a:t>장비 제어 분야의 모든 경험을 이미 갖춘 지원자는 아니지만, 복잡한 소프트웨어를 분석하고 안정적으로 개선해온 경험, 천문 도메인에 대한 실제 관심, 그리고 계속 직접 개발하고 학습하는 태도를 바탕으로 천문 응용 소프트웨어 개발에 기여하고 싶습니다.</a:t>
            </a:r>
          </a:p>
        </p:txBody>
      </p:sp>
      <p:sp>
        <p:nvSpPr>
          <p:cNvPr id="7" name="">
            <a:extLst xmlns:a="http://schemas.openxmlformats.org/drawingml/2006/main">
              <a:ext uri="{FF2B5EF4-FFF2-40B4-BE49-F238E27FC236}">
                <a16:creationId xmlns:a16="http://schemas.microsoft.com/office/drawing/2014/main" id="{94A3D124-F889-4944-BC42-1465106E6133}"/>
              </a:ext>
            </a:extLst>
          </p:cNvPr>
          <p:cNvSpPr>
            <a:spLocks xmlns:a="http://schemas.openxmlformats.org/drawingml/2006/main" noGrp="1"/>
          </p:cNvSpPr>
          <p:nvPr/>
        </p:nvSpPr>
        <p:spPr>
          <a:xfrm xmlns:a="http://schemas.openxmlformats.org/drawingml/2006/main">
            <a:off x="971550" y="4629150"/>
            <a:ext cx="47625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F2B7AF"/>
            </a:solidFill>
            <a:prstDash val="solid"/>
          </a:ln>
        </p:spPr>
      </p:sp>
      <p:sp>
        <p:nvSpPr>
          <p:cNvPr id="8" name="">
            <a:extLst xmlns:a="http://schemas.openxmlformats.org/drawingml/2006/main">
              <a:ext uri="{FF2B5EF4-FFF2-40B4-BE49-F238E27FC236}">
                <a16:creationId xmlns:a16="http://schemas.microsoft.com/office/drawing/2014/main" id="{B1A65370-49BC-4450-A967-043DD0444727}"/>
              </a:ext>
            </a:extLst>
          </p:cNvPr>
          <p:cNvSpPr>
            <a:spLocks xmlns:a="http://schemas.openxmlformats.org/drawingml/2006/main" noGrp="1"/>
          </p:cNvSpPr>
          <p:nvPr/>
        </p:nvSpPr>
        <p:spPr>
          <a:xfrm xmlns:a="http://schemas.openxmlformats.org/drawingml/2006/main">
            <a:off x="1123950" y="4762500"/>
            <a:ext cx="445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125" b="1">
                <a:solidFill>
                  <a:srgbClr val="E03C31"/>
                </a:solidFill>
                <a:latin typeface="Malgun Gothic"/>
                <a:ea typeface="Malgun Gothic"/>
                <a:cs typeface="Malgun Gothic"/>
              </a:defRPr>
            </a:pPr>
            <a:r>
              <a:rPr sz="1125" b="1">
                <a:solidFill>
                  <a:srgbClr val="E03C31"/>
                </a:solidFill>
                <a:latin typeface="Malgun Gothic"/>
                <a:ea typeface="Malgun Gothic"/>
                <a:cs typeface="Malgun Gothic"/>
              </a:rPr>
              <a:t>핵심 포지션</a:t>
            </a:r>
          </a:p>
        </p:txBody>
      </p:sp>
      <p:sp>
        <p:nvSpPr>
          <p:cNvPr id="9" name="">
            <a:extLst xmlns:a="http://schemas.openxmlformats.org/drawingml/2006/main">
              <a:ext uri="{FF2B5EF4-FFF2-40B4-BE49-F238E27FC236}">
                <a16:creationId xmlns:a16="http://schemas.microsoft.com/office/drawing/2014/main" id="{EC2DE4E0-B1FA-4B85-A234-EB52F1810C38}"/>
              </a:ext>
            </a:extLst>
          </p:cNvPr>
          <p:cNvSpPr>
            <a:spLocks xmlns:a="http://schemas.openxmlformats.org/drawingml/2006/main" noGrp="1"/>
          </p:cNvSpPr>
          <p:nvPr/>
        </p:nvSpPr>
        <p:spPr>
          <a:xfrm xmlns:a="http://schemas.openxmlformats.org/drawingml/2006/main">
            <a:off x="1123950" y="5067300"/>
            <a:ext cx="445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실무형 C++ 과학기술 SW 개발자</a:t>
            </a:r>
          </a:p>
          <a:p xmlns:a="http://schemas.openxmlformats.org/drawingml/2006/main">
            <a:pPr algn="l">
              <a:lnSpc>
                <a:spcPct val="118000"/>
              </a:lnSpc>
              <a:buNone/>
              <a:defRPr sz="1163" b="0">
                <a:solidFill>
                  <a:srgbClr val="4B5563"/>
                </a:solidFill>
                <a:latin typeface="Malgun Gothic"/>
                <a:ea typeface="Malgun Gothic"/>
                <a:cs typeface="Malgun Gothic"/>
              </a:defRPr>
            </a:pPr>
            <a:r>
              <a:rPr sz="1163" b="0">
                <a:solidFill>
                  <a:srgbClr val="4B5563"/>
                </a:solidFill>
                <a:latin typeface="Malgun Gothic"/>
                <a:ea typeface="Malgun Gothic"/>
                <a:cs typeface="Malgun Gothic"/>
              </a:rPr>
              <a:t>+ 천문 소프트웨어 관심/실전 경험</a:t>
            </a:r>
          </a:p>
        </p:txBody>
      </p:sp>
      <p:sp>
        <p:nvSpPr>
          <p:cNvPr id="10" name="">
            <a:extLst xmlns:a="http://schemas.openxmlformats.org/drawingml/2006/main">
              <a:ext uri="{FF2B5EF4-FFF2-40B4-BE49-F238E27FC236}">
                <a16:creationId xmlns:a16="http://schemas.microsoft.com/office/drawing/2014/main" id="{D55A199D-A317-4F53-A38B-104847C03A75}"/>
              </a:ext>
            </a:extLst>
          </p:cNvPr>
          <p:cNvSpPr>
            <a:spLocks xmlns:a="http://schemas.openxmlformats.org/drawingml/2006/main" noGrp="1"/>
          </p:cNvSpPr>
          <p:nvPr/>
        </p:nvSpPr>
        <p:spPr>
          <a:xfrm xmlns:a="http://schemas.openxmlformats.org/drawingml/2006/main">
            <a:off x="7677150" y="1447800"/>
            <a:ext cx="3829050" cy="3829050"/>
          </a:xfrm>
          <a:prstGeom xmlns:a="http://schemas.openxmlformats.org/drawingml/2006/main" prst="roundRect">
            <a:avLst>
              <a:gd name="adj" fmla="val 1990"/>
            </a:avLst>
          </a:prstGeom>
          <a:solidFill xmlns:a="http://schemas.openxmlformats.org/drawingml/2006/main">
            <a:srgbClr val="F4F5F6"/>
          </a:solidFill>
          <a:ln xmlns:a="http://schemas.openxmlformats.org/drawingml/2006/main" w="14288">
            <a:solidFill>
              <a:srgbClr val="AEB4BB"/>
            </a:solidFill>
            <a:prstDash val="dash"/>
          </a:ln>
        </p:spPr>
      </p:sp>
      <p:sp>
        <p:nvSpPr>
          <p:cNvPr id="11" name="">
            <a:extLst xmlns:a="http://schemas.openxmlformats.org/drawingml/2006/main">
              <a:ext uri="{FF2B5EF4-FFF2-40B4-BE49-F238E27FC236}">
                <a16:creationId xmlns:a16="http://schemas.microsoft.com/office/drawing/2014/main" id="{DC7D0E63-FCA3-4F22-B747-37BB1BB1EE3A}"/>
              </a:ext>
            </a:extLst>
          </p:cNvPr>
          <p:cNvSpPr>
            <a:spLocks xmlns:a="http://schemas.openxmlformats.org/drawingml/2006/main" noGrp="1"/>
          </p:cNvSpPr>
          <p:nvPr/>
        </p:nvSpPr>
        <p:spPr>
          <a:xfrm xmlns:a="http://schemas.openxmlformats.org/drawingml/2006/main">
            <a:off x="7867650" y="16764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975" b="1">
                <a:solidFill>
                  <a:srgbClr val="111827"/>
                </a:solidFill>
                <a:latin typeface="Malgun Gothic"/>
                <a:ea typeface="Malgun Gothic"/>
                <a:cs typeface="Malgun Gothic"/>
              </a:defRPr>
            </a:pPr>
            <a:r>
              <a:rPr sz="975" b="1">
                <a:solidFill>
                  <a:srgbClr val="111827"/>
                </a:solidFill>
                <a:latin typeface="Malgun Gothic"/>
                <a:ea typeface="Malgun Gothic"/>
                <a:cs typeface="Malgun Gothic"/>
              </a:rPr>
              <a:t>연락처 / GitHub / 이메일 영역</a:t>
            </a:r>
          </a:p>
        </p:txBody>
      </p:sp>
      <p:sp>
        <p:nvSpPr>
          <p:cNvPr id="12" name="">
            <a:extLst xmlns:a="http://schemas.openxmlformats.org/drawingml/2006/main">
              <a:ext uri="{FF2B5EF4-FFF2-40B4-BE49-F238E27FC236}">
                <a16:creationId xmlns:a16="http://schemas.microsoft.com/office/drawing/2014/main" id="{9246588C-05A6-4691-B05C-DC1FDAED2E4C}"/>
              </a:ext>
            </a:extLst>
          </p:cNvPr>
          <p:cNvSpPr>
            <a:spLocks xmlns:a="http://schemas.openxmlformats.org/drawingml/2006/main" noGrp="1"/>
          </p:cNvSpPr>
          <p:nvPr/>
        </p:nvSpPr>
        <p:spPr>
          <a:xfrm xmlns:a="http://schemas.openxmlformats.org/drawingml/2006/main">
            <a:off x="7962900" y="2038350"/>
            <a:ext cx="32575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이름, 휴대폰, 이메일, GitHub,</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N.I.N.A 플러그인 저장소 QR 또는 URL을</a:t>
            </a:r>
          </a:p>
          <a:p xmlns:a="http://schemas.openxmlformats.org/drawingml/2006/main">
            <a:pPr algn="ctr">
              <a:lnSpc>
                <a:spcPct val="120000"/>
              </a:lnSpc>
              <a:buNone/>
              <a:defRPr sz="900" b="0">
                <a:solidFill>
                  <a:srgbClr val="4B5563"/>
                </a:solidFill>
                <a:latin typeface="Malgun Gothic"/>
                <a:ea typeface="Malgun Gothic"/>
                <a:cs typeface="Malgun Gothic"/>
              </a:defRPr>
            </a:pPr>
            <a:r>
              <a:rPr sz="900" b="0">
                <a:solidFill>
                  <a:srgbClr val="4B5563"/>
                </a:solidFill>
                <a:latin typeface="Malgun Gothic"/>
                <a:ea typeface="Malgun Gothic"/>
                <a:cs typeface="Malgun Gothic"/>
              </a:rPr>
              <a:t>삽입하세요.</a:t>
            </a:r>
          </a:p>
        </p:txBody>
      </p:sp>
      <p:sp>
        <p:nvSpPr>
          <p:cNvPr id="13" name="">
            <a:extLst xmlns:a="http://schemas.openxmlformats.org/drawingml/2006/main">
              <a:ext uri="{FF2B5EF4-FFF2-40B4-BE49-F238E27FC236}">
                <a16:creationId xmlns:a16="http://schemas.microsoft.com/office/drawing/2014/main" id="{589011D8-DC0B-4CBC-B946-A5C13BDB7029}"/>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E2E5E8"/>
            </a:solidFill>
            <a:prstDash val="solid"/>
          </a:ln>
        </p:spPr>
      </p:sp>
      <p:sp>
        <p:nvSpPr>
          <p:cNvPr id="14" name="">
            <a:extLst xmlns:a="http://schemas.openxmlformats.org/drawingml/2006/main">
              <a:ext uri="{FF2B5EF4-FFF2-40B4-BE49-F238E27FC236}">
                <a16:creationId xmlns:a16="http://schemas.microsoft.com/office/drawing/2014/main" id="{5C177214-2AE5-4BE1-930A-C7F7C0E0FA5C}"/>
              </a:ext>
            </a:extLst>
          </p:cNvPr>
          <p:cNvSpPr>
            <a:spLocks xmlns:a="http://schemas.openxmlformats.org/drawingml/2006/main" noGrp="1"/>
          </p:cNvSpPr>
          <p:nvPr/>
        </p:nvSpPr>
        <p:spPr>
          <a:xfrm xmlns:a="http://schemas.openxmlformats.org/drawingml/2006/main">
            <a:off x="571500" y="6429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이미지 삽입 가이드: 오른쪽에는 연락처, GitHub, 이메일, QR 코드 또는 개인 프로필 정보를 넣습니다.</a:t>
            </a:r>
          </a:p>
        </p:txBody>
      </p:sp>
      <p:sp>
        <p:nvSpPr>
          <p:cNvPr id="15" name="">
            <a:extLst xmlns:a="http://schemas.openxmlformats.org/drawingml/2006/main">
              <a:ext uri="{FF2B5EF4-FFF2-40B4-BE49-F238E27FC236}">
                <a16:creationId xmlns:a16="http://schemas.microsoft.com/office/drawing/2014/main" id="{B9BA127E-6AFE-40CB-8237-7990DD78377B}"/>
              </a:ext>
            </a:extLst>
          </p:cNvPr>
          <p:cNvSpPr>
            <a:spLocks xmlns:a="http://schemas.openxmlformats.org/drawingml/2006/main" noGrp="1"/>
          </p:cNvSpPr>
          <p:nvPr/>
        </p:nvSpPr>
        <p:spPr>
          <a:xfrm xmlns:a="http://schemas.openxmlformats.org/drawingml/2006/main">
            <a:off x="11049000" y="6429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713" b="0">
                <a:solidFill>
                  <a:srgbClr val="6B7280"/>
                </a:solidFill>
                <a:latin typeface="Malgun Gothic"/>
                <a:ea typeface="Malgun Gothic"/>
                <a:cs typeface="Malgun Gothic"/>
              </a:defRPr>
            </a:pPr>
            <a:r>
              <a:rPr sz="713" b="0">
                <a:solidFill>
                  <a:srgbClr val="6B7280"/>
                </a:solidFill>
                <a:latin typeface="Malgun Gothic"/>
                <a:ea typeface="Malgun Gothic"/>
                <a:cs typeface="Malgun Gothic"/>
              </a:rPr>
              <a:t>10 / 10</a:t>
            </a:r>
          </a:p>
        </p:txBody>
      </p:sp>
    </p:spTree>
    <p:extLst>
      <p:ext uri="{BB962C8B-B14F-4D97-AF65-F5344CB8AC3E}">
        <p14:creationId xmlns:p14="http://schemas.microsoft.com/office/powerpoint/2010/main" val="1633927279"/>
      </p:ext>
    </p:extLst>
  </p:cSld>
</p:sld>
</file>

<file path=ppt/theme/theme1.xml><?xml version="1.0" encoding="utf-8"?>
<a:theme xmlns:a="http://schemas.openxmlformats.org/drawingml/2006/main" name="ChatGPT">
  <a:themeElements>
    <a:clrScheme name="Rainbow Robotics Portfolio">
      <a:dk1>
        <a:srgbClr val="000000"/>
      </a:dk1>
      <a:lt1>
        <a:srgbClr val="FFFFFF"/>
      </a:lt1>
      <a:dk2>
        <a:srgbClr val="1F2328"/>
      </a:dk2>
      <a:lt2>
        <a:srgbClr val="E5E7EB"/>
      </a:lt2>
      <a:accent1>
        <a:srgbClr val="E03C31"/>
      </a:accent1>
      <a:accent2>
        <a:srgbClr val="2A6F97"/>
      </a:accent2>
      <a:accent3>
        <a:srgbClr val="C8C9C7"/>
      </a:accent3>
      <a:accent4>
        <a:srgbClr val="111111"/>
      </a:accent4>
      <a:accent5>
        <a:srgbClr val="58606A"/>
      </a:accent5>
      <a:accent6>
        <a:srgbClr val="7A8A99"/>
      </a:accent6>
      <a:hlink>
        <a:srgbClr val="2A6F97"/>
      </a:hlink>
      <a:folHlink>
        <a:srgbClr val="7A3E9D"/>
      </a:folHlink>
    </a:clrScheme>
    <a:fontScheme name="Office">
      <a:majorFont>
        <a:latin typeface="Calibri Light"/>
        <a:ea typeface="Calibri Light"/>
        <a:cs typeface="Calibri Light"/>
      </a:majorFont>
      <a:minorFont>
        <a:latin typeface="Calibri"/>
        <a:ea typeface="Calibri"/>
        <a:cs typeface="Calibri"/>
      </a:minorFont>
    </a:fontScheme>
    <a:fmtScheme name="Rainbow Robotics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2026-06-22T01:44:48.8270000Z</dcterms:created>
  <dcterms:modified xsi:type="dcterms:W3CDTF">2026-06-22T01:44:48.8270000Z</dcterms:modified>
</coreProperties>
</file>