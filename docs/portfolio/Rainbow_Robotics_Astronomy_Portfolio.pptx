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72cb3c99a0c74de8" /><Relationship Type="http://schemas.openxmlformats.org/officeDocument/2006/relationships/extended-properties" Target="/docProps/app.xml" Id="Reab3b17fc1a24ece" /><Relationship Type="http://schemas.openxmlformats.org/officeDocument/2006/relationships/officeDocument" Target="/ppt/presentation.xml" Id="Rf105d9610ebb4ae5" /></Relationships>
</file>

<file path=ppt/presentation.xml><?xml version="1.0" encoding="utf-8"?>
<p:presentation xmlns:p="http://schemas.openxmlformats.org/presentationml/2006/main">
  <p:sldMasterIdLst>
    <p:sldMasterId xmlns:r="http://schemas.openxmlformats.org/officeDocument/2006/relationships" id="2147483648" r:id="Rd3c25d581e2b4bdc"/>
  </p:sldMasterIdLst>
  <p:notesMasterIdLst>
    <p:notesMasterId xmlns:r="http://schemas.openxmlformats.org/officeDocument/2006/relationships" r:id="R2fc101d1d1314529"/>
  </p:notesMasterIdLst>
  <p:sldIdLst>
    <p:sldId xmlns:r="http://schemas.openxmlformats.org/officeDocument/2006/relationships" id="256" r:id="Rf9edcfd5e3164e75"/>
    <p:sldId xmlns:r="http://schemas.openxmlformats.org/officeDocument/2006/relationships" id="257" r:id="R9ab0895190094f97"/>
    <p:sldId xmlns:r="http://schemas.openxmlformats.org/officeDocument/2006/relationships" id="258" r:id="Rd4bd46b8c6e945d1"/>
    <p:sldId xmlns:r="http://schemas.openxmlformats.org/officeDocument/2006/relationships" id="259" r:id="R6b989dfa77984161"/>
    <p:sldId xmlns:r="http://schemas.openxmlformats.org/officeDocument/2006/relationships" id="260" r:id="R74f5b708a2b14e38"/>
    <p:sldId xmlns:r="http://schemas.openxmlformats.org/officeDocument/2006/relationships" id="261" r:id="R79485b8d94434c6d"/>
    <p:sldId xmlns:r="http://schemas.openxmlformats.org/officeDocument/2006/relationships" id="262" r:id="R95898e18ee384690"/>
    <p:sldId xmlns:r="http://schemas.openxmlformats.org/officeDocument/2006/relationships" id="263" r:id="Rb0440599816c4bf1"/>
    <p:sldId xmlns:r="http://schemas.openxmlformats.org/officeDocument/2006/relationships" id="264" r:id="R7152aae71f274219"/>
    <p:sldId xmlns:r="http://schemas.openxmlformats.org/officeDocument/2006/relationships" id="265" r:id="Rdb1eae650a9148bf"/>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1c31dac673e477e" /><Relationship Type="http://schemas.openxmlformats.org/officeDocument/2006/relationships/slideMaster" Target="/ppt/slideMasters/slideMaster1.xml" Id="Rd3c25d581e2b4bdc" /><Relationship Type="http://schemas.openxmlformats.org/officeDocument/2006/relationships/notesMaster" Target="/ppt/notesMasters/notesMaster1.xml" Id="R2fc101d1d1314529" /><Relationship Type="http://schemas.openxmlformats.org/officeDocument/2006/relationships/presProps" Target="/ppt/presProps.xml" Id="Rcea69092d66d4372" /><Relationship Type="http://schemas.openxmlformats.org/officeDocument/2006/relationships/tableStyles" Target="/ppt/tableStyles.xml" Id="Rf6181d18939f4bfa" /><Relationship Type="http://schemas.openxmlformats.org/officeDocument/2006/relationships/slide" Target="/ppt/slides/slide1.xml" Id="Rf9edcfd5e3164e75" /><Relationship Type="http://schemas.openxmlformats.org/officeDocument/2006/relationships/slide" Target="/ppt/slides/slide2.xml" Id="R9ab0895190094f97" /><Relationship Type="http://schemas.openxmlformats.org/officeDocument/2006/relationships/slide" Target="/ppt/slides/slide3.xml" Id="Rd4bd46b8c6e945d1" /><Relationship Type="http://schemas.openxmlformats.org/officeDocument/2006/relationships/slide" Target="/ppt/slides/slide4.xml" Id="R6b989dfa77984161" /><Relationship Type="http://schemas.openxmlformats.org/officeDocument/2006/relationships/slide" Target="/ppt/slides/slide5.xml" Id="R74f5b708a2b14e38" /><Relationship Type="http://schemas.openxmlformats.org/officeDocument/2006/relationships/slide" Target="/ppt/slides/slide6.xml" Id="R79485b8d94434c6d" /><Relationship Type="http://schemas.openxmlformats.org/officeDocument/2006/relationships/slide" Target="/ppt/slides/slide7.xml" Id="R95898e18ee384690" /><Relationship Type="http://schemas.openxmlformats.org/officeDocument/2006/relationships/slide" Target="/ppt/slides/slide8.xml" Id="Rb0440599816c4bf1" /><Relationship Type="http://schemas.openxmlformats.org/officeDocument/2006/relationships/slide" Target="/ppt/slides/slide9.xml" Id="R7152aae71f274219" /><Relationship Type="http://schemas.openxmlformats.org/officeDocument/2006/relationships/slide" Target="/ppt/slides/slide10.xml" Id="Rdb1eae650a9148b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f83c0fdf27a4f9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Rainbow Robotics Portfolio">
      <a:dk1>
        <a:srgbClr val="000000"/>
      </a:dk1>
      <a:lt1>
        <a:srgbClr val="FFFFFF"/>
      </a:lt1>
      <a:dk2>
        <a:srgbClr val="1F2328"/>
      </a:dk2>
      <a:lt2>
        <a:srgbClr val="E5E7EB"/>
      </a:lt2>
      <a:accent1>
        <a:srgbClr val="E03C31"/>
      </a:accent1>
      <a:accent2>
        <a:srgbClr val="2A6F97"/>
      </a:accent2>
      <a:accent3>
        <a:srgbClr val="C8C9C7"/>
      </a:accent3>
      <a:accent4>
        <a:srgbClr val="111111"/>
      </a:accent4>
      <a:accent5>
        <a:srgbClr val="58606A"/>
      </a:accent5>
      <a:accent6>
        <a:srgbClr val="7A8A99"/>
      </a:accent6>
      <a:hlink>
        <a:srgbClr val="2A6F97"/>
      </a:hlink>
      <a:folHlink>
        <a:srgbClr val="7A3E9D"/>
      </a:folHlink>
    </a:clrScheme>
    <a:fontScheme name="Office">
      <a:majorFont>
        <a:latin typeface="Calibri Light"/>
        <a:ea typeface="Calibri Light"/>
        <a:cs typeface="Calibri Light"/>
      </a:majorFont>
      <a:minorFont>
        <a:latin typeface="Calibri"/>
        <a:ea typeface="Calibri"/>
        <a:cs typeface="Calibri"/>
      </a:minorFont>
    </a:fontScheme>
    <a:fmtScheme name="Rainbow Robotics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e6692382ab146a9" /><Relationship Type="http://schemas.openxmlformats.org/officeDocument/2006/relationships/notesMaster" Target="/ppt/notesMasters/notesMaster1.xml" Id="R3c38f019af474c97" /></Relationships>
</file>

<file path=ppt/notesSlides/_rels/notesSlide2.xml.rels>&#65279;<?xml version="1.0" encoding="utf-8"?><Relationships xmlns="http://schemas.openxmlformats.org/package/2006/relationships"><Relationship Type="http://schemas.openxmlformats.org/officeDocument/2006/relationships/slide" Target="/ppt/slides/slide2.xml" Id="R264dac0a25fa491e" /><Relationship Type="http://schemas.openxmlformats.org/officeDocument/2006/relationships/notesMaster" Target="/ppt/notesMasters/notesMaster1.xml" Id="Rd059cffb46a241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df97d8f837241c3" /><Relationship Type="http://schemas.openxmlformats.org/officeDocument/2006/relationships/notesMaster" Target="/ppt/notesMasters/notesMaster1.xml" Id="Raaea030d1284413b" /></Relationships>
</file>

<file path=ppt/notesSlides/_rels/notesSlide4.xml.rels>&#65279;<?xml version="1.0" encoding="utf-8"?><Relationships xmlns="http://schemas.openxmlformats.org/package/2006/relationships"><Relationship Type="http://schemas.openxmlformats.org/officeDocument/2006/relationships/slide" Target="/ppt/slides/slide4.xml" Id="Rc1c48a965c334045" /><Relationship Type="http://schemas.openxmlformats.org/officeDocument/2006/relationships/notesMaster" Target="/ppt/notesMasters/notesMaster1.xml" Id="R0ba4783d55384f1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1d2f016496a43d7" /><Relationship Type="http://schemas.openxmlformats.org/officeDocument/2006/relationships/notesMaster" Target="/ppt/notesMasters/notesMaster1.xml" Id="R0cd5fefd06e2493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e52b0111ce4079" /><Relationship Type="http://schemas.openxmlformats.org/officeDocument/2006/relationships/notesMaster" Target="/ppt/notesMasters/notesMaster1.xml" Id="R9ef36388fdb64dd6" /></Relationships>
</file>

<file path=ppt/notesSlides/_rels/notesSlide7.xml.rels>&#65279;<?xml version="1.0" encoding="utf-8"?><Relationships xmlns="http://schemas.openxmlformats.org/package/2006/relationships"><Relationship Type="http://schemas.openxmlformats.org/officeDocument/2006/relationships/slide" Target="/ppt/slides/slide7.xml" Id="R08d04dcd8bba4c5d" /><Relationship Type="http://schemas.openxmlformats.org/officeDocument/2006/relationships/notesMaster" Target="/ppt/notesMasters/notesMaster1.xml" Id="Rc41177c358c54181" /></Relationships>
</file>

<file path=ppt/notesSlides/_rels/notesSlide8.xml.rels>&#65279;<?xml version="1.0" encoding="utf-8"?><Relationships xmlns="http://schemas.openxmlformats.org/package/2006/relationships"><Relationship Type="http://schemas.openxmlformats.org/officeDocument/2006/relationships/slide" Target="/ppt/slides/slide8.xml" Id="Rf087e3ea7894450b" /><Relationship Type="http://schemas.openxmlformats.org/officeDocument/2006/relationships/notesMaster" Target="/ppt/notesMasters/notesMaster1.xml" Id="R4f587381c67c47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b4c3e7681da44e7" /><Relationship Type="http://schemas.openxmlformats.org/officeDocument/2006/relationships/notesMaster" Target="/ppt/notesMasters/notesMaster1.xml" Id="R76873388cc6d40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585477d3fdc44bd" /><Relationship Type="http://schemas.openxmlformats.org/officeDocument/2006/relationships/notesMaster" Target="/ppt/notesMasters/notesMaster1.xml" Id="Rc603c4056f5244f0"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012e2618bf846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3dad159a2946aa" /><Relationship Type="http://schemas.openxmlformats.org/officeDocument/2006/relationships/slideLayout" Target="/ppt/slideLayouts/slideLayout1.xml" Id="Rc49c0e2a87554c2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49c0e2a87554c2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Rainbow Robotics Portfolio">
      <a:dk1>
        <a:srgbClr val="000000"/>
      </a:dk1>
      <a:lt1>
        <a:srgbClr val="FFFFFF"/>
      </a:lt1>
      <a:dk2>
        <a:srgbClr val="1F2328"/>
      </a:dk2>
      <a:lt2>
        <a:srgbClr val="E5E7EB"/>
      </a:lt2>
      <a:accent1>
        <a:srgbClr val="E03C31"/>
      </a:accent1>
      <a:accent2>
        <a:srgbClr val="2A6F97"/>
      </a:accent2>
      <a:accent3>
        <a:srgbClr val="C8C9C7"/>
      </a:accent3>
      <a:accent4>
        <a:srgbClr val="111111"/>
      </a:accent4>
      <a:accent5>
        <a:srgbClr val="58606A"/>
      </a:accent5>
      <a:accent6>
        <a:srgbClr val="7A8A99"/>
      </a:accent6>
      <a:hlink>
        <a:srgbClr val="2A6F97"/>
      </a:hlink>
      <a:folHlink>
        <a:srgbClr val="7A3E9D"/>
      </a:folHlink>
    </a:clrScheme>
    <a:fontScheme name="Office">
      <a:majorFont>
        <a:latin typeface="Calibri Light"/>
        <a:ea typeface="Calibri Light"/>
        <a:cs typeface="Calibri Light"/>
      </a:majorFont>
      <a:minorFont>
        <a:latin typeface="Calibri"/>
        <a:ea typeface="Calibri"/>
        <a:cs typeface="Calibri"/>
      </a:minorFont>
    </a:fontScheme>
    <a:fmtScheme name="Rainbow Robotics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f448eb2e1384ab4" /><Relationship Type="http://schemas.openxmlformats.org/officeDocument/2006/relationships/notesSlide" Target="/ppt/notesSlides/notesSlide1.xml" Id="R414712dc4eec488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9b540ddde6b4883" /><Relationship Type="http://schemas.openxmlformats.org/officeDocument/2006/relationships/notesSlide" Target="/ppt/notesSlides/notesSlide2.xml" Id="R2a287d254ba4406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1cbb4c5adc64c30" /><Relationship Type="http://schemas.openxmlformats.org/officeDocument/2006/relationships/notesSlide" Target="/ppt/notesSlides/notesSlide3.xml" Id="R1425d386e6b74a3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c3ff325cadb42b0" /><Relationship Type="http://schemas.openxmlformats.org/officeDocument/2006/relationships/notesSlide" Target="/ppt/notesSlides/notesSlide4.xml" Id="R9c36e449644143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5c1a19a18b741ff" /><Relationship Type="http://schemas.openxmlformats.org/officeDocument/2006/relationships/notesSlide" Target="/ppt/notesSlides/notesSlide5.xml" Id="R57bb111d0f5c443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9dce47defaa4976" /><Relationship Type="http://schemas.openxmlformats.org/officeDocument/2006/relationships/notesSlide" Target="/ppt/notesSlides/notesSlide6.xml" Id="Rde81d556270d448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61f401966bb412d" /><Relationship Type="http://schemas.openxmlformats.org/officeDocument/2006/relationships/notesSlide" Target="/ppt/notesSlides/notesSlide7.xml" Id="Rff7bc374377d489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5b760cdeb6542a7" /><Relationship Type="http://schemas.openxmlformats.org/officeDocument/2006/relationships/notesSlide" Target="/ppt/notesSlides/notesSlide8.xml" Id="R1ba998ce92114e6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6e9bbbe710945b2" /><Relationship Type="http://schemas.openxmlformats.org/officeDocument/2006/relationships/notesSlide" Target="/ppt/notesSlides/notesSlide9.xml" Id="R148df224f251494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b86d4d6c9374dd2" /><Relationship Type="http://schemas.openxmlformats.org/officeDocument/2006/relationships/notesSlide" Target="/ppt/notesSlides/notesSlide10.xml" Id="R387193dd810a4f0f" /></Relationships>
</file>

<file path=ppt/slides/slide1.xml><?xml version="1.0" encoding="utf-8"?>
<p:sld xmlns:p="http://schemas.openxmlformats.org/presentationml/2006/main">
  <p:cSld>
    <p:bg>
      <p:bgPr>
        <a:solidFill xmlns:a="http://schemas.openxmlformats.org/drawingml/2006/main">
          <a:srgbClr val="111111"/>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B3F0332-61A0-4D0B-A550-EA5272A022E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1111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238395B-1839-4071-8792-9F4B19000CA2}"/>
              </a:ext>
            </a:extLst>
          </p:cNvPr>
          <p:cNvSpPr>
            <a:spLocks xmlns:a="http://schemas.openxmlformats.org/drawingml/2006/main" noGrp="1"/>
          </p:cNvSpPr>
          <p:nvPr/>
        </p:nvSpPr>
        <p:spPr>
          <a:xfrm xmlns:a="http://schemas.openxmlformats.org/drawingml/2006/main">
            <a:off x="0" y="0"/>
            <a:ext cx="152400" cy="685800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96DAB68-FA7A-43A9-A7CF-A23BDB80F3A0}"/>
              </a:ext>
            </a:extLst>
          </p:cNvPr>
          <p:cNvSpPr>
            <a:spLocks xmlns:a="http://schemas.openxmlformats.org/drawingml/2006/main" noGrp="1"/>
          </p:cNvSpPr>
          <p:nvPr/>
        </p:nvSpPr>
        <p:spPr>
          <a:xfrm xmlns:a="http://schemas.openxmlformats.org/drawingml/2006/main">
            <a:off x="6448425" y="1047750"/>
            <a:ext cx="26670" cy="2667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DCDD6E1-041D-4C51-AF5F-AA18238439D4}"/>
              </a:ext>
            </a:extLst>
          </p:cNvPr>
          <p:cNvSpPr>
            <a:spLocks xmlns:a="http://schemas.openxmlformats.org/drawingml/2006/main" noGrp="1"/>
          </p:cNvSpPr>
          <p:nvPr/>
        </p:nvSpPr>
        <p:spPr>
          <a:xfrm xmlns:a="http://schemas.openxmlformats.org/drawingml/2006/main">
            <a:off x="7315200" y="14954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788542F-578B-4AC9-ADF3-0D9D14CC0950}"/>
              </a:ext>
            </a:extLst>
          </p:cNvPr>
          <p:cNvSpPr>
            <a:spLocks xmlns:a="http://schemas.openxmlformats.org/drawingml/2006/main" noGrp="1"/>
          </p:cNvSpPr>
          <p:nvPr/>
        </p:nvSpPr>
        <p:spPr>
          <a:xfrm xmlns:a="http://schemas.openxmlformats.org/drawingml/2006/main">
            <a:off x="8181975" y="19431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5AB3F52-77B2-4704-87A1-6589E2460FAF}"/>
              </a:ext>
            </a:extLst>
          </p:cNvPr>
          <p:cNvSpPr>
            <a:spLocks xmlns:a="http://schemas.openxmlformats.org/drawingml/2006/main" noGrp="1"/>
          </p:cNvSpPr>
          <p:nvPr/>
        </p:nvSpPr>
        <p:spPr>
          <a:xfrm xmlns:a="http://schemas.openxmlformats.org/drawingml/2006/main">
            <a:off x="9048750" y="239077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2D06E4FA-CA9D-4AF7-8C97-DA6161FAAA7B}"/>
              </a:ext>
            </a:extLst>
          </p:cNvPr>
          <p:cNvSpPr>
            <a:spLocks xmlns:a="http://schemas.openxmlformats.org/drawingml/2006/main" noGrp="1"/>
          </p:cNvSpPr>
          <p:nvPr/>
        </p:nvSpPr>
        <p:spPr>
          <a:xfrm xmlns:a="http://schemas.openxmlformats.org/drawingml/2006/main">
            <a:off x="9915525" y="28384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86043D63-D26C-4178-8014-A4CC1E0335F4}"/>
              </a:ext>
            </a:extLst>
          </p:cNvPr>
          <p:cNvSpPr>
            <a:spLocks xmlns:a="http://schemas.openxmlformats.org/drawingml/2006/main" noGrp="1"/>
          </p:cNvSpPr>
          <p:nvPr/>
        </p:nvSpPr>
        <p:spPr>
          <a:xfrm xmlns:a="http://schemas.openxmlformats.org/drawingml/2006/main">
            <a:off x="10782300" y="3286125"/>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B1189-EDBA-42B6-81E7-E4F055E64A07}"/>
              </a:ext>
            </a:extLst>
          </p:cNvPr>
          <p:cNvSpPr>
            <a:spLocks xmlns:a="http://schemas.openxmlformats.org/drawingml/2006/main" noGrp="1"/>
          </p:cNvSpPr>
          <p:nvPr/>
        </p:nvSpPr>
        <p:spPr>
          <a:xfrm xmlns:a="http://schemas.openxmlformats.org/drawingml/2006/main">
            <a:off x="6524625" y="3733800"/>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77EE0712-FA06-42FC-9285-5204474349C1}"/>
              </a:ext>
            </a:extLst>
          </p:cNvPr>
          <p:cNvSpPr>
            <a:spLocks xmlns:a="http://schemas.openxmlformats.org/drawingml/2006/main" noGrp="1"/>
          </p:cNvSpPr>
          <p:nvPr/>
        </p:nvSpPr>
        <p:spPr>
          <a:xfrm xmlns:a="http://schemas.openxmlformats.org/drawingml/2006/main">
            <a:off x="7391400" y="41814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23C37664-0078-48ED-886D-8B8FB4564E60}"/>
              </a:ext>
            </a:extLst>
          </p:cNvPr>
          <p:cNvSpPr>
            <a:spLocks xmlns:a="http://schemas.openxmlformats.org/drawingml/2006/main" noGrp="1"/>
          </p:cNvSpPr>
          <p:nvPr/>
        </p:nvSpPr>
        <p:spPr>
          <a:xfrm xmlns:a="http://schemas.openxmlformats.org/drawingml/2006/main">
            <a:off x="8258175" y="46291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C4BA9258-E956-4235-8CB4-DD0CF1DDC4DD}"/>
              </a:ext>
            </a:extLst>
          </p:cNvPr>
          <p:cNvSpPr>
            <a:spLocks xmlns:a="http://schemas.openxmlformats.org/drawingml/2006/main" noGrp="1"/>
          </p:cNvSpPr>
          <p:nvPr/>
        </p:nvSpPr>
        <p:spPr>
          <a:xfrm xmlns:a="http://schemas.openxmlformats.org/drawingml/2006/main">
            <a:off x="9124950" y="507682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A84AF88B-CC55-48E4-A55C-5FDC17DF6B80}"/>
              </a:ext>
            </a:extLst>
          </p:cNvPr>
          <p:cNvSpPr>
            <a:spLocks xmlns:a="http://schemas.openxmlformats.org/drawingml/2006/main" noGrp="1"/>
          </p:cNvSpPr>
          <p:nvPr/>
        </p:nvSpPr>
        <p:spPr>
          <a:xfrm xmlns:a="http://schemas.openxmlformats.org/drawingml/2006/main">
            <a:off x="9991725" y="762000"/>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859EB881-8819-490E-A943-EB42C20A0321}"/>
              </a:ext>
            </a:extLst>
          </p:cNvPr>
          <p:cNvSpPr>
            <a:spLocks xmlns:a="http://schemas.openxmlformats.org/drawingml/2006/main" noGrp="1"/>
          </p:cNvSpPr>
          <p:nvPr/>
        </p:nvSpPr>
        <p:spPr>
          <a:xfrm xmlns:a="http://schemas.openxmlformats.org/drawingml/2006/main">
            <a:off x="10858500" y="12096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A7975D71-7933-47F4-AC50-8D9714A6194C}"/>
              </a:ext>
            </a:extLst>
          </p:cNvPr>
          <p:cNvSpPr>
            <a:spLocks xmlns:a="http://schemas.openxmlformats.org/drawingml/2006/main" noGrp="1"/>
          </p:cNvSpPr>
          <p:nvPr/>
        </p:nvSpPr>
        <p:spPr>
          <a:xfrm xmlns:a="http://schemas.openxmlformats.org/drawingml/2006/main">
            <a:off x="6600825" y="1657350"/>
            <a:ext cx="19050" cy="1905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D8FB0FC-96C4-4F60-AE57-0DB8351869AA}"/>
              </a:ext>
            </a:extLst>
          </p:cNvPr>
          <p:cNvSpPr>
            <a:spLocks xmlns:a="http://schemas.openxmlformats.org/drawingml/2006/main" noGrp="1"/>
          </p:cNvSpPr>
          <p:nvPr/>
        </p:nvSpPr>
        <p:spPr>
          <a:xfrm xmlns:a="http://schemas.openxmlformats.org/drawingml/2006/main">
            <a:off x="7467600" y="21050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343F02C1-B1D8-4053-BFB1-5051106CAEC6}"/>
              </a:ext>
            </a:extLst>
          </p:cNvPr>
          <p:cNvSpPr>
            <a:spLocks xmlns:a="http://schemas.openxmlformats.org/drawingml/2006/main" noGrp="1"/>
          </p:cNvSpPr>
          <p:nvPr/>
        </p:nvSpPr>
        <p:spPr>
          <a:xfrm xmlns:a="http://schemas.openxmlformats.org/drawingml/2006/main">
            <a:off x="8334375" y="25527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46D839EA-D12E-46C0-89B4-AC15A45F225B}"/>
              </a:ext>
            </a:extLst>
          </p:cNvPr>
          <p:cNvSpPr>
            <a:spLocks xmlns:a="http://schemas.openxmlformats.org/drawingml/2006/main" noGrp="1"/>
          </p:cNvSpPr>
          <p:nvPr/>
        </p:nvSpPr>
        <p:spPr>
          <a:xfrm xmlns:a="http://schemas.openxmlformats.org/drawingml/2006/main">
            <a:off x="9201150" y="3000375"/>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3C2EEFC7-7A92-446B-95F5-89C0C2E819F8}"/>
              </a:ext>
            </a:extLst>
          </p:cNvPr>
          <p:cNvSpPr>
            <a:spLocks xmlns:a="http://schemas.openxmlformats.org/drawingml/2006/main" noGrp="1"/>
          </p:cNvSpPr>
          <p:nvPr/>
        </p:nvSpPr>
        <p:spPr>
          <a:xfrm xmlns:a="http://schemas.openxmlformats.org/drawingml/2006/main">
            <a:off x="10067925" y="34480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D671E3E4-AB78-4CC1-973D-B7320E95DAC7}"/>
              </a:ext>
            </a:extLst>
          </p:cNvPr>
          <p:cNvSpPr>
            <a:spLocks xmlns:a="http://schemas.openxmlformats.org/drawingml/2006/main" noGrp="1"/>
          </p:cNvSpPr>
          <p:nvPr/>
        </p:nvSpPr>
        <p:spPr>
          <a:xfrm xmlns:a="http://schemas.openxmlformats.org/drawingml/2006/main">
            <a:off x="10934700" y="38957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DCD343B8-A2E5-4379-A517-91C9B69B49F2}"/>
              </a:ext>
            </a:extLst>
          </p:cNvPr>
          <p:cNvSpPr>
            <a:spLocks xmlns:a="http://schemas.openxmlformats.org/drawingml/2006/main" noGrp="1"/>
          </p:cNvSpPr>
          <p:nvPr/>
        </p:nvSpPr>
        <p:spPr>
          <a:xfrm xmlns:a="http://schemas.openxmlformats.org/drawingml/2006/main">
            <a:off x="6677025" y="4343400"/>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EB52B5C5-6947-4CA7-9F7F-EBE7E0F2D473}"/>
              </a:ext>
            </a:extLst>
          </p:cNvPr>
          <p:cNvSpPr>
            <a:spLocks xmlns:a="http://schemas.openxmlformats.org/drawingml/2006/main" noGrp="1"/>
          </p:cNvSpPr>
          <p:nvPr/>
        </p:nvSpPr>
        <p:spPr>
          <a:xfrm xmlns:a="http://schemas.openxmlformats.org/drawingml/2006/main">
            <a:off x="7543800" y="47910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E96B48A8-A93F-4790-8B1D-C3A675E84B96}"/>
              </a:ext>
            </a:extLst>
          </p:cNvPr>
          <p:cNvSpPr>
            <a:spLocks xmlns:a="http://schemas.openxmlformats.org/drawingml/2006/main" noGrp="1"/>
          </p:cNvSpPr>
          <p:nvPr/>
        </p:nvSpPr>
        <p:spPr>
          <a:xfrm xmlns:a="http://schemas.openxmlformats.org/drawingml/2006/main">
            <a:off x="8410575" y="5238750"/>
            <a:ext cx="26670" cy="2667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B85FE305-5E95-44CD-9463-C1B0B40F8547}"/>
              </a:ext>
            </a:extLst>
          </p:cNvPr>
          <p:cNvSpPr>
            <a:spLocks xmlns:a="http://schemas.openxmlformats.org/drawingml/2006/main" noGrp="1"/>
          </p:cNvSpPr>
          <p:nvPr/>
        </p:nvSpPr>
        <p:spPr>
          <a:xfrm xmlns:a="http://schemas.openxmlformats.org/drawingml/2006/main">
            <a:off x="9277350" y="92392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9B3248C6-411F-4263-BF10-E80ACB1E0097}"/>
              </a:ext>
            </a:extLst>
          </p:cNvPr>
          <p:cNvSpPr>
            <a:spLocks xmlns:a="http://schemas.openxmlformats.org/drawingml/2006/main" noGrp="1"/>
          </p:cNvSpPr>
          <p:nvPr/>
        </p:nvSpPr>
        <p:spPr>
          <a:xfrm xmlns:a="http://schemas.openxmlformats.org/drawingml/2006/main">
            <a:off x="10144125" y="13716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A5A5DBDD-FBC4-4B47-9430-D47A14A42CE9}"/>
              </a:ext>
            </a:extLst>
          </p:cNvPr>
          <p:cNvSpPr>
            <a:spLocks xmlns:a="http://schemas.openxmlformats.org/drawingml/2006/main" noGrp="1"/>
          </p:cNvSpPr>
          <p:nvPr/>
        </p:nvSpPr>
        <p:spPr>
          <a:xfrm xmlns:a="http://schemas.openxmlformats.org/drawingml/2006/main">
            <a:off x="11010900" y="18192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203657A8-9884-4964-8274-BDFAA12170FF}"/>
              </a:ext>
            </a:extLst>
          </p:cNvPr>
          <p:cNvSpPr>
            <a:spLocks xmlns:a="http://schemas.openxmlformats.org/drawingml/2006/main" noGrp="1"/>
          </p:cNvSpPr>
          <p:nvPr/>
        </p:nvSpPr>
        <p:spPr>
          <a:xfrm xmlns:a="http://schemas.openxmlformats.org/drawingml/2006/main">
            <a:off x="6753225" y="2266950"/>
            <a:ext cx="19050" cy="1905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B6E3E0CD-5F52-449E-A1FA-908797C188E6}"/>
              </a:ext>
            </a:extLst>
          </p:cNvPr>
          <p:cNvSpPr>
            <a:spLocks xmlns:a="http://schemas.openxmlformats.org/drawingml/2006/main" noGrp="1"/>
          </p:cNvSpPr>
          <p:nvPr/>
        </p:nvSpPr>
        <p:spPr>
          <a:xfrm xmlns:a="http://schemas.openxmlformats.org/drawingml/2006/main">
            <a:off x="7620000" y="2714625"/>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B5494D9-0C0C-48A0-A802-11B881AF46D8}"/>
              </a:ext>
            </a:extLst>
          </p:cNvPr>
          <p:cNvSpPr>
            <a:spLocks xmlns:a="http://schemas.openxmlformats.org/drawingml/2006/main" noGrp="1"/>
          </p:cNvSpPr>
          <p:nvPr/>
        </p:nvSpPr>
        <p:spPr>
          <a:xfrm xmlns:a="http://schemas.openxmlformats.org/drawingml/2006/main">
            <a:off x="8486775" y="31623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1BFC5EC3-B9FB-433E-AC00-BAB33C5DB5A1}"/>
              </a:ext>
            </a:extLst>
          </p:cNvPr>
          <p:cNvSpPr>
            <a:spLocks xmlns:a="http://schemas.openxmlformats.org/drawingml/2006/main" noGrp="1"/>
          </p:cNvSpPr>
          <p:nvPr/>
        </p:nvSpPr>
        <p:spPr>
          <a:xfrm xmlns:a="http://schemas.openxmlformats.org/drawingml/2006/main">
            <a:off x="9353550" y="360997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FB7D30EF-B713-438C-BA8B-02DC9CD5B198}"/>
              </a:ext>
            </a:extLst>
          </p:cNvPr>
          <p:cNvSpPr>
            <a:spLocks xmlns:a="http://schemas.openxmlformats.org/drawingml/2006/main" noGrp="1"/>
          </p:cNvSpPr>
          <p:nvPr/>
        </p:nvSpPr>
        <p:spPr>
          <a:xfrm xmlns:a="http://schemas.openxmlformats.org/drawingml/2006/main">
            <a:off x="10220325" y="40576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65DB3FAE-A026-423D-94DA-7CE079E8E9A0}"/>
              </a:ext>
            </a:extLst>
          </p:cNvPr>
          <p:cNvSpPr>
            <a:spLocks xmlns:a="http://schemas.openxmlformats.org/drawingml/2006/main" noGrp="1"/>
          </p:cNvSpPr>
          <p:nvPr/>
        </p:nvSpPr>
        <p:spPr>
          <a:xfrm xmlns:a="http://schemas.openxmlformats.org/drawingml/2006/main">
            <a:off x="11087100" y="45053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EFDFB0F5-8936-40EB-9B0D-BF3F9BB98DC2}"/>
              </a:ext>
            </a:extLst>
          </p:cNvPr>
          <p:cNvSpPr>
            <a:spLocks xmlns:a="http://schemas.openxmlformats.org/drawingml/2006/main" noGrp="1"/>
          </p:cNvSpPr>
          <p:nvPr/>
        </p:nvSpPr>
        <p:spPr>
          <a:xfrm xmlns:a="http://schemas.openxmlformats.org/drawingml/2006/main">
            <a:off x="6829425" y="4953000"/>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34" name="">
            <a:extLst xmlns:a="http://schemas.openxmlformats.org/drawingml/2006/main">
              <a:ext uri="{FF2B5EF4-FFF2-40B4-BE49-F238E27FC236}">
                <a16:creationId xmlns:a16="http://schemas.microsoft.com/office/drawing/2014/main" id="{3B54B83D-F411-4C72-BCB5-4769BAF9818D}"/>
              </a:ext>
            </a:extLst>
          </p:cNvPr>
          <p:cNvSpPr>
            <a:spLocks xmlns:a="http://schemas.openxmlformats.org/drawingml/2006/main" noGrp="1"/>
          </p:cNvSpPr>
          <p:nvPr/>
        </p:nvSpPr>
        <p:spPr>
          <a:xfrm xmlns:a="http://schemas.openxmlformats.org/drawingml/2006/main">
            <a:off x="7696200" y="54006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FBA050DD-4988-425F-8DB3-5CEDC9865E39}"/>
              </a:ext>
            </a:extLst>
          </p:cNvPr>
          <p:cNvSpPr>
            <a:spLocks xmlns:a="http://schemas.openxmlformats.org/drawingml/2006/main" noGrp="1"/>
          </p:cNvSpPr>
          <p:nvPr/>
        </p:nvSpPr>
        <p:spPr>
          <a:xfrm xmlns:a="http://schemas.openxmlformats.org/drawingml/2006/main">
            <a:off x="8562975" y="10858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19EBC7B9-C37D-43E9-A9E3-2DA4D60696F8}"/>
              </a:ext>
            </a:extLst>
          </p:cNvPr>
          <p:cNvSpPr>
            <a:spLocks xmlns:a="http://schemas.openxmlformats.org/drawingml/2006/main" noGrp="1"/>
          </p:cNvSpPr>
          <p:nvPr/>
        </p:nvSpPr>
        <p:spPr>
          <a:xfrm xmlns:a="http://schemas.openxmlformats.org/drawingml/2006/main">
            <a:off x="9429750" y="153352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FC2A9BE8-BE00-4EE2-AA69-73DC838C8DD8}"/>
              </a:ext>
            </a:extLst>
          </p:cNvPr>
          <p:cNvSpPr>
            <a:spLocks xmlns:a="http://schemas.openxmlformats.org/drawingml/2006/main" noGrp="1"/>
          </p:cNvSpPr>
          <p:nvPr/>
        </p:nvSpPr>
        <p:spPr>
          <a:xfrm xmlns:a="http://schemas.openxmlformats.org/drawingml/2006/main">
            <a:off x="666750" y="5143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900" b="1">
                <a:solidFill>
                  <a:srgbClr val="C8C9C7"/>
                </a:solidFill>
                <a:latin typeface="Pretendard"/>
                <a:ea typeface="Pretendard"/>
                <a:cs typeface="Pretendard"/>
              </a:defRPr>
            </a:pPr>
            <a:r>
              <a:rPr sz="900" b="1">
                <a:solidFill>
                  <a:srgbClr val="C8C9C7"/>
                </a:solidFill>
                <a:latin typeface="Pretendard"/>
                <a:ea typeface="Pretendard"/>
                <a:cs typeface="Pretendard"/>
              </a:rPr>
              <a:t>Rainbow Robotics | Portfolio</a:t>
            </a:r>
          </a:p>
        </p:txBody>
      </p:sp>
      <p:sp>
        <p:nvSpPr>
          <p:cNvPr id="38" name="">
            <a:extLst xmlns:a="http://schemas.openxmlformats.org/drawingml/2006/main">
              <a:ext uri="{FF2B5EF4-FFF2-40B4-BE49-F238E27FC236}">
                <a16:creationId xmlns:a16="http://schemas.microsoft.com/office/drawing/2014/main" id="{5D9362CF-8FD3-4ACF-BC78-D7B5D35C5052}"/>
              </a:ext>
            </a:extLst>
          </p:cNvPr>
          <p:cNvSpPr>
            <a:spLocks xmlns:a="http://schemas.openxmlformats.org/drawingml/2006/main" noGrp="1"/>
          </p:cNvSpPr>
          <p:nvPr/>
        </p:nvSpPr>
        <p:spPr>
          <a:xfrm xmlns:a="http://schemas.openxmlformats.org/drawingml/2006/main">
            <a:off x="666750" y="1219200"/>
            <a:ext cx="547687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0000"/>
              </a:lnSpc>
              <a:buNone/>
              <a:defRPr sz="3750" b="1">
                <a:solidFill>
                  <a:srgbClr val="FFFFFF"/>
                </a:solidFill>
                <a:latin typeface="Pretendard"/>
                <a:ea typeface="Pretendard"/>
                <a:cs typeface="Pretendard"/>
              </a:defRPr>
            </a:pPr>
            <a:r>
              <a:rPr sz="3750" b="1">
                <a:solidFill>
                  <a:srgbClr val="FFFFFF"/>
                </a:solidFill>
                <a:latin typeface="Pretendard"/>
                <a:ea typeface="Pretendard"/>
                <a:cs typeface="Pretendard"/>
              </a:rPr>
              <a:t>Astronomy Application</a:t>
            </a:r>
          </a:p>
          <a:p xmlns:a="http://schemas.openxmlformats.org/drawingml/2006/main">
            <a:pPr algn="l">
              <a:lnSpc>
                <a:spcPct val="90000"/>
              </a:lnSpc>
              <a:buNone/>
              <a:defRPr sz="3750" b="1">
                <a:solidFill>
                  <a:srgbClr val="FFFFFF"/>
                </a:solidFill>
                <a:latin typeface="Pretendard"/>
                <a:ea typeface="Pretendard"/>
                <a:cs typeface="Pretendard"/>
              </a:defRPr>
            </a:pPr>
            <a:r>
              <a:rPr sz="3750" b="1">
                <a:solidFill>
                  <a:srgbClr val="FFFFFF"/>
                </a:solidFill>
                <a:latin typeface="Pretendard"/>
                <a:ea typeface="Pretendard"/>
                <a:cs typeface="Pretendard"/>
              </a:rPr>
              <a:t>Software Developer</a:t>
            </a:r>
          </a:p>
          <a:p xmlns:a="http://schemas.openxmlformats.org/drawingml/2006/main">
            <a:pPr algn="l">
              <a:lnSpc>
                <a:spcPct val="90000"/>
              </a:lnSpc>
              <a:buNone/>
              <a:defRPr sz="3750" b="1">
                <a:solidFill>
                  <a:srgbClr val="FFFFFF"/>
                </a:solidFill>
                <a:latin typeface="Pretendard"/>
                <a:ea typeface="Pretendard"/>
                <a:cs typeface="Pretendard"/>
              </a:defRPr>
            </a:pPr>
            <a:r>
              <a:rPr sz="3750" b="1">
                <a:solidFill>
                  <a:srgbClr val="FFFFFF"/>
                </a:solidFill>
                <a:latin typeface="Pretendard"/>
                <a:ea typeface="Pretendard"/>
                <a:cs typeface="Pretendard"/>
              </a:rPr>
              <a:t>Portfolio</a:t>
            </a:r>
          </a:p>
        </p:txBody>
      </p:sp>
      <p:sp>
        <p:nvSpPr>
          <p:cNvPr id="39" name="">
            <a:extLst xmlns:a="http://schemas.openxmlformats.org/drawingml/2006/main">
              <a:ext uri="{FF2B5EF4-FFF2-40B4-BE49-F238E27FC236}">
                <a16:creationId xmlns:a16="http://schemas.microsoft.com/office/drawing/2014/main" id="{067114EA-8E47-4990-9CAA-58299E35199C}"/>
              </a:ext>
            </a:extLst>
          </p:cNvPr>
          <p:cNvSpPr>
            <a:spLocks xmlns:a="http://schemas.openxmlformats.org/drawingml/2006/main" noGrp="1"/>
          </p:cNvSpPr>
          <p:nvPr/>
        </p:nvSpPr>
        <p:spPr>
          <a:xfrm xmlns:a="http://schemas.openxmlformats.org/drawingml/2006/main">
            <a:off x="685800" y="3181350"/>
            <a:ext cx="5334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500" b="1">
                <a:solidFill>
                  <a:srgbClr val="F4F5F6"/>
                </a:solidFill>
                <a:latin typeface="Pretendard"/>
                <a:ea typeface="Pretendard"/>
                <a:cs typeface="Pretendard"/>
              </a:defRPr>
            </a:pPr>
            <a:r>
              <a:rPr sz="1500" b="1">
                <a:solidFill>
                  <a:srgbClr val="F4F5F6"/>
                </a:solidFill>
                <a:latin typeface="Pretendard"/>
                <a:ea typeface="Pretendard"/>
                <a:cs typeface="Pretendard"/>
              </a:rPr>
              <a:t>C++ 기반 과학기술 소프트웨어 개발 경험과</a:t>
            </a:r>
          </a:p>
          <a:p xmlns:a="http://schemas.openxmlformats.org/drawingml/2006/main">
            <a:pPr algn="l">
              <a:lnSpc>
                <a:spcPct val="112000"/>
              </a:lnSpc>
              <a:buNone/>
              <a:defRPr sz="1500" b="1">
                <a:solidFill>
                  <a:srgbClr val="F4F5F6"/>
                </a:solidFill>
                <a:latin typeface="Pretendard"/>
                <a:ea typeface="Pretendard"/>
                <a:cs typeface="Pretendard"/>
              </a:defRPr>
            </a:pPr>
            <a:r>
              <a:rPr sz="1500" b="1">
                <a:solidFill>
                  <a:srgbClr val="F4F5F6"/>
                </a:solidFill>
                <a:latin typeface="Pretendard"/>
                <a:ea typeface="Pretendard"/>
                <a:cs typeface="Pretendard"/>
              </a:rPr>
              <a:t>N.I.N.A 플러그인 개발 경험</a:t>
            </a:r>
          </a:p>
        </p:txBody>
      </p:sp>
      <p:sp>
        <p:nvSpPr>
          <p:cNvPr id="40" name="">
            <a:extLst xmlns:a="http://schemas.openxmlformats.org/drawingml/2006/main">
              <a:ext uri="{FF2B5EF4-FFF2-40B4-BE49-F238E27FC236}">
                <a16:creationId xmlns:a16="http://schemas.microsoft.com/office/drawing/2014/main" id="{CFFF4E23-7256-4EA5-B2EC-E85F1B1F1699}"/>
              </a:ext>
            </a:extLst>
          </p:cNvPr>
          <p:cNvSpPr>
            <a:spLocks xmlns:a="http://schemas.openxmlformats.org/drawingml/2006/main" noGrp="1"/>
          </p:cNvSpPr>
          <p:nvPr/>
        </p:nvSpPr>
        <p:spPr>
          <a:xfrm xmlns:a="http://schemas.openxmlformats.org/drawingml/2006/main">
            <a:off x="685800" y="4286250"/>
            <a:ext cx="5381625"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2000"/>
              </a:lnSpc>
              <a:buNone/>
              <a:defRPr sz="1275" b="0">
                <a:solidFill>
                  <a:srgbClr val="D4D8DC"/>
                </a:solidFill>
                <a:latin typeface="Pretendard"/>
                <a:ea typeface="Pretendard"/>
                <a:cs typeface="Pretendard"/>
              </a:defRPr>
            </a:pPr>
            <a:r>
              <a:rPr sz="1275" b="0">
                <a:solidFill>
                  <a:srgbClr val="D4D8DC"/>
                </a:solidFill>
                <a:latin typeface="Pretendard"/>
                <a:ea typeface="Pretendard"/>
                <a:cs typeface="Pretendard"/>
              </a:rPr>
              <a:t>“C++ 기반 과학기술 소프트웨어를 오래 개발해왔고,</a:t>
            </a:r>
          </a:p>
          <a:p xmlns:a="http://schemas.openxmlformats.org/drawingml/2006/main">
            <a:pPr algn="l">
              <a:lnSpc>
                <a:spcPct val="122000"/>
              </a:lnSpc>
              <a:buNone/>
              <a:defRPr sz="1275" b="0">
                <a:solidFill>
                  <a:srgbClr val="D4D8DC"/>
                </a:solidFill>
                <a:latin typeface="Pretendard"/>
                <a:ea typeface="Pretendard"/>
                <a:cs typeface="Pretendard"/>
              </a:defRPr>
            </a:pPr>
            <a:r>
              <a:rPr sz="1275" b="0">
                <a:solidFill>
                  <a:srgbClr val="D4D8DC"/>
                </a:solidFill>
                <a:latin typeface="Pretendard"/>
                <a:ea typeface="Pretendard"/>
                <a:cs typeface="Pretendard"/>
              </a:rPr>
              <a:t>천문 관측 소프트웨어를 직접 사용하고 확장해본 개발자입니다.”</a:t>
            </a:r>
          </a:p>
        </p:txBody>
      </p:sp>
      <p:sp>
        <p:nvSpPr>
          <p:cNvPr id="41" name="">
            <a:extLst xmlns:a="http://schemas.openxmlformats.org/drawingml/2006/main">
              <a:ext uri="{FF2B5EF4-FFF2-40B4-BE49-F238E27FC236}">
                <a16:creationId xmlns:a16="http://schemas.microsoft.com/office/drawing/2014/main" id="{CF8A095B-C08A-4135-BAE7-63A065C0496C}"/>
              </a:ext>
            </a:extLst>
          </p:cNvPr>
          <p:cNvSpPr>
            <a:spLocks xmlns:a="http://schemas.openxmlformats.org/drawingml/2006/main" noGrp="1"/>
          </p:cNvSpPr>
          <p:nvPr/>
        </p:nvSpPr>
        <p:spPr>
          <a:xfrm xmlns:a="http://schemas.openxmlformats.org/drawingml/2006/main">
            <a:off x="6572250" y="914400"/>
            <a:ext cx="4762500" cy="4629150"/>
          </a:xfrm>
          <a:prstGeom xmlns:a="http://schemas.openxmlformats.org/drawingml/2006/main" prst="roundRect">
            <a:avLst>
              <a:gd name="adj" fmla="val 1646"/>
            </a:avLst>
          </a:prstGeom>
          <a:solidFill xmlns:a="http://schemas.openxmlformats.org/drawingml/2006/main">
            <a:srgbClr val="2B3036"/>
          </a:solidFill>
          <a:ln xmlns:a="http://schemas.openxmlformats.org/drawingml/2006/main" w="14288">
            <a:solidFill>
              <a:srgbClr val="858B92"/>
            </a:solidFill>
            <a:prstDash val="dash"/>
          </a:ln>
        </p:spPr>
      </p:sp>
      <p:sp>
        <p:nvSpPr>
          <p:cNvPr id="42" name="">
            <a:extLst xmlns:a="http://schemas.openxmlformats.org/drawingml/2006/main">
              <a:ext uri="{FF2B5EF4-FFF2-40B4-BE49-F238E27FC236}">
                <a16:creationId xmlns:a16="http://schemas.microsoft.com/office/drawing/2014/main" id="{2ABDC80A-C61A-4286-B3D7-075C2E95C75D}"/>
              </a:ext>
            </a:extLst>
          </p:cNvPr>
          <p:cNvSpPr>
            <a:spLocks xmlns:a="http://schemas.openxmlformats.org/drawingml/2006/main" noGrp="1"/>
          </p:cNvSpPr>
          <p:nvPr/>
        </p:nvSpPr>
        <p:spPr>
          <a:xfrm xmlns:a="http://schemas.openxmlformats.org/drawingml/2006/main">
            <a:off x="6762750" y="1143000"/>
            <a:ext cx="4381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F2F4F5"/>
                </a:solidFill>
                <a:latin typeface="Pretendard"/>
                <a:ea typeface="Pretendard"/>
                <a:cs typeface="Pretendard"/>
              </a:defRPr>
            </a:pPr>
            <a:r>
              <a:rPr sz="975" b="1">
                <a:solidFill>
                  <a:srgbClr val="F2F4F5"/>
                </a:solidFill>
                <a:latin typeface="Pretendard"/>
                <a:ea typeface="Pretendard"/>
                <a:cs typeface="Pretendard"/>
              </a:rPr>
              <a:t>IMAGE PLACEHOLDER</a:t>
            </a:r>
          </a:p>
        </p:txBody>
      </p:sp>
      <p:sp>
        <p:nvSpPr>
          <p:cNvPr id="43" name="">
            <a:extLst xmlns:a="http://schemas.openxmlformats.org/drawingml/2006/main">
              <a:ext uri="{FF2B5EF4-FFF2-40B4-BE49-F238E27FC236}">
                <a16:creationId xmlns:a16="http://schemas.microsoft.com/office/drawing/2014/main" id="{2ADDDA21-1278-4226-9EED-4D64B5B87CA8}"/>
              </a:ext>
            </a:extLst>
          </p:cNvPr>
          <p:cNvSpPr>
            <a:spLocks xmlns:a="http://schemas.openxmlformats.org/drawingml/2006/main" noGrp="1"/>
          </p:cNvSpPr>
          <p:nvPr/>
        </p:nvSpPr>
        <p:spPr>
          <a:xfrm xmlns:a="http://schemas.openxmlformats.org/drawingml/2006/main">
            <a:off x="6858000" y="1504950"/>
            <a:ext cx="4191000" cy="3752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별하늘 / 천문 장비 / 관측 소프트웨어 느낌의</a:t>
            </a:r>
          </a:p>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배경 이미지를 삽입하세요.</a:t>
            </a:r>
          </a:p>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어둡고 차분한 톤 권장</a:t>
            </a:r>
          </a:p>
        </p:txBody>
      </p:sp>
      <p:sp>
        <p:nvSpPr>
          <p:cNvPr id="44" name="">
            <a:extLst xmlns:a="http://schemas.openxmlformats.org/drawingml/2006/main">
              <a:ext uri="{FF2B5EF4-FFF2-40B4-BE49-F238E27FC236}">
                <a16:creationId xmlns:a16="http://schemas.microsoft.com/office/drawing/2014/main" id="{35C651AB-CC53-4E86-BC2E-92408405C9D3}"/>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3A4148"/>
            </a:solidFill>
            <a:prstDash val="solid"/>
          </a:ln>
        </p:spPr>
      </p:sp>
      <p:sp>
        <p:nvSpPr>
          <p:cNvPr id="45" name="">
            <a:extLst xmlns:a="http://schemas.openxmlformats.org/drawingml/2006/main">
              <a:ext uri="{FF2B5EF4-FFF2-40B4-BE49-F238E27FC236}">
                <a16:creationId xmlns:a16="http://schemas.microsoft.com/office/drawing/2014/main" id="{B78800BC-73AE-41B0-8EFF-A9D517CE1A6A}"/>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AEB7C0"/>
                </a:solidFill>
                <a:latin typeface="Pretendard"/>
                <a:ea typeface="Pretendard"/>
                <a:cs typeface="Pretendard"/>
              </a:defRPr>
            </a:pPr>
            <a:r>
              <a:rPr sz="713" b="0">
                <a:solidFill>
                  <a:srgbClr val="AEB7C0"/>
                </a:solidFill>
                <a:latin typeface="Pretendard"/>
                <a:ea typeface="Pretendard"/>
                <a:cs typeface="Pretendard"/>
              </a:rPr>
              <a:t>이미지 삽입 가이드: 표지 배경으로 별하늘, 천문 마운트, 관측 SW 화면이 함께 느껴지는 이미지를 넣습니다.</a:t>
            </a:r>
          </a:p>
        </p:txBody>
      </p:sp>
      <p:sp>
        <p:nvSpPr>
          <p:cNvPr id="46" name="">
            <a:extLst xmlns:a="http://schemas.openxmlformats.org/drawingml/2006/main">
              <a:ext uri="{FF2B5EF4-FFF2-40B4-BE49-F238E27FC236}">
                <a16:creationId xmlns:a16="http://schemas.microsoft.com/office/drawing/2014/main" id="{631F94BF-BCD3-46DE-BF15-71C46EA7661D}"/>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AEB7C0"/>
                </a:solidFill>
                <a:latin typeface="Pretendard"/>
                <a:ea typeface="Pretendard"/>
                <a:cs typeface="Pretendard"/>
              </a:defRPr>
            </a:pPr>
            <a:r>
              <a:rPr sz="713" b="0">
                <a:solidFill>
                  <a:srgbClr val="AEB7C0"/>
                </a:solidFill>
                <a:latin typeface="Pretendard"/>
                <a:ea typeface="Pretendard"/>
                <a:cs typeface="Pretendard"/>
              </a:rPr>
              <a:t>1 / 10</a:t>
            </a:r>
          </a:p>
        </p:txBody>
      </p:sp>
    </p:spTree>
    <p:extLst>
      <p:ext uri="{BB962C8B-B14F-4D97-AF65-F5344CB8AC3E}">
        <p14:creationId xmlns:p14="http://schemas.microsoft.com/office/powerpoint/2010/main" val="732945691"/>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AEB962B-A978-4016-984A-F539A7A1CB50}"/>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677FC34-87E3-4C8A-9E2B-CFC52FFE4A1B}"/>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02</a:t>
            </a:r>
          </a:p>
        </p:txBody>
      </p:sp>
      <p:sp>
        <p:nvSpPr>
          <p:cNvPr id="3" name="">
            <a:extLst xmlns:a="http://schemas.openxmlformats.org/drawingml/2006/main">
              <a:ext uri="{FF2B5EF4-FFF2-40B4-BE49-F238E27FC236}">
                <a16:creationId xmlns:a16="http://schemas.microsoft.com/office/drawing/2014/main" id="{6206A52A-90C3-4B4A-8C37-E5080E3CE795}"/>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지원 직무와 나의 접점</a:t>
            </a:r>
          </a:p>
        </p:txBody>
      </p:sp>
      <p:sp>
        <p:nvSpPr>
          <p:cNvPr id="4" name="">
            <a:extLst xmlns:a="http://schemas.openxmlformats.org/drawingml/2006/main">
              <a:ext uri="{FF2B5EF4-FFF2-40B4-BE49-F238E27FC236}">
                <a16:creationId xmlns:a16="http://schemas.microsoft.com/office/drawing/2014/main" id="{950C62CB-4AA6-4B97-B6B5-18E8E54ABB17}"/>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C++·유지보수·외부 라이브러리 경험은 즉시 기여 영역이고, 통신·장비 제어는 보완 계획을 갖춘 영역입니다.</a:t>
            </a:r>
          </a:p>
        </p:txBody>
      </p:sp>
      <p:sp>
        <p:nvSpPr>
          <p:cNvPr id="5" name="">
            <a:extLst xmlns:a="http://schemas.openxmlformats.org/drawingml/2006/main">
              <a:ext uri="{FF2B5EF4-FFF2-40B4-BE49-F238E27FC236}">
                <a16:creationId xmlns:a16="http://schemas.microsoft.com/office/drawing/2014/main" id="{EADF4EB1-779F-495A-80DB-652B6B97776A}"/>
              </a:ext>
            </a:extLst>
          </p:cNvPr>
          <p:cNvSpPr>
            <a:spLocks xmlns:a="http://schemas.openxmlformats.org/drawingml/2006/main" noGrp="1"/>
          </p:cNvSpPr>
          <p:nvPr/>
        </p:nvSpPr>
        <p:spPr>
          <a:xfrm xmlns:a="http://schemas.openxmlformats.org/drawingml/2006/main">
            <a:off x="685800" y="1428750"/>
            <a:ext cx="1952625" cy="552450"/>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907" b="1">
                <a:solidFill>
                  <a:srgbClr val="FFFFFF"/>
                </a:solidFill>
                <a:latin typeface="Pretendard"/>
                <a:ea typeface="Pretendard"/>
                <a:cs typeface="Pretendard"/>
              </a:defRPr>
            </a:pPr>
            <a:r>
              <a:rPr sz="907" b="1">
                <a:solidFill>
                  <a:srgbClr val="FFFFFF"/>
                </a:solidFill>
                <a:latin typeface="Pretendard"/>
                <a:ea typeface="Pretendard"/>
                <a:cs typeface="Pretendard"/>
              </a:rPr>
              <a:t>요구 역량</a:t>
            </a:r>
          </a:p>
        </p:txBody>
      </p:sp>
      <p:sp>
        <p:nvSpPr>
          <p:cNvPr id="6" name="">
            <a:extLst xmlns:a="http://schemas.openxmlformats.org/drawingml/2006/main">
              <a:ext uri="{FF2B5EF4-FFF2-40B4-BE49-F238E27FC236}">
                <a16:creationId xmlns:a16="http://schemas.microsoft.com/office/drawing/2014/main" id="{2B552288-8696-4A96-8F00-7EFE448C7E8F}"/>
              </a:ext>
            </a:extLst>
          </p:cNvPr>
          <p:cNvSpPr>
            <a:spLocks xmlns:a="http://schemas.openxmlformats.org/drawingml/2006/main" noGrp="1"/>
          </p:cNvSpPr>
          <p:nvPr/>
        </p:nvSpPr>
        <p:spPr>
          <a:xfrm xmlns:a="http://schemas.openxmlformats.org/drawingml/2006/main">
            <a:off x="2638425" y="1428750"/>
            <a:ext cx="4667250" cy="552450"/>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907" b="1">
                <a:solidFill>
                  <a:srgbClr val="FFFFFF"/>
                </a:solidFill>
                <a:latin typeface="Pretendard"/>
                <a:ea typeface="Pretendard"/>
                <a:cs typeface="Pretendard"/>
              </a:defRPr>
            </a:pPr>
            <a:r>
              <a:rPr sz="907" b="1">
                <a:solidFill>
                  <a:srgbClr val="FFFFFF"/>
                </a:solidFill>
                <a:latin typeface="Pretendard"/>
                <a:ea typeface="Pretendard"/>
                <a:cs typeface="Pretendard"/>
              </a:rPr>
              <a:t>보유 경험</a:t>
            </a:r>
          </a:p>
        </p:txBody>
      </p:sp>
      <p:sp>
        <p:nvSpPr>
          <p:cNvPr id="7" name="">
            <a:extLst xmlns:a="http://schemas.openxmlformats.org/drawingml/2006/main">
              <a:ext uri="{FF2B5EF4-FFF2-40B4-BE49-F238E27FC236}">
                <a16:creationId xmlns:a16="http://schemas.microsoft.com/office/drawing/2014/main" id="{1EF9B2AB-1234-4096-8B19-13279E24E09F}"/>
              </a:ext>
            </a:extLst>
          </p:cNvPr>
          <p:cNvSpPr>
            <a:spLocks xmlns:a="http://schemas.openxmlformats.org/drawingml/2006/main" noGrp="1"/>
          </p:cNvSpPr>
          <p:nvPr/>
        </p:nvSpPr>
        <p:spPr>
          <a:xfrm xmlns:a="http://schemas.openxmlformats.org/drawingml/2006/main">
            <a:off x="7305675" y="1428750"/>
            <a:ext cx="809625" cy="552450"/>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907" b="1">
                <a:solidFill>
                  <a:srgbClr val="FFFFFF"/>
                </a:solidFill>
                <a:latin typeface="Pretendard"/>
                <a:ea typeface="Pretendard"/>
                <a:cs typeface="Pretendard"/>
              </a:defRPr>
            </a:pPr>
            <a:r>
              <a:rPr sz="907" b="1">
                <a:solidFill>
                  <a:srgbClr val="FFFFFF"/>
                </a:solidFill>
                <a:latin typeface="Pretendard"/>
                <a:ea typeface="Pretendard"/>
                <a:cs typeface="Pretendard"/>
              </a:rPr>
              <a:t>판단</a:t>
            </a:r>
          </a:p>
        </p:txBody>
      </p:sp>
      <p:sp>
        <p:nvSpPr>
          <p:cNvPr id="8" name="">
            <a:extLst xmlns:a="http://schemas.openxmlformats.org/drawingml/2006/main">
              <a:ext uri="{FF2B5EF4-FFF2-40B4-BE49-F238E27FC236}">
                <a16:creationId xmlns:a16="http://schemas.microsoft.com/office/drawing/2014/main" id="{0B14839F-89AC-430C-B779-74A24E6DA227}"/>
              </a:ext>
            </a:extLst>
          </p:cNvPr>
          <p:cNvSpPr>
            <a:spLocks xmlns:a="http://schemas.openxmlformats.org/drawingml/2006/main" noGrp="1"/>
          </p:cNvSpPr>
          <p:nvPr/>
        </p:nvSpPr>
        <p:spPr>
          <a:xfrm xmlns:a="http://schemas.openxmlformats.org/drawingml/2006/main">
            <a:off x="685800" y="1981200"/>
            <a:ext cx="1952625"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1">
                <a:solidFill>
                  <a:srgbClr val="1F2328"/>
                </a:solidFill>
                <a:latin typeface="Pretendard"/>
                <a:ea typeface="Pretendard"/>
                <a:cs typeface="Pretendard"/>
              </a:defRPr>
            </a:pPr>
            <a:r>
              <a:rPr sz="878" b="1">
                <a:solidFill>
                  <a:srgbClr val="1F2328"/>
                </a:solidFill>
                <a:latin typeface="Pretendard"/>
                <a:ea typeface="Pretendard"/>
                <a:cs typeface="Pretendard"/>
              </a:rPr>
              <a:t>C/C++ 프로그래밍</a:t>
            </a:r>
          </a:p>
        </p:txBody>
      </p:sp>
      <p:sp>
        <p:nvSpPr>
          <p:cNvPr id="9" name="">
            <a:extLst xmlns:a="http://schemas.openxmlformats.org/drawingml/2006/main">
              <a:ext uri="{FF2B5EF4-FFF2-40B4-BE49-F238E27FC236}">
                <a16:creationId xmlns:a16="http://schemas.microsoft.com/office/drawing/2014/main" id="{6C5481D6-9A8E-4C70-B1C4-312377D214CF}"/>
              </a:ext>
            </a:extLst>
          </p:cNvPr>
          <p:cNvSpPr>
            <a:spLocks xmlns:a="http://schemas.openxmlformats.org/drawingml/2006/main" noGrp="1"/>
          </p:cNvSpPr>
          <p:nvPr/>
        </p:nvSpPr>
        <p:spPr>
          <a:xfrm xmlns:a="http://schemas.openxmlformats.org/drawingml/2006/main">
            <a:off x="2638425" y="1981200"/>
            <a:ext cx="46672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20년 이상 C/C++ 기반 엔지니어링 SW 개발</a:t>
            </a:r>
          </a:p>
        </p:txBody>
      </p:sp>
      <p:sp>
        <p:nvSpPr>
          <p:cNvPr id="10" name="">
            <a:extLst xmlns:a="http://schemas.openxmlformats.org/drawingml/2006/main">
              <a:ext uri="{FF2B5EF4-FFF2-40B4-BE49-F238E27FC236}">
                <a16:creationId xmlns:a16="http://schemas.microsoft.com/office/drawing/2014/main" id="{F4E2EDAC-A688-4FC9-BC9B-E4FC8CBA16DE}"/>
              </a:ext>
            </a:extLst>
          </p:cNvPr>
          <p:cNvSpPr>
            <a:spLocks xmlns:a="http://schemas.openxmlformats.org/drawingml/2006/main" noGrp="1"/>
          </p:cNvSpPr>
          <p:nvPr/>
        </p:nvSpPr>
        <p:spPr>
          <a:xfrm xmlns:a="http://schemas.openxmlformats.org/drawingml/2006/main">
            <a:off x="7305675" y="1981200"/>
            <a:ext cx="809625"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강점</a:t>
            </a:r>
          </a:p>
        </p:txBody>
      </p:sp>
      <p:sp>
        <p:nvSpPr>
          <p:cNvPr id="11" name="">
            <a:extLst xmlns:a="http://schemas.openxmlformats.org/drawingml/2006/main">
              <a:ext uri="{FF2B5EF4-FFF2-40B4-BE49-F238E27FC236}">
                <a16:creationId xmlns:a16="http://schemas.microsoft.com/office/drawing/2014/main" id="{69D50449-8B4E-4A4C-8830-6D8161D59A4D}"/>
              </a:ext>
            </a:extLst>
          </p:cNvPr>
          <p:cNvSpPr>
            <a:spLocks xmlns:a="http://schemas.openxmlformats.org/drawingml/2006/main" noGrp="1"/>
          </p:cNvSpPr>
          <p:nvPr/>
        </p:nvSpPr>
        <p:spPr>
          <a:xfrm xmlns:a="http://schemas.openxmlformats.org/drawingml/2006/main">
            <a:off x="685800" y="2533650"/>
            <a:ext cx="1952625"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1">
                <a:solidFill>
                  <a:srgbClr val="1F2328"/>
                </a:solidFill>
                <a:latin typeface="Pretendard"/>
                <a:ea typeface="Pretendard"/>
                <a:cs typeface="Pretendard"/>
              </a:defRPr>
            </a:pPr>
            <a:r>
              <a:rPr sz="878" b="1">
                <a:solidFill>
                  <a:srgbClr val="1F2328"/>
                </a:solidFill>
                <a:latin typeface="Pretendard"/>
                <a:ea typeface="Pretendard"/>
                <a:cs typeface="Pretendard"/>
              </a:rPr>
              <a:t>천문 장비 관련 SW 유지보수</a:t>
            </a:r>
          </a:p>
        </p:txBody>
      </p:sp>
      <p:sp>
        <p:nvSpPr>
          <p:cNvPr id="12" name="">
            <a:extLst xmlns:a="http://schemas.openxmlformats.org/drawingml/2006/main">
              <a:ext uri="{FF2B5EF4-FFF2-40B4-BE49-F238E27FC236}">
                <a16:creationId xmlns:a16="http://schemas.microsoft.com/office/drawing/2014/main" id="{1D077A48-E590-4A8F-B052-075D75E5D104}"/>
              </a:ext>
            </a:extLst>
          </p:cNvPr>
          <p:cNvSpPr>
            <a:spLocks xmlns:a="http://schemas.openxmlformats.org/drawingml/2006/main" noGrp="1"/>
          </p:cNvSpPr>
          <p:nvPr/>
        </p:nvSpPr>
        <p:spPr>
          <a:xfrm xmlns:a="http://schemas.openxmlformats.org/drawingml/2006/main">
            <a:off x="2638425" y="2533650"/>
            <a:ext cx="4667250"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N.I.N.A 플러그인 개발 및 오픈소스 구조 확장 경험</a:t>
            </a:r>
          </a:p>
        </p:txBody>
      </p:sp>
      <p:sp>
        <p:nvSpPr>
          <p:cNvPr id="13" name="">
            <a:extLst xmlns:a="http://schemas.openxmlformats.org/drawingml/2006/main">
              <a:ext uri="{FF2B5EF4-FFF2-40B4-BE49-F238E27FC236}">
                <a16:creationId xmlns:a16="http://schemas.microsoft.com/office/drawing/2014/main" id="{F7B51B24-57FF-423E-A920-C612BFC73606}"/>
              </a:ext>
            </a:extLst>
          </p:cNvPr>
          <p:cNvSpPr>
            <a:spLocks xmlns:a="http://schemas.openxmlformats.org/drawingml/2006/main" noGrp="1"/>
          </p:cNvSpPr>
          <p:nvPr/>
        </p:nvSpPr>
        <p:spPr>
          <a:xfrm xmlns:a="http://schemas.openxmlformats.org/drawingml/2006/main">
            <a:off x="7305675" y="2533650"/>
            <a:ext cx="809625"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차별점</a:t>
            </a:r>
          </a:p>
        </p:txBody>
      </p:sp>
      <p:sp>
        <p:nvSpPr>
          <p:cNvPr id="14" name="">
            <a:extLst xmlns:a="http://schemas.openxmlformats.org/drawingml/2006/main">
              <a:ext uri="{FF2B5EF4-FFF2-40B4-BE49-F238E27FC236}">
                <a16:creationId xmlns:a16="http://schemas.microsoft.com/office/drawing/2014/main" id="{8521FFFF-658C-4485-BDA8-E7C37D85FE03}"/>
              </a:ext>
            </a:extLst>
          </p:cNvPr>
          <p:cNvSpPr>
            <a:spLocks xmlns:a="http://schemas.openxmlformats.org/drawingml/2006/main" noGrp="1"/>
          </p:cNvSpPr>
          <p:nvPr/>
        </p:nvSpPr>
        <p:spPr>
          <a:xfrm xmlns:a="http://schemas.openxmlformats.org/drawingml/2006/main">
            <a:off x="685800" y="3086100"/>
            <a:ext cx="1952625" cy="552450"/>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1">
                <a:solidFill>
                  <a:srgbClr val="1F2328"/>
                </a:solidFill>
                <a:latin typeface="Pretendard"/>
                <a:ea typeface="Pretendard"/>
                <a:cs typeface="Pretendard"/>
              </a:defRPr>
            </a:pPr>
            <a:r>
              <a:rPr sz="878" b="1">
                <a:solidFill>
                  <a:srgbClr val="1F2328"/>
                </a:solidFill>
                <a:latin typeface="Pretendard"/>
                <a:ea typeface="Pretendard"/>
                <a:cs typeface="Pretendard"/>
              </a:rPr>
              <a:t>TCP/IP, 장비 제어</a:t>
            </a:r>
          </a:p>
        </p:txBody>
      </p:sp>
      <p:sp>
        <p:nvSpPr>
          <p:cNvPr id="15" name="">
            <a:extLst xmlns:a="http://schemas.openxmlformats.org/drawingml/2006/main">
              <a:ext uri="{FF2B5EF4-FFF2-40B4-BE49-F238E27FC236}">
                <a16:creationId xmlns:a16="http://schemas.microsoft.com/office/drawing/2014/main" id="{DDF7637C-B825-4E2F-9FDA-0F5DC99BB7C3}"/>
              </a:ext>
            </a:extLst>
          </p:cNvPr>
          <p:cNvSpPr>
            <a:spLocks xmlns:a="http://schemas.openxmlformats.org/drawingml/2006/main" noGrp="1"/>
          </p:cNvSpPr>
          <p:nvPr/>
        </p:nvSpPr>
        <p:spPr>
          <a:xfrm xmlns:a="http://schemas.openxmlformats.org/drawingml/2006/main">
            <a:off x="2638425" y="3086100"/>
            <a:ext cx="4667250" cy="552450"/>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직접 경험은 제한적이나 API/외부 라이브러리 연동 경험 보유</a:t>
            </a:r>
          </a:p>
        </p:txBody>
      </p:sp>
      <p:sp>
        <p:nvSpPr>
          <p:cNvPr id="16" name="">
            <a:extLst xmlns:a="http://schemas.openxmlformats.org/drawingml/2006/main">
              <a:ext uri="{FF2B5EF4-FFF2-40B4-BE49-F238E27FC236}">
                <a16:creationId xmlns:a16="http://schemas.microsoft.com/office/drawing/2014/main" id="{346996BB-6E6D-4E89-91C4-49CCD2C8ED8E}"/>
              </a:ext>
            </a:extLst>
          </p:cNvPr>
          <p:cNvSpPr>
            <a:spLocks xmlns:a="http://schemas.openxmlformats.org/drawingml/2006/main" noGrp="1"/>
          </p:cNvSpPr>
          <p:nvPr/>
        </p:nvSpPr>
        <p:spPr>
          <a:xfrm xmlns:a="http://schemas.openxmlformats.org/drawingml/2006/main">
            <a:off x="7305675" y="3086100"/>
            <a:ext cx="809625" cy="552450"/>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878" b="0">
                <a:solidFill>
                  <a:srgbClr val="E03C31"/>
                </a:solidFill>
                <a:latin typeface="Pretendard"/>
                <a:ea typeface="Pretendard"/>
                <a:cs typeface="Pretendard"/>
              </a:defRPr>
            </a:pPr>
            <a:r>
              <a:rPr sz="878" b="0">
                <a:solidFill>
                  <a:srgbClr val="E03C31"/>
                </a:solidFill>
                <a:latin typeface="Pretendard"/>
                <a:ea typeface="Pretendard"/>
                <a:cs typeface="Pretendard"/>
              </a:rPr>
              <a:t>보완</a:t>
            </a:r>
          </a:p>
        </p:txBody>
      </p:sp>
      <p:sp>
        <p:nvSpPr>
          <p:cNvPr id="17" name="">
            <a:extLst xmlns:a="http://schemas.openxmlformats.org/drawingml/2006/main">
              <a:ext uri="{FF2B5EF4-FFF2-40B4-BE49-F238E27FC236}">
                <a16:creationId xmlns:a16="http://schemas.microsoft.com/office/drawing/2014/main" id="{9FA57F3A-C1B3-4427-A024-6B6F94777DD9}"/>
              </a:ext>
            </a:extLst>
          </p:cNvPr>
          <p:cNvSpPr>
            <a:spLocks xmlns:a="http://schemas.openxmlformats.org/drawingml/2006/main" noGrp="1"/>
          </p:cNvSpPr>
          <p:nvPr/>
        </p:nvSpPr>
        <p:spPr>
          <a:xfrm xmlns:a="http://schemas.openxmlformats.org/drawingml/2006/main">
            <a:off x="685800" y="3638550"/>
            <a:ext cx="1952625"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1">
                <a:solidFill>
                  <a:srgbClr val="1F2328"/>
                </a:solidFill>
                <a:latin typeface="Pretendard"/>
                <a:ea typeface="Pretendard"/>
                <a:cs typeface="Pretendard"/>
              </a:defRPr>
            </a:pPr>
            <a:r>
              <a:rPr sz="878" b="1">
                <a:solidFill>
                  <a:srgbClr val="1F2328"/>
                </a:solidFill>
                <a:latin typeface="Pretendard"/>
                <a:ea typeface="Pretendard"/>
                <a:cs typeface="Pretendard"/>
              </a:rPr>
              <a:t>기존 코드 유지보수/리팩토링</a:t>
            </a:r>
          </a:p>
        </p:txBody>
      </p:sp>
      <p:sp>
        <p:nvSpPr>
          <p:cNvPr id="18" name="">
            <a:extLst xmlns:a="http://schemas.openxmlformats.org/drawingml/2006/main">
              <a:ext uri="{FF2B5EF4-FFF2-40B4-BE49-F238E27FC236}">
                <a16:creationId xmlns:a16="http://schemas.microsoft.com/office/drawing/2014/main" id="{C4B0AFBE-EB7C-4B98-95F3-136A3D156DEF}"/>
              </a:ext>
            </a:extLst>
          </p:cNvPr>
          <p:cNvSpPr>
            <a:spLocks xmlns:a="http://schemas.openxmlformats.org/drawingml/2006/main" noGrp="1"/>
          </p:cNvSpPr>
          <p:nvPr/>
        </p:nvSpPr>
        <p:spPr>
          <a:xfrm xmlns:a="http://schemas.openxmlformats.org/drawingml/2006/main">
            <a:off x="2638425" y="3638550"/>
            <a:ext cx="4667250"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대규모 상용 CAE 소프트웨어 기능 개선 및 안정화</a:t>
            </a:r>
          </a:p>
        </p:txBody>
      </p:sp>
      <p:sp>
        <p:nvSpPr>
          <p:cNvPr id="19" name="">
            <a:extLst xmlns:a="http://schemas.openxmlformats.org/drawingml/2006/main">
              <a:ext uri="{FF2B5EF4-FFF2-40B4-BE49-F238E27FC236}">
                <a16:creationId xmlns:a16="http://schemas.microsoft.com/office/drawing/2014/main" id="{3F375E3C-C8DD-4373-BC48-8C4B9106B228}"/>
              </a:ext>
            </a:extLst>
          </p:cNvPr>
          <p:cNvSpPr>
            <a:spLocks xmlns:a="http://schemas.openxmlformats.org/drawingml/2006/main" noGrp="1"/>
          </p:cNvSpPr>
          <p:nvPr/>
        </p:nvSpPr>
        <p:spPr>
          <a:xfrm xmlns:a="http://schemas.openxmlformats.org/drawingml/2006/main">
            <a:off x="7305675" y="3638550"/>
            <a:ext cx="809625"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강점</a:t>
            </a:r>
          </a:p>
        </p:txBody>
      </p:sp>
      <p:sp>
        <p:nvSpPr>
          <p:cNvPr id="20" name="">
            <a:extLst xmlns:a="http://schemas.openxmlformats.org/drawingml/2006/main">
              <a:ext uri="{FF2B5EF4-FFF2-40B4-BE49-F238E27FC236}">
                <a16:creationId xmlns:a16="http://schemas.microsoft.com/office/drawing/2014/main" id="{77EFA30E-E9F0-4D62-BA60-2889F2AAA414}"/>
              </a:ext>
            </a:extLst>
          </p:cNvPr>
          <p:cNvSpPr>
            <a:spLocks xmlns:a="http://schemas.openxmlformats.org/drawingml/2006/main" noGrp="1"/>
          </p:cNvSpPr>
          <p:nvPr/>
        </p:nvSpPr>
        <p:spPr>
          <a:xfrm xmlns:a="http://schemas.openxmlformats.org/drawingml/2006/main">
            <a:off x="685800" y="4191000"/>
            <a:ext cx="1952625"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1">
                <a:solidFill>
                  <a:srgbClr val="1F2328"/>
                </a:solidFill>
                <a:latin typeface="Pretendard"/>
                <a:ea typeface="Pretendard"/>
                <a:cs typeface="Pretendard"/>
              </a:defRPr>
            </a:pPr>
            <a:r>
              <a:rPr sz="878" b="1">
                <a:solidFill>
                  <a:srgbClr val="1F2328"/>
                </a:solidFill>
                <a:latin typeface="Pretendard"/>
                <a:ea typeface="Pretendard"/>
                <a:cs typeface="Pretendard"/>
              </a:rPr>
              <a:t>Git</a:t>
            </a:r>
          </a:p>
        </p:txBody>
      </p:sp>
      <p:sp>
        <p:nvSpPr>
          <p:cNvPr id="21" name="">
            <a:extLst xmlns:a="http://schemas.openxmlformats.org/drawingml/2006/main">
              <a:ext uri="{FF2B5EF4-FFF2-40B4-BE49-F238E27FC236}">
                <a16:creationId xmlns:a16="http://schemas.microsoft.com/office/drawing/2014/main" id="{7D392C3C-DD94-467E-8C1A-6FE777159DE0}"/>
              </a:ext>
            </a:extLst>
          </p:cNvPr>
          <p:cNvSpPr>
            <a:spLocks xmlns:a="http://schemas.openxmlformats.org/drawingml/2006/main" noGrp="1"/>
          </p:cNvSpPr>
          <p:nvPr/>
        </p:nvSpPr>
        <p:spPr>
          <a:xfrm xmlns:a="http://schemas.openxmlformats.org/drawingml/2006/main">
            <a:off x="2638425" y="4191000"/>
            <a:ext cx="466725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Git 기반 개발 및 개인 프로젝트 관리</a:t>
            </a:r>
          </a:p>
        </p:txBody>
      </p:sp>
      <p:sp>
        <p:nvSpPr>
          <p:cNvPr id="22" name="">
            <a:extLst xmlns:a="http://schemas.openxmlformats.org/drawingml/2006/main">
              <a:ext uri="{FF2B5EF4-FFF2-40B4-BE49-F238E27FC236}">
                <a16:creationId xmlns:a16="http://schemas.microsoft.com/office/drawing/2014/main" id="{D092054B-2917-4878-91B8-2054732E6BA6}"/>
              </a:ext>
            </a:extLst>
          </p:cNvPr>
          <p:cNvSpPr>
            <a:spLocks xmlns:a="http://schemas.openxmlformats.org/drawingml/2006/main" noGrp="1"/>
          </p:cNvSpPr>
          <p:nvPr/>
        </p:nvSpPr>
        <p:spPr>
          <a:xfrm xmlns:a="http://schemas.openxmlformats.org/drawingml/2006/main">
            <a:off x="7305675" y="4191000"/>
            <a:ext cx="809625"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경험</a:t>
            </a:r>
          </a:p>
        </p:txBody>
      </p:sp>
      <p:sp>
        <p:nvSpPr>
          <p:cNvPr id="23" name="">
            <a:extLst xmlns:a="http://schemas.openxmlformats.org/drawingml/2006/main">
              <a:ext uri="{FF2B5EF4-FFF2-40B4-BE49-F238E27FC236}">
                <a16:creationId xmlns:a16="http://schemas.microsoft.com/office/drawing/2014/main" id="{845D0662-1B3E-4632-9E6A-2508BC3A4449}"/>
              </a:ext>
            </a:extLst>
          </p:cNvPr>
          <p:cNvSpPr>
            <a:spLocks xmlns:a="http://schemas.openxmlformats.org/drawingml/2006/main" noGrp="1"/>
          </p:cNvSpPr>
          <p:nvPr/>
        </p:nvSpPr>
        <p:spPr>
          <a:xfrm xmlns:a="http://schemas.openxmlformats.org/drawingml/2006/main">
            <a:off x="685800" y="4743450"/>
            <a:ext cx="1952625"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1">
                <a:solidFill>
                  <a:srgbClr val="1F2328"/>
                </a:solidFill>
                <a:latin typeface="Pretendard"/>
                <a:ea typeface="Pretendard"/>
                <a:cs typeface="Pretendard"/>
              </a:defRPr>
            </a:pPr>
            <a:r>
              <a:rPr sz="878" b="1">
                <a:solidFill>
                  <a:srgbClr val="1F2328"/>
                </a:solidFill>
                <a:latin typeface="Pretendard"/>
                <a:ea typeface="Pretendard"/>
                <a:cs typeface="Pretendard"/>
              </a:rPr>
              <a:t>외부 라이브러리 활용</a:t>
            </a:r>
          </a:p>
        </p:txBody>
      </p:sp>
      <p:sp>
        <p:nvSpPr>
          <p:cNvPr id="24" name="">
            <a:extLst xmlns:a="http://schemas.openxmlformats.org/drawingml/2006/main">
              <a:ext uri="{FF2B5EF4-FFF2-40B4-BE49-F238E27FC236}">
                <a16:creationId xmlns:a16="http://schemas.microsoft.com/office/drawing/2014/main" id="{FC1385F8-EC76-466E-9075-2079E405C5F0}"/>
              </a:ext>
            </a:extLst>
          </p:cNvPr>
          <p:cNvSpPr>
            <a:spLocks xmlns:a="http://schemas.openxmlformats.org/drawingml/2006/main" noGrp="1"/>
          </p:cNvSpPr>
          <p:nvPr/>
        </p:nvSpPr>
        <p:spPr>
          <a:xfrm xmlns:a="http://schemas.openxmlformats.org/drawingml/2006/main">
            <a:off x="2638425" y="4743450"/>
            <a:ext cx="4667250"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N.I.N.A 플러그인 개발 과정에서 외부 구조 분석·연동</a:t>
            </a:r>
          </a:p>
        </p:txBody>
      </p:sp>
      <p:sp>
        <p:nvSpPr>
          <p:cNvPr id="25" name="">
            <a:extLst xmlns:a="http://schemas.openxmlformats.org/drawingml/2006/main">
              <a:ext uri="{FF2B5EF4-FFF2-40B4-BE49-F238E27FC236}">
                <a16:creationId xmlns:a16="http://schemas.microsoft.com/office/drawing/2014/main" id="{FF7D1747-1CBE-4630-AE3C-F393A77DA241}"/>
              </a:ext>
            </a:extLst>
          </p:cNvPr>
          <p:cNvSpPr>
            <a:spLocks xmlns:a="http://schemas.openxmlformats.org/drawingml/2006/main" noGrp="1"/>
          </p:cNvSpPr>
          <p:nvPr/>
        </p:nvSpPr>
        <p:spPr>
          <a:xfrm xmlns:a="http://schemas.openxmlformats.org/drawingml/2006/main">
            <a:off x="7305675" y="4743450"/>
            <a:ext cx="809625" cy="552450"/>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ctr">
              <a:lnSpc>
                <a:spcPct val="108000"/>
              </a:lnSpc>
              <a:buNone/>
              <a:defRPr sz="878" b="0">
                <a:solidFill>
                  <a:srgbClr val="111827"/>
                </a:solidFill>
                <a:latin typeface="Pretendard"/>
                <a:ea typeface="Pretendard"/>
                <a:cs typeface="Pretendard"/>
              </a:defRPr>
            </a:pPr>
            <a:r>
              <a:rPr sz="878" b="0">
                <a:solidFill>
                  <a:srgbClr val="111827"/>
                </a:solidFill>
                <a:latin typeface="Pretendard"/>
                <a:ea typeface="Pretendard"/>
                <a:cs typeface="Pretendard"/>
              </a:rPr>
              <a:t>경험</a:t>
            </a:r>
          </a:p>
        </p:txBody>
      </p:sp>
      <p:sp>
        <p:nvSpPr>
          <p:cNvPr id="26" name="">
            <a:extLst xmlns:a="http://schemas.openxmlformats.org/drawingml/2006/main">
              <a:ext uri="{FF2B5EF4-FFF2-40B4-BE49-F238E27FC236}">
                <a16:creationId xmlns:a16="http://schemas.microsoft.com/office/drawing/2014/main" id="{B1C47C1E-31A3-4C72-B995-43763AE3D2EA}"/>
              </a:ext>
            </a:extLst>
          </p:cNvPr>
          <p:cNvSpPr>
            <a:spLocks xmlns:a="http://schemas.openxmlformats.org/drawingml/2006/main" noGrp="1"/>
          </p:cNvSpPr>
          <p:nvPr/>
        </p:nvSpPr>
        <p:spPr>
          <a:xfrm xmlns:a="http://schemas.openxmlformats.org/drawingml/2006/main">
            <a:off x="8458200" y="1428750"/>
            <a:ext cx="3048000" cy="4000500"/>
          </a:xfrm>
          <a:prstGeom xmlns:a="http://schemas.openxmlformats.org/drawingml/2006/main" prst="roundRect">
            <a:avLst>
              <a:gd name="adj" fmla="val 2500"/>
            </a:avLst>
          </a:prstGeom>
          <a:solidFill xmlns:a="http://schemas.openxmlformats.org/drawingml/2006/main">
            <a:srgbClr val="F4F5F6"/>
          </a:solidFill>
          <a:ln xmlns:a="http://schemas.openxmlformats.org/drawingml/2006/main" w="14288">
            <a:solidFill>
              <a:srgbClr val="AEB4BB"/>
            </a:solidFill>
            <a:prstDash val="dash"/>
          </a:ln>
        </p:spPr>
      </p:sp>
      <p:sp>
        <p:nvSpPr>
          <p:cNvPr id="27" name="">
            <a:extLst xmlns:a="http://schemas.openxmlformats.org/drawingml/2006/main">
              <a:ext uri="{FF2B5EF4-FFF2-40B4-BE49-F238E27FC236}">
                <a16:creationId xmlns:a16="http://schemas.microsoft.com/office/drawing/2014/main" id="{F3223203-7AA0-466B-AEC3-AC006E8D53EB}"/>
              </a:ext>
            </a:extLst>
          </p:cNvPr>
          <p:cNvSpPr>
            <a:spLocks xmlns:a="http://schemas.openxmlformats.org/drawingml/2006/main" noGrp="1"/>
          </p:cNvSpPr>
          <p:nvPr/>
        </p:nvSpPr>
        <p:spPr>
          <a:xfrm xmlns:a="http://schemas.openxmlformats.org/drawingml/2006/main">
            <a:off x="8648700" y="16573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공고 캡처 / 요구사항 요약</a:t>
            </a:r>
          </a:p>
        </p:txBody>
      </p:sp>
      <p:sp>
        <p:nvSpPr>
          <p:cNvPr id="28" name="">
            <a:extLst xmlns:a="http://schemas.openxmlformats.org/drawingml/2006/main">
              <a:ext uri="{FF2B5EF4-FFF2-40B4-BE49-F238E27FC236}">
                <a16:creationId xmlns:a16="http://schemas.microsoft.com/office/drawing/2014/main" id="{6685D2DC-1F38-480C-9766-74A72CA8F7BE}"/>
              </a:ext>
            </a:extLst>
          </p:cNvPr>
          <p:cNvSpPr>
            <a:spLocks xmlns:a="http://schemas.openxmlformats.org/drawingml/2006/main" noGrp="1"/>
          </p:cNvSpPr>
          <p:nvPr/>
        </p:nvSpPr>
        <p:spPr>
          <a:xfrm xmlns:a="http://schemas.openxmlformats.org/drawingml/2006/main">
            <a:off x="8743950" y="2019300"/>
            <a:ext cx="2476500" cy="3124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지원 공고의 천문응용소프트웨어개발</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요구사항 캡처 또는 핵심 요약 이미지를</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삽입하세요.</a:t>
            </a:r>
          </a:p>
        </p:txBody>
      </p:sp>
      <p:sp>
        <p:nvSpPr>
          <p:cNvPr id="29" name="">
            <a:extLst xmlns:a="http://schemas.openxmlformats.org/drawingml/2006/main">
              <a:ext uri="{FF2B5EF4-FFF2-40B4-BE49-F238E27FC236}">
                <a16:creationId xmlns:a16="http://schemas.microsoft.com/office/drawing/2014/main" id="{6F5C79EC-3131-4ECD-8677-6DC4BEFF85E5}"/>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30" name="">
            <a:extLst xmlns:a="http://schemas.openxmlformats.org/drawingml/2006/main">
              <a:ext uri="{FF2B5EF4-FFF2-40B4-BE49-F238E27FC236}">
                <a16:creationId xmlns:a16="http://schemas.microsoft.com/office/drawing/2014/main" id="{ECC828DE-B86A-421B-BAFE-EF287320BC5A}"/>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공고 캡처 또는 요구사항 요약 이미지를 넣어 매핑 표의 신뢰도를 높입니다.</a:t>
            </a:r>
          </a:p>
        </p:txBody>
      </p:sp>
      <p:sp>
        <p:nvSpPr>
          <p:cNvPr id="31" name="">
            <a:extLst xmlns:a="http://schemas.openxmlformats.org/drawingml/2006/main">
              <a:ext uri="{FF2B5EF4-FFF2-40B4-BE49-F238E27FC236}">
                <a16:creationId xmlns:a16="http://schemas.microsoft.com/office/drawing/2014/main" id="{F936DF52-C935-41B0-9F6E-D0245D834FC8}"/>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2 / 10</a:t>
            </a:r>
          </a:p>
        </p:txBody>
      </p:sp>
    </p:spTree>
    <p:extLst>
      <p:ext uri="{BB962C8B-B14F-4D97-AF65-F5344CB8AC3E}">
        <p14:creationId xmlns:p14="http://schemas.microsoft.com/office/powerpoint/2010/main" val="1979188289"/>
      </p:ext>
    </p:extLst>
  </p:cSld>
</p:sld>
</file>

<file path=ppt/slides/slide3.xml><?xml version="1.0" encoding="utf-8"?>
<p:sld xmlns:p="http://schemas.openxmlformats.org/presentationml/2006/main">
  <p:cSld>
    <p:bg>
      <p:bgPr>
        <a:solidFill xmlns:a="http://schemas.openxmlformats.org/drawingml/2006/main">
          <a:srgbClr val="FBFB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C1E2800-0EE4-4B95-A0FC-EE3677687C72}"/>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96F09B6-A8E8-4EAD-9C27-3A1BF51BE42D}"/>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03</a:t>
            </a:r>
          </a:p>
        </p:txBody>
      </p:sp>
      <p:sp>
        <p:nvSpPr>
          <p:cNvPr id="3" name="">
            <a:extLst xmlns:a="http://schemas.openxmlformats.org/drawingml/2006/main">
              <a:ext uri="{FF2B5EF4-FFF2-40B4-BE49-F238E27FC236}">
                <a16:creationId xmlns:a16="http://schemas.microsoft.com/office/drawing/2014/main" id="{6A83F1A0-96ED-4AE7-8717-6714D6546AA5}"/>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Career Summary</a:t>
            </a:r>
          </a:p>
        </p:txBody>
      </p:sp>
      <p:sp>
        <p:nvSpPr>
          <p:cNvPr id="4" name="">
            <a:extLst xmlns:a="http://schemas.openxmlformats.org/drawingml/2006/main">
              <a:ext uri="{FF2B5EF4-FFF2-40B4-BE49-F238E27FC236}">
                <a16:creationId xmlns:a16="http://schemas.microsoft.com/office/drawing/2014/main" id="{31DB6652-1FA3-4D72-ADD0-EF5D9A8C430F}"/>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20년 경력의 중심은 조직 관리가 아니라 C++ 기반 과학기술 SW 구현과 제품화 경험입니다.</a:t>
            </a:r>
          </a:p>
        </p:txBody>
      </p:sp>
      <p:sp>
        <p:nvSpPr>
          <p:cNvPr id="5" name="">
            <a:extLst xmlns:a="http://schemas.openxmlformats.org/drawingml/2006/main">
              <a:ext uri="{FF2B5EF4-FFF2-40B4-BE49-F238E27FC236}">
                <a16:creationId xmlns:a16="http://schemas.microsoft.com/office/drawing/2014/main" id="{DBA81B86-7A62-487A-88DD-3FE2733AB959}"/>
              </a:ext>
            </a:extLst>
          </p:cNvPr>
          <p:cNvSpPr>
            <a:spLocks xmlns:a="http://schemas.openxmlformats.org/drawingml/2006/main" noGrp="1"/>
          </p:cNvSpPr>
          <p:nvPr/>
        </p:nvSpPr>
        <p:spPr>
          <a:xfrm xmlns:a="http://schemas.openxmlformats.org/drawingml/2006/main">
            <a:off x="685800" y="1257300"/>
            <a:ext cx="609600" cy="266700"/>
          </a:xfrm>
          <a:prstGeom xmlns:a="http://schemas.openxmlformats.org/drawingml/2006/main" prst="roundRect">
            <a:avLst>
              <a:gd name="adj" fmla="val 28571"/>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요약</a:t>
            </a:r>
          </a:p>
        </p:txBody>
      </p:sp>
      <p:sp>
        <p:nvSpPr>
          <p:cNvPr id="6" name="">
            <a:extLst xmlns:a="http://schemas.openxmlformats.org/drawingml/2006/main">
              <a:ext uri="{FF2B5EF4-FFF2-40B4-BE49-F238E27FC236}">
                <a16:creationId xmlns:a16="http://schemas.microsoft.com/office/drawing/2014/main" id="{13552833-620F-45D4-8403-5F342BF19ABC}"/>
              </a:ext>
            </a:extLst>
          </p:cNvPr>
          <p:cNvSpPr>
            <a:spLocks xmlns:a="http://schemas.openxmlformats.org/drawingml/2006/main" noGrp="1"/>
          </p:cNvSpPr>
          <p:nvPr/>
        </p:nvSpPr>
        <p:spPr>
          <a:xfrm xmlns:a="http://schemas.openxmlformats.org/drawingml/2006/main">
            <a:off x="1447800" y="1228725"/>
            <a:ext cx="5334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1074"/>
          </a:bodyPr>
          <a:lstStyle xmlns:a="http://schemas.openxmlformats.org/drawingml/2006/main"/>
          <a:p xmlns:a="http://schemas.openxmlformats.org/drawingml/2006/main">
            <a:pPr algn="l">
              <a:lnSpc>
                <a:spcPct val="108000"/>
              </a:lnSpc>
              <a:buNone/>
              <a:defRPr sz="1275" b="1">
                <a:solidFill>
                  <a:srgbClr val="111827"/>
                </a:solidFill>
                <a:latin typeface="Pretendard"/>
                <a:ea typeface="Pretendard"/>
                <a:cs typeface="Pretendard"/>
              </a:defRPr>
            </a:pPr>
            <a:r>
              <a:rPr sz="1275" b="1">
                <a:solidFill>
                  <a:srgbClr val="111827"/>
                </a:solidFill>
                <a:latin typeface="Pretendard"/>
                <a:ea typeface="Pretendard"/>
                <a:cs typeface="Pretendard"/>
              </a:rPr>
              <a:t>복잡한 수치해석·엔지니어링 소프트웨어를 오래 다뤄온 실무형 C++ 개발자입니다.</a:t>
            </a:r>
          </a:p>
        </p:txBody>
      </p:sp>
      <p:sp>
        <p:nvSpPr>
          <p:cNvPr id="7" name="">
            <a:extLst xmlns:a="http://schemas.openxmlformats.org/drawingml/2006/main">
              <a:ext uri="{FF2B5EF4-FFF2-40B4-BE49-F238E27FC236}">
                <a16:creationId xmlns:a16="http://schemas.microsoft.com/office/drawing/2014/main" id="{AC22FB8B-54BE-41DF-BD76-76247ABD8FF5}"/>
              </a:ext>
            </a:extLst>
          </p:cNvPr>
          <p:cNvSpPr>
            <a:spLocks xmlns:a="http://schemas.openxmlformats.org/drawingml/2006/main" noGrp="1"/>
          </p:cNvSpPr>
          <p:nvPr/>
        </p:nvSpPr>
        <p:spPr>
          <a:xfrm xmlns:a="http://schemas.openxmlformats.org/drawingml/2006/main">
            <a:off x="685800" y="1809750"/>
            <a:ext cx="781050" cy="266700"/>
          </a:xfrm>
          <a:prstGeom xmlns:a="http://schemas.openxmlformats.org/drawingml/2006/main" prst="roundRect">
            <a:avLst>
              <a:gd name="adj" fmla="val 28571"/>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경험 근거</a:t>
            </a:r>
          </a:p>
        </p:txBody>
      </p:sp>
      <p:sp>
        <p:nvSpPr>
          <p:cNvPr id="8" name="">
            <a:extLst xmlns:a="http://schemas.openxmlformats.org/drawingml/2006/main">
              <a:ext uri="{FF2B5EF4-FFF2-40B4-BE49-F238E27FC236}">
                <a16:creationId xmlns:a16="http://schemas.microsoft.com/office/drawing/2014/main" id="{DF799339-9D69-47E5-B3C5-43038C30ABD7}"/>
              </a:ext>
            </a:extLst>
          </p:cNvPr>
          <p:cNvSpPr>
            <a:spLocks xmlns:a="http://schemas.openxmlformats.org/drawingml/2006/main" noGrp="1"/>
          </p:cNvSpPr>
          <p:nvPr/>
        </p:nvSpPr>
        <p:spPr>
          <a:xfrm xmlns:a="http://schemas.openxmlformats.org/drawingml/2006/main">
            <a:off x="685800" y="2190750"/>
            <a:ext cx="5810250" cy="2171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4000"/>
              </a:lnSpc>
              <a:buNone/>
              <a:defRPr sz="1140" b="0">
                <a:solidFill>
                  <a:srgbClr val="111827"/>
                </a:solidFill>
                <a:latin typeface="Pretendard"/>
                <a:ea typeface="Pretendard"/>
                <a:cs typeface="Pretendard"/>
              </a:defRPr>
            </a:pPr>
            <a:r>
              <a:rPr sz="1140" b="0">
                <a:solidFill>
                  <a:srgbClr val="111827"/>
                </a:solidFill>
                <a:latin typeface="Pretendard"/>
                <a:ea typeface="Pretendard"/>
                <a:cs typeface="Pretendard"/>
              </a:rPr>
              <a:t>구조·동적 해석 분야의 유한요소해석 솔버, 최적화 알고리즘, 피로해석, 대규모 상용 CAE 소프트웨어를 개발했습니다. 수치해석 알고리즘 구현, 성능 개선, 기존 코드 유지보수, 제품화까지 실무 범위를 넓혀왔습니다.</a:t>
            </a:r>
          </a:p>
          <a:p xmlns:a="http://schemas.openxmlformats.org/drawingml/2006/main">
            <a:r>
              <a:t/>
            </a:r>
          </a:p>
          <a:p xmlns:a="http://schemas.openxmlformats.org/drawingml/2006/main">
            <a:pPr algn="l">
              <a:lnSpc>
                <a:spcPct val="124000"/>
              </a:lnSpc>
              <a:buNone/>
              <a:defRPr sz="1140" b="0">
                <a:solidFill>
                  <a:srgbClr val="111827"/>
                </a:solidFill>
                <a:latin typeface="Pretendard"/>
                <a:ea typeface="Pretendard"/>
                <a:cs typeface="Pretendard"/>
              </a:defRPr>
            </a:pPr>
            <a:r>
              <a:rPr sz="1140" b="0">
                <a:solidFill>
                  <a:srgbClr val="111827"/>
                </a:solidFill>
                <a:latin typeface="Pretendard"/>
                <a:ea typeface="Pretendard"/>
                <a:cs typeface="Pretendard"/>
              </a:rPr>
              <a:t>최근에는 천문 관측 자동화 소프트웨어인 N.I.N.A의 플러그인을 직접 개발·배포하며 관측 workflow와 사용자 경험에 대한 이해를 쌓고 있습니다.</a:t>
            </a:r>
          </a:p>
        </p:txBody>
      </p:sp>
      <p:sp>
        <p:nvSpPr>
          <p:cNvPr id="9" name="">
            <a:extLst xmlns:a="http://schemas.openxmlformats.org/drawingml/2006/main">
              <a:ext uri="{FF2B5EF4-FFF2-40B4-BE49-F238E27FC236}">
                <a16:creationId xmlns:a16="http://schemas.microsoft.com/office/drawing/2014/main" id="{2DA2F5A7-7E0A-41E2-B50B-8BE160BAF3E1}"/>
              </a:ext>
            </a:extLst>
          </p:cNvPr>
          <p:cNvSpPr>
            <a:spLocks xmlns:a="http://schemas.openxmlformats.org/drawingml/2006/main" noGrp="1"/>
          </p:cNvSpPr>
          <p:nvPr/>
        </p:nvSpPr>
        <p:spPr>
          <a:xfrm xmlns:a="http://schemas.openxmlformats.org/drawingml/2006/main">
            <a:off x="685800" y="4638675"/>
            <a:ext cx="1504950" cy="285750"/>
          </a:xfrm>
          <a:prstGeom xmlns:a="http://schemas.openxmlformats.org/drawingml/2006/main" prst="roundRect">
            <a:avLst>
              <a:gd name="adj" fmla="val 50000"/>
            </a:avLst>
          </a:prstGeom>
          <a:solidFill xmlns:a="http://schemas.openxmlformats.org/drawingml/2006/main">
            <a:srgbClr val="F8FAFC"/>
          </a:solidFill>
          <a:ln xmlns:a="http://schemas.openxmlformats.org/drawingml/2006/main" w="9525">
            <a:solidFill>
              <a:srgbClr val="D8DEE5"/>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111827"/>
                </a:solidFill>
                <a:latin typeface="Pretendard"/>
                <a:ea typeface="Pretendard"/>
                <a:cs typeface="Pretendard"/>
              </a:defRPr>
            </a:pPr>
            <a:r>
              <a:rPr sz="863" b="1">
                <a:solidFill>
                  <a:srgbClr val="111827"/>
                </a:solidFill>
                <a:latin typeface="Pretendard"/>
                <a:ea typeface="Pretendard"/>
                <a:cs typeface="Pretendard"/>
              </a:rPr>
              <a:t>수치해석 알고리즘</a:t>
            </a:r>
          </a:p>
        </p:txBody>
      </p:sp>
      <p:sp>
        <p:nvSpPr>
          <p:cNvPr id="10" name="">
            <a:extLst xmlns:a="http://schemas.openxmlformats.org/drawingml/2006/main">
              <a:ext uri="{FF2B5EF4-FFF2-40B4-BE49-F238E27FC236}">
                <a16:creationId xmlns:a16="http://schemas.microsoft.com/office/drawing/2014/main" id="{63E99143-8744-45E2-8DBA-9B69A323BFE6}"/>
              </a:ext>
            </a:extLst>
          </p:cNvPr>
          <p:cNvSpPr>
            <a:spLocks xmlns:a="http://schemas.openxmlformats.org/drawingml/2006/main" noGrp="1"/>
          </p:cNvSpPr>
          <p:nvPr/>
        </p:nvSpPr>
        <p:spPr>
          <a:xfrm xmlns:a="http://schemas.openxmlformats.org/drawingml/2006/main">
            <a:off x="2324100" y="4638675"/>
            <a:ext cx="952500" cy="285750"/>
          </a:xfrm>
          <a:prstGeom xmlns:a="http://schemas.openxmlformats.org/drawingml/2006/main" prst="roundRect">
            <a:avLst>
              <a:gd name="adj" fmla="val 50000"/>
            </a:avLst>
          </a:prstGeom>
          <a:solidFill xmlns:a="http://schemas.openxmlformats.org/drawingml/2006/main">
            <a:srgbClr val="F8FAFC"/>
          </a:solidFill>
          <a:ln xmlns:a="http://schemas.openxmlformats.org/drawingml/2006/main" w="9525">
            <a:solidFill>
              <a:srgbClr val="D8DEE5"/>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111827"/>
                </a:solidFill>
                <a:latin typeface="Pretendard"/>
                <a:ea typeface="Pretendard"/>
                <a:cs typeface="Pretendard"/>
              </a:defRPr>
            </a:pPr>
            <a:r>
              <a:rPr sz="863" b="1">
                <a:solidFill>
                  <a:srgbClr val="111827"/>
                </a:solidFill>
                <a:latin typeface="Pretendard"/>
                <a:ea typeface="Pretendard"/>
                <a:cs typeface="Pretendard"/>
              </a:rPr>
              <a:t>성능 개선</a:t>
            </a:r>
          </a:p>
        </p:txBody>
      </p:sp>
      <p:sp>
        <p:nvSpPr>
          <p:cNvPr id="11" name="">
            <a:extLst xmlns:a="http://schemas.openxmlformats.org/drawingml/2006/main">
              <a:ext uri="{FF2B5EF4-FFF2-40B4-BE49-F238E27FC236}">
                <a16:creationId xmlns:a16="http://schemas.microsoft.com/office/drawing/2014/main" id="{E303ACC6-CC9D-4CE2-BB57-7E676B44FD0A}"/>
              </a:ext>
            </a:extLst>
          </p:cNvPr>
          <p:cNvSpPr>
            <a:spLocks xmlns:a="http://schemas.openxmlformats.org/drawingml/2006/main" noGrp="1"/>
          </p:cNvSpPr>
          <p:nvPr/>
        </p:nvSpPr>
        <p:spPr>
          <a:xfrm xmlns:a="http://schemas.openxmlformats.org/drawingml/2006/main">
            <a:off x="3409950" y="4638675"/>
            <a:ext cx="762000" cy="285750"/>
          </a:xfrm>
          <a:prstGeom xmlns:a="http://schemas.openxmlformats.org/drawingml/2006/main" prst="roundRect">
            <a:avLst>
              <a:gd name="adj" fmla="val 50000"/>
            </a:avLst>
          </a:prstGeom>
          <a:solidFill xmlns:a="http://schemas.openxmlformats.org/drawingml/2006/main">
            <a:srgbClr val="F8FAFC"/>
          </a:solidFill>
          <a:ln xmlns:a="http://schemas.openxmlformats.org/drawingml/2006/main" w="9525">
            <a:solidFill>
              <a:srgbClr val="D8DEE5"/>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111827"/>
                </a:solidFill>
                <a:latin typeface="Pretendard"/>
                <a:ea typeface="Pretendard"/>
                <a:cs typeface="Pretendard"/>
              </a:defRPr>
            </a:pPr>
            <a:r>
              <a:rPr sz="863" b="1">
                <a:solidFill>
                  <a:srgbClr val="111827"/>
                </a:solidFill>
                <a:latin typeface="Pretendard"/>
                <a:ea typeface="Pretendard"/>
                <a:cs typeface="Pretendard"/>
              </a:rPr>
              <a:t>제품화</a:t>
            </a:r>
          </a:p>
        </p:txBody>
      </p:sp>
      <p:sp>
        <p:nvSpPr>
          <p:cNvPr id="12" name="">
            <a:extLst xmlns:a="http://schemas.openxmlformats.org/drawingml/2006/main">
              <a:ext uri="{FF2B5EF4-FFF2-40B4-BE49-F238E27FC236}">
                <a16:creationId xmlns:a16="http://schemas.microsoft.com/office/drawing/2014/main" id="{9B8941C3-2D54-42F0-B930-58B46A14379A}"/>
              </a:ext>
            </a:extLst>
          </p:cNvPr>
          <p:cNvSpPr>
            <a:spLocks xmlns:a="http://schemas.openxmlformats.org/drawingml/2006/main" noGrp="1"/>
          </p:cNvSpPr>
          <p:nvPr/>
        </p:nvSpPr>
        <p:spPr>
          <a:xfrm xmlns:a="http://schemas.openxmlformats.org/drawingml/2006/main">
            <a:off x="4305300" y="4638675"/>
            <a:ext cx="1428750" cy="285750"/>
          </a:xfrm>
          <a:prstGeom xmlns:a="http://schemas.openxmlformats.org/drawingml/2006/main" prst="roundRect">
            <a:avLst>
              <a:gd name="adj" fmla="val 50000"/>
            </a:avLst>
          </a:prstGeom>
          <a:solidFill xmlns:a="http://schemas.openxmlformats.org/drawingml/2006/main">
            <a:srgbClr val="EAF5F8"/>
          </a:solidFill>
          <a:ln xmlns:a="http://schemas.openxmlformats.org/drawingml/2006/main" w="9525">
            <a:solidFill>
              <a:srgbClr val="B9DDE7"/>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2A6F97"/>
                </a:solidFill>
                <a:latin typeface="Pretendard"/>
                <a:ea typeface="Pretendard"/>
                <a:cs typeface="Pretendard"/>
              </a:defRPr>
            </a:pPr>
            <a:r>
              <a:rPr sz="863" b="1">
                <a:solidFill>
                  <a:srgbClr val="2A6F97"/>
                </a:solidFill>
                <a:latin typeface="Pretendard"/>
                <a:ea typeface="Pretendard"/>
                <a:cs typeface="Pretendard"/>
              </a:rPr>
              <a:t>N.I.N.A 플러그인</a:t>
            </a:r>
          </a:p>
        </p:txBody>
      </p:sp>
      <p:sp>
        <p:nvSpPr>
          <p:cNvPr id="13" name="">
            <a:extLst xmlns:a="http://schemas.openxmlformats.org/drawingml/2006/main">
              <a:ext uri="{FF2B5EF4-FFF2-40B4-BE49-F238E27FC236}">
                <a16:creationId xmlns:a16="http://schemas.microsoft.com/office/drawing/2014/main" id="{7E633611-6487-43F7-AE94-774A0BACC2F3}"/>
              </a:ext>
            </a:extLst>
          </p:cNvPr>
          <p:cNvSpPr>
            <a:spLocks xmlns:a="http://schemas.openxmlformats.org/drawingml/2006/main" noGrp="1"/>
          </p:cNvSpPr>
          <p:nvPr/>
        </p:nvSpPr>
        <p:spPr>
          <a:xfrm xmlns:a="http://schemas.openxmlformats.org/drawingml/2006/main">
            <a:off x="7010400" y="1428750"/>
            <a:ext cx="4495800" cy="3905250"/>
          </a:xfrm>
          <a:prstGeom xmlns:a="http://schemas.openxmlformats.org/drawingml/2006/main" prst="roundRect">
            <a:avLst>
              <a:gd name="adj" fmla="val 1951"/>
            </a:avLst>
          </a:prstGeom>
          <a:solidFill xmlns:a="http://schemas.openxmlformats.org/drawingml/2006/main">
            <a:srgbClr val="F4F5F6"/>
          </a:solidFill>
          <a:ln xmlns:a="http://schemas.openxmlformats.org/drawingml/2006/main" w="14288">
            <a:solidFill>
              <a:srgbClr val="AEB4BB"/>
            </a:solidFill>
            <a:prstDash val="dash"/>
          </a:ln>
        </p:spPr>
      </p:sp>
      <p:sp>
        <p:nvSpPr>
          <p:cNvPr id="14" name="">
            <a:extLst xmlns:a="http://schemas.openxmlformats.org/drawingml/2006/main">
              <a:ext uri="{FF2B5EF4-FFF2-40B4-BE49-F238E27FC236}">
                <a16:creationId xmlns:a16="http://schemas.microsoft.com/office/drawing/2014/main" id="{DA7F2496-ED4C-465B-A628-04B88A1616A3}"/>
              </a:ext>
            </a:extLst>
          </p:cNvPr>
          <p:cNvSpPr>
            <a:spLocks xmlns:a="http://schemas.openxmlformats.org/drawingml/2006/main" noGrp="1"/>
          </p:cNvSpPr>
          <p:nvPr/>
        </p:nvSpPr>
        <p:spPr>
          <a:xfrm xmlns:a="http://schemas.openxmlformats.org/drawingml/2006/main">
            <a:off x="7200900" y="1657350"/>
            <a:ext cx="4114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경력 타임라인 이미지</a:t>
            </a:r>
          </a:p>
        </p:txBody>
      </p:sp>
      <p:sp>
        <p:nvSpPr>
          <p:cNvPr id="15" name="">
            <a:extLst xmlns:a="http://schemas.openxmlformats.org/drawingml/2006/main">
              <a:ext uri="{FF2B5EF4-FFF2-40B4-BE49-F238E27FC236}">
                <a16:creationId xmlns:a16="http://schemas.microsoft.com/office/drawing/2014/main" id="{7F5C12AC-54EB-4861-8E71-5DDD35A26051}"/>
              </a:ext>
            </a:extLst>
          </p:cNvPr>
          <p:cNvSpPr>
            <a:spLocks xmlns:a="http://schemas.openxmlformats.org/drawingml/2006/main" noGrp="1"/>
          </p:cNvSpPr>
          <p:nvPr/>
        </p:nvSpPr>
        <p:spPr>
          <a:xfrm xmlns:a="http://schemas.openxmlformats.org/drawingml/2006/main">
            <a:off x="7296150" y="2019300"/>
            <a:ext cx="3924300" cy="3028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midas NFX / 최적화 프로젝트 /</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N.I.N.A 플러그인으로 이어지는</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실무 개발 경력 타임라인을 삽입하세요.</a:t>
            </a:r>
          </a:p>
        </p:txBody>
      </p:sp>
      <p:sp>
        <p:nvSpPr>
          <p:cNvPr id="16" name="">
            <a:extLst xmlns:a="http://schemas.openxmlformats.org/drawingml/2006/main">
              <a:ext uri="{FF2B5EF4-FFF2-40B4-BE49-F238E27FC236}">
                <a16:creationId xmlns:a16="http://schemas.microsoft.com/office/drawing/2014/main" id="{A0B82EDD-3831-44AF-8EAA-35B57A4E9E07}"/>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17" name="">
            <a:extLst xmlns:a="http://schemas.openxmlformats.org/drawingml/2006/main">
              <a:ext uri="{FF2B5EF4-FFF2-40B4-BE49-F238E27FC236}">
                <a16:creationId xmlns:a16="http://schemas.microsoft.com/office/drawing/2014/main" id="{94944EFF-D0BA-49A6-A8D4-34A9F9F03EA5}"/>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연도별 경력 흐름과 대표 프로젝트를 한눈에 보여주는 타임라인 이미지를 넣습니다.</a:t>
            </a:r>
          </a:p>
        </p:txBody>
      </p:sp>
      <p:sp>
        <p:nvSpPr>
          <p:cNvPr id="18" name="">
            <a:extLst xmlns:a="http://schemas.openxmlformats.org/drawingml/2006/main">
              <a:ext uri="{FF2B5EF4-FFF2-40B4-BE49-F238E27FC236}">
                <a16:creationId xmlns:a16="http://schemas.microsoft.com/office/drawing/2014/main" id="{87BEB321-0672-4997-BBDA-2135BE303FC0}"/>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3 / 10</a:t>
            </a:r>
          </a:p>
        </p:txBody>
      </p:sp>
    </p:spTree>
    <p:extLst>
      <p:ext uri="{BB962C8B-B14F-4D97-AF65-F5344CB8AC3E}">
        <p14:creationId xmlns:p14="http://schemas.microsoft.com/office/powerpoint/2010/main" val="2546866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78E4129-CEAA-44C2-B28A-789C2085C172}"/>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4F9E936-FBA2-41EF-9C89-B67F4017D10B}"/>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04</a:t>
            </a:r>
          </a:p>
        </p:txBody>
      </p:sp>
      <p:sp>
        <p:nvSpPr>
          <p:cNvPr id="3" name="">
            <a:extLst xmlns:a="http://schemas.openxmlformats.org/drawingml/2006/main">
              <a:ext uri="{FF2B5EF4-FFF2-40B4-BE49-F238E27FC236}">
                <a16:creationId xmlns:a16="http://schemas.microsoft.com/office/drawing/2014/main" id="{3055DD84-27FB-4401-B8F8-F57AB32B2EF3}"/>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대표 프로젝트 1: midas NFX</a:t>
            </a:r>
          </a:p>
        </p:txBody>
      </p:sp>
      <p:sp>
        <p:nvSpPr>
          <p:cNvPr id="4" name="">
            <a:extLst xmlns:a="http://schemas.openxmlformats.org/drawingml/2006/main">
              <a:ext uri="{FF2B5EF4-FFF2-40B4-BE49-F238E27FC236}">
                <a16:creationId xmlns:a16="http://schemas.microsoft.com/office/drawing/2014/main" id="{DA134E94-622C-495F-8D46-4CA35B031789}"/>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수치해석 알고리즘과 안정성이 중요한 상용 CAE 모듈을 장기간 개발했습니다.</a:t>
            </a:r>
          </a:p>
        </p:txBody>
      </p:sp>
      <p:sp>
        <p:nvSpPr>
          <p:cNvPr id="5" name="">
            <a:extLst xmlns:a="http://schemas.openxmlformats.org/drawingml/2006/main">
              <a:ext uri="{FF2B5EF4-FFF2-40B4-BE49-F238E27FC236}">
                <a16:creationId xmlns:a16="http://schemas.microsoft.com/office/drawing/2014/main" id="{230F0AF8-5433-42FB-9F96-64D9ED3276E9}"/>
              </a:ext>
            </a:extLst>
          </p:cNvPr>
          <p:cNvSpPr>
            <a:spLocks xmlns:a="http://schemas.openxmlformats.org/drawingml/2006/main" noGrp="1"/>
          </p:cNvSpPr>
          <p:nvPr/>
        </p:nvSpPr>
        <p:spPr>
          <a:xfrm xmlns:a="http://schemas.openxmlformats.org/drawingml/2006/main">
            <a:off x="685800" y="1333500"/>
            <a:ext cx="2667000" cy="1028700"/>
          </a:xfrm>
          <a:prstGeom xmlns:a="http://schemas.openxmlformats.org/drawingml/2006/main" prst="roundRect">
            <a:avLst>
              <a:gd name="adj" fmla="val 7407"/>
            </a:avLst>
          </a:prstGeom>
          <a:solidFill xmlns:a="http://schemas.openxmlformats.org/drawingml/2006/main">
            <a:srgbClr val="FAFBFC"/>
          </a:solidFill>
          <a:ln xmlns:a="http://schemas.openxmlformats.org/drawingml/2006/main" w="9525">
            <a:solidFill>
              <a:srgbClr val="E1E4E8"/>
            </a:solidFill>
            <a:prstDash val="solid"/>
          </a:ln>
        </p:spPr>
      </p:sp>
      <p:sp>
        <p:nvSpPr>
          <p:cNvPr id="6" name="">
            <a:extLst xmlns:a="http://schemas.openxmlformats.org/drawingml/2006/main">
              <a:ext uri="{FF2B5EF4-FFF2-40B4-BE49-F238E27FC236}">
                <a16:creationId xmlns:a16="http://schemas.microsoft.com/office/drawing/2014/main" id="{AB24DDBB-C971-43D1-BFFD-A5DB6A87DBF8}"/>
              </a:ext>
            </a:extLst>
          </p:cNvPr>
          <p:cNvSpPr>
            <a:spLocks xmlns:a="http://schemas.openxmlformats.org/drawingml/2006/main" noGrp="1"/>
          </p:cNvSpPr>
          <p:nvPr/>
        </p:nvSpPr>
        <p:spPr>
          <a:xfrm xmlns:a="http://schemas.openxmlformats.org/drawingml/2006/main">
            <a:off x="838200" y="1466850"/>
            <a:ext cx="2362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프로젝트</a:t>
            </a:r>
          </a:p>
        </p:txBody>
      </p:sp>
      <p:sp>
        <p:nvSpPr>
          <p:cNvPr id="7" name="">
            <a:extLst xmlns:a="http://schemas.openxmlformats.org/drawingml/2006/main">
              <a:ext uri="{FF2B5EF4-FFF2-40B4-BE49-F238E27FC236}">
                <a16:creationId xmlns:a16="http://schemas.microsoft.com/office/drawing/2014/main" id="{651EBA90-379E-4AB2-8E16-EA1E1B2CC990}"/>
              </a:ext>
            </a:extLst>
          </p:cNvPr>
          <p:cNvSpPr>
            <a:spLocks xmlns:a="http://schemas.openxmlformats.org/drawingml/2006/main" noGrp="1"/>
          </p:cNvSpPr>
          <p:nvPr/>
        </p:nvSpPr>
        <p:spPr>
          <a:xfrm xmlns:a="http://schemas.openxmlformats.org/drawingml/2006/main">
            <a:off x="838200" y="1771650"/>
            <a:ext cx="2362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구조, 열, 동적 해석을 지원하는 상용 CAE 소프트웨어</a:t>
            </a:r>
          </a:p>
        </p:txBody>
      </p:sp>
      <p:sp>
        <p:nvSpPr>
          <p:cNvPr id="8" name="">
            <a:extLst xmlns:a="http://schemas.openxmlformats.org/drawingml/2006/main">
              <a:ext uri="{FF2B5EF4-FFF2-40B4-BE49-F238E27FC236}">
                <a16:creationId xmlns:a16="http://schemas.microsoft.com/office/drawing/2014/main" id="{E7449A97-3BAA-4145-8E38-C34F6A5A7850}"/>
              </a:ext>
            </a:extLst>
          </p:cNvPr>
          <p:cNvSpPr>
            <a:spLocks xmlns:a="http://schemas.openxmlformats.org/drawingml/2006/main" noGrp="1"/>
          </p:cNvSpPr>
          <p:nvPr/>
        </p:nvSpPr>
        <p:spPr>
          <a:xfrm xmlns:a="http://schemas.openxmlformats.org/drawingml/2006/main">
            <a:off x="3543300" y="1333500"/>
            <a:ext cx="2667000" cy="1028700"/>
          </a:xfrm>
          <a:prstGeom xmlns:a="http://schemas.openxmlformats.org/drawingml/2006/main" prst="roundRect">
            <a:avLst>
              <a:gd name="adj" fmla="val 7407"/>
            </a:avLst>
          </a:prstGeom>
          <a:solidFill xmlns:a="http://schemas.openxmlformats.org/drawingml/2006/main">
            <a:srgbClr val="FAFBFC"/>
          </a:solidFill>
          <a:ln xmlns:a="http://schemas.openxmlformats.org/drawingml/2006/main" w="9525">
            <a:solidFill>
              <a:srgbClr val="E1E4E8"/>
            </a:solidFill>
            <a:prstDash val="solid"/>
          </a:ln>
        </p:spPr>
      </p:sp>
      <p:sp>
        <p:nvSpPr>
          <p:cNvPr id="9" name="">
            <a:extLst xmlns:a="http://schemas.openxmlformats.org/drawingml/2006/main">
              <a:ext uri="{FF2B5EF4-FFF2-40B4-BE49-F238E27FC236}">
                <a16:creationId xmlns:a16="http://schemas.microsoft.com/office/drawing/2014/main" id="{C85EEC91-39C4-4BEB-9C1A-5CC2291FB157}"/>
              </a:ext>
            </a:extLst>
          </p:cNvPr>
          <p:cNvSpPr>
            <a:spLocks xmlns:a="http://schemas.openxmlformats.org/drawingml/2006/main" noGrp="1"/>
          </p:cNvSpPr>
          <p:nvPr/>
        </p:nvSpPr>
        <p:spPr>
          <a:xfrm xmlns:a="http://schemas.openxmlformats.org/drawingml/2006/main">
            <a:off x="3695700" y="1466850"/>
            <a:ext cx="2362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역할</a:t>
            </a:r>
          </a:p>
        </p:txBody>
      </p:sp>
      <p:sp>
        <p:nvSpPr>
          <p:cNvPr id="10" name="">
            <a:extLst xmlns:a="http://schemas.openxmlformats.org/drawingml/2006/main">
              <a:ext uri="{FF2B5EF4-FFF2-40B4-BE49-F238E27FC236}">
                <a16:creationId xmlns:a16="http://schemas.microsoft.com/office/drawing/2014/main" id="{D5D2B5CA-B13B-4003-BC20-79B2B6827A78}"/>
              </a:ext>
            </a:extLst>
          </p:cNvPr>
          <p:cNvSpPr>
            <a:spLocks xmlns:a="http://schemas.openxmlformats.org/drawingml/2006/main" noGrp="1"/>
          </p:cNvSpPr>
          <p:nvPr/>
        </p:nvSpPr>
        <p:spPr>
          <a:xfrm xmlns:a="http://schemas.openxmlformats.org/drawingml/2006/main">
            <a:off x="3695700" y="1771650"/>
            <a:ext cx="2362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해석개발팀 핵심 개발자 및 기술 리더</a:t>
            </a:r>
          </a:p>
        </p:txBody>
      </p:sp>
      <p:sp>
        <p:nvSpPr>
          <p:cNvPr id="11" name="">
            <a:extLst xmlns:a="http://schemas.openxmlformats.org/drawingml/2006/main">
              <a:ext uri="{FF2B5EF4-FFF2-40B4-BE49-F238E27FC236}">
                <a16:creationId xmlns:a16="http://schemas.microsoft.com/office/drawing/2014/main" id="{34F922DC-5456-43AE-9780-6137DD834797}"/>
              </a:ext>
            </a:extLst>
          </p:cNvPr>
          <p:cNvSpPr>
            <a:spLocks xmlns:a="http://schemas.openxmlformats.org/drawingml/2006/main" noGrp="1"/>
          </p:cNvSpPr>
          <p:nvPr/>
        </p:nvSpPr>
        <p:spPr>
          <a:xfrm xmlns:a="http://schemas.openxmlformats.org/drawingml/2006/main">
            <a:off x="685800" y="2686050"/>
            <a:ext cx="781050" cy="266700"/>
          </a:xfrm>
          <a:prstGeom xmlns:a="http://schemas.openxmlformats.org/drawingml/2006/main" prst="roundRect">
            <a:avLst>
              <a:gd name="adj" fmla="val 28571"/>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개발 범위</a:t>
            </a:r>
          </a:p>
        </p:txBody>
      </p:sp>
      <p:sp>
        <p:nvSpPr>
          <p:cNvPr id="12" name="">
            <a:extLst xmlns:a="http://schemas.openxmlformats.org/drawingml/2006/main">
              <a:ext uri="{FF2B5EF4-FFF2-40B4-BE49-F238E27FC236}">
                <a16:creationId xmlns:a16="http://schemas.microsoft.com/office/drawing/2014/main" id="{D9644151-297C-4460-AD95-5406643A58BF}"/>
              </a:ext>
            </a:extLst>
          </p:cNvPr>
          <p:cNvSpPr>
            <a:spLocks xmlns:a="http://schemas.openxmlformats.org/drawingml/2006/main" noGrp="1"/>
          </p:cNvSpPr>
          <p:nvPr/>
        </p:nvSpPr>
        <p:spPr>
          <a:xfrm xmlns:a="http://schemas.openxmlformats.org/drawingml/2006/main">
            <a:off x="685800" y="3067050"/>
            <a:ext cx="28098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2000"/>
              </a:lnSpc>
              <a:buNone/>
              <a:defRPr sz="1125" b="0">
                <a:solidFill>
                  <a:srgbClr val="111827"/>
                </a:solidFill>
                <a:latin typeface="Pretendard"/>
                <a:ea typeface="Pretendard"/>
                <a:cs typeface="Pretendard"/>
              </a:defRPr>
            </a:pPr>
            <a:r>
              <a:rPr sz="1125" b="0">
                <a:solidFill>
                  <a:srgbClr val="111827"/>
                </a:solidFill>
                <a:latin typeface="Pretendard"/>
                <a:ea typeface="Pretendard"/>
                <a:cs typeface="Pretendard"/>
              </a:rPr>
              <a:t>• 구조/열/동적해석 솔버</a:t>
            </a:r>
          </a:p>
          <a:p xmlns:a="http://schemas.openxmlformats.org/drawingml/2006/main">
            <a:pPr algn="l">
              <a:lnSpc>
                <a:spcPct val="122000"/>
              </a:lnSpc>
              <a:buNone/>
              <a:defRPr sz="1125" b="0">
                <a:solidFill>
                  <a:srgbClr val="111827"/>
                </a:solidFill>
                <a:latin typeface="Pretendard"/>
                <a:ea typeface="Pretendard"/>
                <a:cs typeface="Pretendard"/>
              </a:defRPr>
            </a:pPr>
            <a:r>
              <a:rPr sz="1125" b="0">
                <a:solidFill>
                  <a:srgbClr val="111827"/>
                </a:solidFill>
                <a:latin typeface="Pretendard"/>
                <a:ea typeface="Pretendard"/>
                <a:cs typeface="Pretendard"/>
              </a:rPr>
              <a:t>• Explicit Dynamics</a:t>
            </a:r>
          </a:p>
          <a:p xmlns:a="http://schemas.openxmlformats.org/drawingml/2006/main">
            <a:pPr algn="l">
              <a:lnSpc>
                <a:spcPct val="122000"/>
              </a:lnSpc>
              <a:buNone/>
              <a:defRPr sz="1125" b="0">
                <a:solidFill>
                  <a:srgbClr val="111827"/>
                </a:solidFill>
                <a:latin typeface="Pretendard"/>
                <a:ea typeface="Pretendard"/>
                <a:cs typeface="Pretendard"/>
              </a:defRPr>
            </a:pPr>
            <a:r>
              <a:rPr sz="1125" b="0">
                <a:solidFill>
                  <a:srgbClr val="111827"/>
                </a:solidFill>
                <a:latin typeface="Pretendard"/>
                <a:ea typeface="Pretendard"/>
                <a:cs typeface="Pretendard"/>
              </a:rPr>
              <a:t>• Fatigue Analysis</a:t>
            </a:r>
          </a:p>
          <a:p xmlns:a="http://schemas.openxmlformats.org/drawingml/2006/main">
            <a:pPr algn="l">
              <a:lnSpc>
                <a:spcPct val="122000"/>
              </a:lnSpc>
              <a:buNone/>
              <a:defRPr sz="1125" b="0">
                <a:solidFill>
                  <a:srgbClr val="111827"/>
                </a:solidFill>
                <a:latin typeface="Pretendard"/>
                <a:ea typeface="Pretendard"/>
                <a:cs typeface="Pretendard"/>
              </a:defRPr>
            </a:pPr>
            <a:r>
              <a:rPr sz="1125" b="0">
                <a:solidFill>
                  <a:srgbClr val="111827"/>
                </a:solidFill>
                <a:latin typeface="Pretendard"/>
                <a:ea typeface="Pretendard"/>
                <a:cs typeface="Pretendard"/>
              </a:rPr>
              <a:t>• 최적설계 모듈</a:t>
            </a:r>
          </a:p>
        </p:txBody>
      </p:sp>
      <p:sp>
        <p:nvSpPr>
          <p:cNvPr id="13" name="">
            <a:extLst xmlns:a="http://schemas.openxmlformats.org/drawingml/2006/main">
              <a:ext uri="{FF2B5EF4-FFF2-40B4-BE49-F238E27FC236}">
                <a16:creationId xmlns:a16="http://schemas.microsoft.com/office/drawing/2014/main" id="{A36F50C1-D743-49B1-A470-187C1C8C23A7}"/>
              </a:ext>
            </a:extLst>
          </p:cNvPr>
          <p:cNvSpPr>
            <a:spLocks xmlns:a="http://schemas.openxmlformats.org/drawingml/2006/main" noGrp="1"/>
          </p:cNvSpPr>
          <p:nvPr/>
        </p:nvSpPr>
        <p:spPr>
          <a:xfrm xmlns:a="http://schemas.openxmlformats.org/drawingml/2006/main">
            <a:off x="3714750" y="2686050"/>
            <a:ext cx="933450" cy="266700"/>
          </a:xfrm>
          <a:prstGeom xmlns:a="http://schemas.openxmlformats.org/drawingml/2006/main" prst="roundRect">
            <a:avLst>
              <a:gd name="adj" fmla="val 28571"/>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직무 연관성</a:t>
            </a:r>
          </a:p>
        </p:txBody>
      </p:sp>
      <p:sp>
        <p:nvSpPr>
          <p:cNvPr id="14" name="">
            <a:extLst xmlns:a="http://schemas.openxmlformats.org/drawingml/2006/main">
              <a:ext uri="{FF2B5EF4-FFF2-40B4-BE49-F238E27FC236}">
                <a16:creationId xmlns:a16="http://schemas.microsoft.com/office/drawing/2014/main" id="{9586A660-AEFC-4505-8AED-64AFA05F960A}"/>
              </a:ext>
            </a:extLst>
          </p:cNvPr>
          <p:cNvSpPr>
            <a:spLocks xmlns:a="http://schemas.openxmlformats.org/drawingml/2006/main" noGrp="1"/>
          </p:cNvSpPr>
          <p:nvPr/>
        </p:nvSpPr>
        <p:spPr>
          <a:xfrm xmlns:a="http://schemas.openxmlformats.org/drawingml/2006/main">
            <a:off x="3714750" y="3067050"/>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2000"/>
              </a:lnSpc>
              <a:buNone/>
              <a:defRPr sz="1065" b="0">
                <a:solidFill>
                  <a:srgbClr val="111827"/>
                </a:solidFill>
                <a:latin typeface="Pretendard"/>
                <a:ea typeface="Pretendard"/>
                <a:cs typeface="Pretendard"/>
              </a:defRPr>
            </a:pPr>
            <a:r>
              <a:rPr sz="1065" b="0">
                <a:solidFill>
                  <a:srgbClr val="111827"/>
                </a:solidFill>
                <a:latin typeface="Pretendard"/>
                <a:ea typeface="Pretendard"/>
                <a:cs typeface="Pretendard"/>
              </a:rPr>
              <a:t>• C++ 기반 대규모 상용 SW 개발</a:t>
            </a:r>
          </a:p>
          <a:p xmlns:a="http://schemas.openxmlformats.org/drawingml/2006/main">
            <a:pPr algn="l">
              <a:lnSpc>
                <a:spcPct val="122000"/>
              </a:lnSpc>
              <a:buNone/>
              <a:defRPr sz="1065" b="0">
                <a:solidFill>
                  <a:srgbClr val="111827"/>
                </a:solidFill>
                <a:latin typeface="Pretendard"/>
                <a:ea typeface="Pretendard"/>
                <a:cs typeface="Pretendard"/>
              </a:defRPr>
            </a:pPr>
            <a:r>
              <a:rPr sz="1065" b="0">
                <a:solidFill>
                  <a:srgbClr val="111827"/>
                </a:solidFill>
                <a:latin typeface="Pretendard"/>
                <a:ea typeface="Pretendard"/>
                <a:cs typeface="Pretendard"/>
              </a:rPr>
              <a:t>• 기존 코드 유지보수 및 기능 확장</a:t>
            </a:r>
          </a:p>
          <a:p xmlns:a="http://schemas.openxmlformats.org/drawingml/2006/main">
            <a:pPr algn="l">
              <a:lnSpc>
                <a:spcPct val="122000"/>
              </a:lnSpc>
              <a:buNone/>
              <a:defRPr sz="1065" b="0">
                <a:solidFill>
                  <a:srgbClr val="111827"/>
                </a:solidFill>
                <a:latin typeface="Pretendard"/>
                <a:ea typeface="Pretendard"/>
                <a:cs typeface="Pretendard"/>
              </a:defRPr>
            </a:pPr>
            <a:r>
              <a:rPr sz="1065" b="0">
                <a:solidFill>
                  <a:srgbClr val="111827"/>
                </a:solidFill>
                <a:latin typeface="Pretendard"/>
                <a:ea typeface="Pretendard"/>
                <a:cs typeface="Pretendard"/>
              </a:rPr>
              <a:t>• 성능과 안정성이 중요한 모듈 개발</a:t>
            </a:r>
          </a:p>
          <a:p xmlns:a="http://schemas.openxmlformats.org/drawingml/2006/main">
            <a:pPr algn="l">
              <a:lnSpc>
                <a:spcPct val="122000"/>
              </a:lnSpc>
              <a:buNone/>
              <a:defRPr sz="1065" b="0">
                <a:solidFill>
                  <a:srgbClr val="111827"/>
                </a:solidFill>
                <a:latin typeface="Pretendard"/>
                <a:ea typeface="Pretendard"/>
                <a:cs typeface="Pretendard"/>
              </a:defRPr>
            </a:pPr>
            <a:r>
              <a:rPr sz="1065" b="0">
                <a:solidFill>
                  <a:srgbClr val="111827"/>
                </a:solidFill>
                <a:latin typeface="Pretendard"/>
                <a:ea typeface="Pretendard"/>
                <a:cs typeface="Pretendard"/>
              </a:rPr>
              <a:t>• 사용자 요구사항의 제품 기능화</a:t>
            </a:r>
          </a:p>
        </p:txBody>
      </p:sp>
      <p:sp>
        <p:nvSpPr>
          <p:cNvPr id="15" name="">
            <a:extLst xmlns:a="http://schemas.openxmlformats.org/drawingml/2006/main">
              <a:ext uri="{FF2B5EF4-FFF2-40B4-BE49-F238E27FC236}">
                <a16:creationId xmlns:a16="http://schemas.microsoft.com/office/drawing/2014/main" id="{43140D38-28B7-4933-B617-045B0B2FA9A2}"/>
              </a:ext>
            </a:extLst>
          </p:cNvPr>
          <p:cNvSpPr>
            <a:spLocks xmlns:a="http://schemas.openxmlformats.org/drawingml/2006/main" noGrp="1"/>
          </p:cNvSpPr>
          <p:nvPr/>
        </p:nvSpPr>
        <p:spPr>
          <a:xfrm xmlns:a="http://schemas.openxmlformats.org/drawingml/2006/main">
            <a:off x="6991350" y="1409700"/>
            <a:ext cx="4514850" cy="3848100"/>
          </a:xfrm>
          <a:prstGeom xmlns:a="http://schemas.openxmlformats.org/drawingml/2006/main" prst="roundRect">
            <a:avLst>
              <a:gd name="adj" fmla="val 1980"/>
            </a:avLst>
          </a:prstGeom>
          <a:solidFill xmlns:a="http://schemas.openxmlformats.org/drawingml/2006/main">
            <a:srgbClr val="F4F5F6"/>
          </a:solidFill>
          <a:ln xmlns:a="http://schemas.openxmlformats.org/drawingml/2006/main" w="14288">
            <a:solidFill>
              <a:srgbClr val="AEB4BB"/>
            </a:solidFill>
            <a:prstDash val="dash"/>
          </a:ln>
        </p:spPr>
      </p:sp>
      <p:sp>
        <p:nvSpPr>
          <p:cNvPr id="16" name="">
            <a:extLst xmlns:a="http://schemas.openxmlformats.org/drawingml/2006/main">
              <a:ext uri="{FF2B5EF4-FFF2-40B4-BE49-F238E27FC236}">
                <a16:creationId xmlns:a16="http://schemas.microsoft.com/office/drawing/2014/main" id="{7C796246-DAD4-4694-BAA2-7A3F4A2783FA}"/>
              </a:ext>
            </a:extLst>
          </p:cNvPr>
          <p:cNvSpPr>
            <a:spLocks xmlns:a="http://schemas.openxmlformats.org/drawingml/2006/main" noGrp="1"/>
          </p:cNvSpPr>
          <p:nvPr/>
        </p:nvSpPr>
        <p:spPr>
          <a:xfrm xmlns:a="http://schemas.openxmlformats.org/drawingml/2006/main">
            <a:off x="7181850" y="1638300"/>
            <a:ext cx="4133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midas NFX 화면 / 제품 이미지</a:t>
            </a:r>
          </a:p>
        </p:txBody>
      </p:sp>
      <p:sp>
        <p:nvSpPr>
          <p:cNvPr id="17" name="">
            <a:extLst xmlns:a="http://schemas.openxmlformats.org/drawingml/2006/main">
              <a:ext uri="{FF2B5EF4-FFF2-40B4-BE49-F238E27FC236}">
                <a16:creationId xmlns:a16="http://schemas.microsoft.com/office/drawing/2014/main" id="{0B88A278-E118-4281-94A1-56BFA06CF1E4}"/>
              </a:ext>
            </a:extLst>
          </p:cNvPr>
          <p:cNvSpPr>
            <a:spLocks xmlns:a="http://schemas.openxmlformats.org/drawingml/2006/main" noGrp="1"/>
          </p:cNvSpPr>
          <p:nvPr/>
        </p:nvSpPr>
        <p:spPr>
          <a:xfrm xmlns:a="http://schemas.openxmlformats.org/drawingml/2006/main">
            <a:off x="7277100" y="2000250"/>
            <a:ext cx="3943350" cy="2971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midas NFX 실행 화면, 해석 결과 화면,</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또는 제품 소개 이미지를 삽입하세요.</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개인/회사 공개 가능 범위 확인 권장</a:t>
            </a:r>
          </a:p>
        </p:txBody>
      </p:sp>
      <p:sp>
        <p:nvSpPr>
          <p:cNvPr id="18" name="">
            <a:extLst xmlns:a="http://schemas.openxmlformats.org/drawingml/2006/main">
              <a:ext uri="{FF2B5EF4-FFF2-40B4-BE49-F238E27FC236}">
                <a16:creationId xmlns:a16="http://schemas.microsoft.com/office/drawing/2014/main" id="{E87B2BFE-DF00-4EC7-A35E-4303558748E6}"/>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19" name="">
            <a:extLst xmlns:a="http://schemas.openxmlformats.org/drawingml/2006/main">
              <a:ext uri="{FF2B5EF4-FFF2-40B4-BE49-F238E27FC236}">
                <a16:creationId xmlns:a16="http://schemas.microsoft.com/office/drawing/2014/main" id="{B3070585-7080-4397-9253-12EE3D2586F9}"/>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midas NFX 화면 캡처 또는 공개 가능한 제품 이미지를 넣습니다.</a:t>
            </a:r>
          </a:p>
        </p:txBody>
      </p:sp>
      <p:sp>
        <p:nvSpPr>
          <p:cNvPr id="20" name="">
            <a:extLst xmlns:a="http://schemas.openxmlformats.org/drawingml/2006/main">
              <a:ext uri="{FF2B5EF4-FFF2-40B4-BE49-F238E27FC236}">
                <a16:creationId xmlns:a16="http://schemas.microsoft.com/office/drawing/2014/main" id="{206DEB76-0181-4E70-9C7D-5D370CC4F8DD}"/>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4 / 10</a:t>
            </a:r>
          </a:p>
        </p:txBody>
      </p:sp>
    </p:spTree>
    <p:extLst>
      <p:ext uri="{BB962C8B-B14F-4D97-AF65-F5344CB8AC3E}">
        <p14:creationId xmlns:p14="http://schemas.microsoft.com/office/powerpoint/2010/main" val="324302546"/>
      </p:ext>
    </p:extLst>
  </p:cSld>
</p:sld>
</file>

<file path=ppt/slides/slide5.xml><?xml version="1.0" encoding="utf-8"?>
<p:sld xmlns:p="http://schemas.openxmlformats.org/presentationml/2006/main">
  <p:cSld>
    <p:bg>
      <p:bgPr>
        <a:solidFill xmlns:a="http://schemas.openxmlformats.org/drawingml/2006/main">
          <a:srgbClr val="FBFB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4355F7F-DF4B-49B7-ABF9-87F5037FEAFF}"/>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EFFD543-E7BD-4976-A339-3AAA9C73C5BD}"/>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05</a:t>
            </a:r>
          </a:p>
        </p:txBody>
      </p:sp>
      <p:sp>
        <p:nvSpPr>
          <p:cNvPr id="3" name="">
            <a:extLst xmlns:a="http://schemas.openxmlformats.org/drawingml/2006/main">
              <a:ext uri="{FF2B5EF4-FFF2-40B4-BE49-F238E27FC236}">
                <a16:creationId xmlns:a16="http://schemas.microsoft.com/office/drawing/2014/main" id="{34DE1617-74EA-4231-AB96-B579FBC682E4}"/>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대표 프로젝트 2: 현대자동차 치수최적화</a:t>
            </a:r>
          </a:p>
        </p:txBody>
      </p:sp>
      <p:sp>
        <p:nvSpPr>
          <p:cNvPr id="4" name="">
            <a:extLst xmlns:a="http://schemas.openxmlformats.org/drawingml/2006/main">
              <a:ext uri="{FF2B5EF4-FFF2-40B4-BE49-F238E27FC236}">
                <a16:creationId xmlns:a16="http://schemas.microsoft.com/office/drawing/2014/main" id="{7796106A-EE95-415D-B5A6-B47A3D61F429}"/>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고객의 설계 문제를 최적화 알고리즘과 사용자 workflow로 구현했습니다.</a:t>
            </a:r>
          </a:p>
        </p:txBody>
      </p:sp>
      <p:sp>
        <p:nvSpPr>
          <p:cNvPr id="5" name="">
            <a:extLst xmlns:a="http://schemas.openxmlformats.org/drawingml/2006/main">
              <a:ext uri="{FF2B5EF4-FFF2-40B4-BE49-F238E27FC236}">
                <a16:creationId xmlns:a16="http://schemas.microsoft.com/office/drawing/2014/main" id="{40564AEC-1297-40E1-A64C-32EBD6627CF1}"/>
              </a:ext>
            </a:extLst>
          </p:cNvPr>
          <p:cNvSpPr>
            <a:spLocks xmlns:a="http://schemas.openxmlformats.org/drawingml/2006/main" noGrp="1"/>
          </p:cNvSpPr>
          <p:nvPr/>
        </p:nvSpPr>
        <p:spPr>
          <a:xfrm xmlns:a="http://schemas.openxmlformats.org/drawingml/2006/main">
            <a:off x="685800" y="1428750"/>
            <a:ext cx="23622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E1E4E8"/>
            </a:solidFill>
            <a:prstDash val="solid"/>
          </a:ln>
        </p:spPr>
      </p:sp>
      <p:sp>
        <p:nvSpPr>
          <p:cNvPr id="6" name="">
            <a:extLst xmlns:a="http://schemas.openxmlformats.org/drawingml/2006/main">
              <a:ext uri="{FF2B5EF4-FFF2-40B4-BE49-F238E27FC236}">
                <a16:creationId xmlns:a16="http://schemas.microsoft.com/office/drawing/2014/main" id="{6EE648AD-A0C6-46C4-97FC-BD3B60DD7FDE}"/>
              </a:ext>
            </a:extLst>
          </p:cNvPr>
          <p:cNvSpPr>
            <a:spLocks xmlns:a="http://schemas.openxmlformats.org/drawingml/2006/main" noGrp="1"/>
          </p:cNvSpPr>
          <p:nvPr/>
        </p:nvSpPr>
        <p:spPr>
          <a:xfrm xmlns:a="http://schemas.openxmlformats.org/drawingml/2006/main">
            <a:off x="838200" y="1562100"/>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고객 문제</a:t>
            </a:r>
          </a:p>
        </p:txBody>
      </p:sp>
      <p:sp>
        <p:nvSpPr>
          <p:cNvPr id="7" name="">
            <a:extLst xmlns:a="http://schemas.openxmlformats.org/drawingml/2006/main">
              <a:ext uri="{FF2B5EF4-FFF2-40B4-BE49-F238E27FC236}">
                <a16:creationId xmlns:a16="http://schemas.microsoft.com/office/drawing/2014/main" id="{768FE465-26DE-4425-AD02-3B0FB312719D}"/>
              </a:ext>
            </a:extLst>
          </p:cNvPr>
          <p:cNvSpPr>
            <a:spLocks xmlns:a="http://schemas.openxmlformats.org/drawingml/2006/main" noGrp="1"/>
          </p:cNvSpPr>
          <p:nvPr/>
        </p:nvSpPr>
        <p:spPr>
          <a:xfrm xmlns:a="http://schemas.openxmlformats.org/drawingml/2006/main">
            <a:off x="838200" y="1866900"/>
            <a:ext cx="2057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차량 설계 과정에서 강성 향상과 경량화가 동시에 필요</a:t>
            </a:r>
          </a:p>
        </p:txBody>
      </p:sp>
      <p:sp>
        <p:nvSpPr>
          <p:cNvPr id="8" name="">
            <a:extLst xmlns:a="http://schemas.openxmlformats.org/drawingml/2006/main">
              <a:ext uri="{FF2B5EF4-FFF2-40B4-BE49-F238E27FC236}">
                <a16:creationId xmlns:a16="http://schemas.microsoft.com/office/drawing/2014/main" id="{0C9219E8-A684-4EAB-BFD3-91BE8A96885E}"/>
              </a:ext>
            </a:extLst>
          </p:cNvPr>
          <p:cNvSpPr>
            <a:spLocks xmlns:a="http://schemas.openxmlformats.org/drawingml/2006/main" noGrp="1"/>
          </p:cNvSpPr>
          <p:nvPr/>
        </p:nvSpPr>
        <p:spPr>
          <a:xfrm xmlns:a="http://schemas.openxmlformats.org/drawingml/2006/main">
            <a:off x="3276600" y="1428750"/>
            <a:ext cx="2362200" cy="1066800"/>
          </a:xfrm>
          <a:prstGeom xmlns:a="http://schemas.openxmlformats.org/drawingml/2006/main" prst="roundRect">
            <a:avLst>
              <a:gd name="adj" fmla="val 7143"/>
            </a:avLst>
          </a:prstGeom>
          <a:solidFill xmlns:a="http://schemas.openxmlformats.org/drawingml/2006/main">
            <a:srgbClr val="FFFFFF"/>
          </a:solidFill>
          <a:ln xmlns:a="http://schemas.openxmlformats.org/drawingml/2006/main" w="9525">
            <a:solidFill>
              <a:srgbClr val="E1E4E8"/>
            </a:solidFill>
            <a:prstDash val="solid"/>
          </a:ln>
        </p:spPr>
      </p:sp>
      <p:sp>
        <p:nvSpPr>
          <p:cNvPr id="9" name="">
            <a:extLst xmlns:a="http://schemas.openxmlformats.org/drawingml/2006/main">
              <a:ext uri="{FF2B5EF4-FFF2-40B4-BE49-F238E27FC236}">
                <a16:creationId xmlns:a16="http://schemas.microsoft.com/office/drawing/2014/main" id="{12926E89-1518-4B03-A648-5AA2AA179C79}"/>
              </a:ext>
            </a:extLst>
          </p:cNvPr>
          <p:cNvSpPr>
            <a:spLocks xmlns:a="http://schemas.openxmlformats.org/drawingml/2006/main" noGrp="1"/>
          </p:cNvSpPr>
          <p:nvPr/>
        </p:nvSpPr>
        <p:spPr>
          <a:xfrm xmlns:a="http://schemas.openxmlformats.org/drawingml/2006/main">
            <a:off x="3429000" y="1562100"/>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역할</a:t>
            </a:r>
          </a:p>
        </p:txBody>
      </p:sp>
      <p:sp>
        <p:nvSpPr>
          <p:cNvPr id="10" name="">
            <a:extLst xmlns:a="http://schemas.openxmlformats.org/drawingml/2006/main">
              <a:ext uri="{FF2B5EF4-FFF2-40B4-BE49-F238E27FC236}">
                <a16:creationId xmlns:a16="http://schemas.microsoft.com/office/drawing/2014/main" id="{F4C32939-6764-428D-A321-83CE26A85ED1}"/>
              </a:ext>
            </a:extLst>
          </p:cNvPr>
          <p:cNvSpPr>
            <a:spLocks xmlns:a="http://schemas.openxmlformats.org/drawingml/2006/main" noGrp="1"/>
          </p:cNvSpPr>
          <p:nvPr/>
        </p:nvSpPr>
        <p:spPr>
          <a:xfrm xmlns:a="http://schemas.openxmlformats.org/drawingml/2006/main">
            <a:off x="3429000" y="1866900"/>
            <a:ext cx="20574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실무 리더로 요구사항 정리와 구현 방향 조율</a:t>
            </a:r>
          </a:p>
        </p:txBody>
      </p:sp>
      <p:sp>
        <p:nvSpPr>
          <p:cNvPr id="11" name="">
            <a:extLst xmlns:a="http://schemas.openxmlformats.org/drawingml/2006/main">
              <a:ext uri="{FF2B5EF4-FFF2-40B4-BE49-F238E27FC236}">
                <a16:creationId xmlns:a16="http://schemas.microsoft.com/office/drawing/2014/main" id="{DD9900E8-27F7-4BB9-B984-656B1616DDDA}"/>
              </a:ext>
            </a:extLst>
          </p:cNvPr>
          <p:cNvSpPr>
            <a:spLocks xmlns:a="http://schemas.openxmlformats.org/drawingml/2006/main" noGrp="1"/>
          </p:cNvSpPr>
          <p:nvPr/>
        </p:nvSpPr>
        <p:spPr>
          <a:xfrm xmlns:a="http://schemas.openxmlformats.org/drawingml/2006/main">
            <a:off x="685800" y="2781300"/>
            <a:ext cx="23622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E1E4E8"/>
            </a:solidFill>
            <a:prstDash val="solid"/>
          </a:ln>
        </p:spPr>
      </p:sp>
      <p:sp>
        <p:nvSpPr>
          <p:cNvPr id="12" name="">
            <a:extLst xmlns:a="http://schemas.openxmlformats.org/drawingml/2006/main">
              <a:ext uri="{FF2B5EF4-FFF2-40B4-BE49-F238E27FC236}">
                <a16:creationId xmlns:a16="http://schemas.microsoft.com/office/drawing/2014/main" id="{F2F8F8C6-3A9C-4447-9A06-26D75E035B78}"/>
              </a:ext>
            </a:extLst>
          </p:cNvPr>
          <p:cNvSpPr>
            <a:spLocks xmlns:a="http://schemas.openxmlformats.org/drawingml/2006/main" noGrp="1"/>
          </p:cNvSpPr>
          <p:nvPr/>
        </p:nvSpPr>
        <p:spPr>
          <a:xfrm xmlns:a="http://schemas.openxmlformats.org/drawingml/2006/main">
            <a:off x="838200" y="2914650"/>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개발 내용</a:t>
            </a:r>
          </a:p>
        </p:txBody>
      </p:sp>
      <p:sp>
        <p:nvSpPr>
          <p:cNvPr id="13" name="">
            <a:extLst xmlns:a="http://schemas.openxmlformats.org/drawingml/2006/main">
              <a:ext uri="{FF2B5EF4-FFF2-40B4-BE49-F238E27FC236}">
                <a16:creationId xmlns:a16="http://schemas.microsoft.com/office/drawing/2014/main" id="{D1FB72AA-9B54-4B1E-A5B5-E0D37D59630D}"/>
              </a:ext>
            </a:extLst>
          </p:cNvPr>
          <p:cNvSpPr>
            <a:spLocks xmlns:a="http://schemas.openxmlformats.org/drawingml/2006/main" noGrp="1"/>
          </p:cNvSpPr>
          <p:nvPr/>
        </p:nvSpPr>
        <p:spPr>
          <a:xfrm xmlns:a="http://schemas.openxmlformats.org/drawingml/2006/main">
            <a:off x="838200" y="3219450"/>
            <a:ext cx="2057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DOE, 민감도 해석, 응답면 모델, 사용자 맞춤형 UI</a:t>
            </a:r>
          </a:p>
        </p:txBody>
      </p:sp>
      <p:sp>
        <p:nvSpPr>
          <p:cNvPr id="14" name="">
            <a:extLst xmlns:a="http://schemas.openxmlformats.org/drawingml/2006/main">
              <a:ext uri="{FF2B5EF4-FFF2-40B4-BE49-F238E27FC236}">
                <a16:creationId xmlns:a16="http://schemas.microsoft.com/office/drawing/2014/main" id="{4125F7BD-4BAC-4115-AA8A-667D7336D28F}"/>
              </a:ext>
            </a:extLst>
          </p:cNvPr>
          <p:cNvSpPr>
            <a:spLocks xmlns:a="http://schemas.openxmlformats.org/drawingml/2006/main" noGrp="1"/>
          </p:cNvSpPr>
          <p:nvPr/>
        </p:nvSpPr>
        <p:spPr>
          <a:xfrm xmlns:a="http://schemas.openxmlformats.org/drawingml/2006/main">
            <a:off x="3276600" y="2781300"/>
            <a:ext cx="2362200" cy="1257300"/>
          </a:xfrm>
          <a:prstGeom xmlns:a="http://schemas.openxmlformats.org/drawingml/2006/main" prst="roundRect">
            <a:avLst>
              <a:gd name="adj" fmla="val 6061"/>
            </a:avLst>
          </a:prstGeom>
          <a:solidFill xmlns:a="http://schemas.openxmlformats.org/drawingml/2006/main">
            <a:srgbClr val="FFFFFF"/>
          </a:solidFill>
          <a:ln xmlns:a="http://schemas.openxmlformats.org/drawingml/2006/main" w="9525">
            <a:solidFill>
              <a:srgbClr val="F0B8B1"/>
            </a:solidFill>
            <a:prstDash val="solid"/>
          </a:ln>
        </p:spPr>
      </p:sp>
      <p:sp>
        <p:nvSpPr>
          <p:cNvPr id="15" name="">
            <a:extLst xmlns:a="http://schemas.openxmlformats.org/drawingml/2006/main">
              <a:ext uri="{FF2B5EF4-FFF2-40B4-BE49-F238E27FC236}">
                <a16:creationId xmlns:a16="http://schemas.microsoft.com/office/drawing/2014/main" id="{F09C38BE-760C-4C5F-A894-25B0308F306B}"/>
              </a:ext>
            </a:extLst>
          </p:cNvPr>
          <p:cNvSpPr>
            <a:spLocks xmlns:a="http://schemas.openxmlformats.org/drawingml/2006/main" noGrp="1"/>
          </p:cNvSpPr>
          <p:nvPr/>
        </p:nvSpPr>
        <p:spPr>
          <a:xfrm xmlns:a="http://schemas.openxmlformats.org/drawingml/2006/main">
            <a:off x="3429000" y="2914650"/>
            <a:ext cx="20574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성과</a:t>
            </a:r>
          </a:p>
        </p:txBody>
      </p:sp>
      <p:sp>
        <p:nvSpPr>
          <p:cNvPr id="16" name="">
            <a:extLst xmlns:a="http://schemas.openxmlformats.org/drawingml/2006/main">
              <a:ext uri="{FF2B5EF4-FFF2-40B4-BE49-F238E27FC236}">
                <a16:creationId xmlns:a16="http://schemas.microsoft.com/office/drawing/2014/main" id="{845D08FA-A8E7-4C9C-A1D8-C4C6EA8C9E3A}"/>
              </a:ext>
            </a:extLst>
          </p:cNvPr>
          <p:cNvSpPr>
            <a:spLocks xmlns:a="http://schemas.openxmlformats.org/drawingml/2006/main" noGrp="1"/>
          </p:cNvSpPr>
          <p:nvPr/>
        </p:nvSpPr>
        <p:spPr>
          <a:xfrm xmlns:a="http://schemas.openxmlformats.org/drawingml/2006/main">
            <a:off x="3429000" y="3219450"/>
            <a:ext cx="20574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실제 차량 설계 프로세스 적용 및 후속 SW 도입 계약 성사</a:t>
            </a:r>
          </a:p>
        </p:txBody>
      </p:sp>
      <p:sp>
        <p:nvSpPr>
          <p:cNvPr id="17" name="">
            <a:extLst xmlns:a="http://schemas.openxmlformats.org/drawingml/2006/main">
              <a:ext uri="{FF2B5EF4-FFF2-40B4-BE49-F238E27FC236}">
                <a16:creationId xmlns:a16="http://schemas.microsoft.com/office/drawing/2014/main" id="{C535B4E1-3B37-493C-A7D2-A0E926D01396}"/>
              </a:ext>
            </a:extLst>
          </p:cNvPr>
          <p:cNvSpPr>
            <a:spLocks xmlns:a="http://schemas.openxmlformats.org/drawingml/2006/main" noGrp="1"/>
          </p:cNvSpPr>
          <p:nvPr/>
        </p:nvSpPr>
        <p:spPr>
          <a:xfrm xmlns:a="http://schemas.openxmlformats.org/drawingml/2006/main">
            <a:off x="685800" y="4476750"/>
            <a:ext cx="838200" cy="266700"/>
          </a:xfrm>
          <a:prstGeom xmlns:a="http://schemas.openxmlformats.org/drawingml/2006/main" prst="roundRect">
            <a:avLst>
              <a:gd name="adj" fmla="val 28571"/>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직무 연결</a:t>
            </a:r>
          </a:p>
        </p:txBody>
      </p:sp>
      <p:sp>
        <p:nvSpPr>
          <p:cNvPr id="18" name="">
            <a:extLst xmlns:a="http://schemas.openxmlformats.org/drawingml/2006/main">
              <a:ext uri="{FF2B5EF4-FFF2-40B4-BE49-F238E27FC236}">
                <a16:creationId xmlns:a16="http://schemas.microsoft.com/office/drawing/2014/main" id="{36D6B134-1D6A-4408-8BBA-5C6ED9F6DD8F}"/>
              </a:ext>
            </a:extLst>
          </p:cNvPr>
          <p:cNvSpPr>
            <a:spLocks xmlns:a="http://schemas.openxmlformats.org/drawingml/2006/main" noGrp="1"/>
          </p:cNvSpPr>
          <p:nvPr/>
        </p:nvSpPr>
        <p:spPr>
          <a:xfrm xmlns:a="http://schemas.openxmlformats.org/drawingml/2006/main">
            <a:off x="1676400" y="44577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95741"/>
          </a:bodyPr>
          <a:lstStyle xmlns:a="http://schemas.openxmlformats.org/drawingml/2006/main"/>
          <a:p xmlns:a="http://schemas.openxmlformats.org/drawingml/2006/main">
            <a:pPr algn="l">
              <a:lnSpc>
                <a:spcPct val="108000"/>
              </a:lnSpc>
              <a:buNone/>
              <a:defRPr sz="1088" b="1">
                <a:solidFill>
                  <a:srgbClr val="111827"/>
                </a:solidFill>
                <a:latin typeface="Pretendard"/>
                <a:ea typeface="Pretendard"/>
                <a:cs typeface="Pretendard"/>
              </a:defRPr>
            </a:pPr>
            <a:r>
              <a:rPr sz="1088" b="1">
                <a:solidFill>
                  <a:srgbClr val="111827"/>
                </a:solidFill>
                <a:latin typeface="Pretendard"/>
                <a:ea typeface="Pretendard"/>
                <a:cs typeface="Pretendard"/>
              </a:rPr>
              <a:t>요구사항 분석, 알고리즘 구현, 사용자 workflow 설계를 한 프로젝트 안에서 수행했습니다.</a:t>
            </a:r>
          </a:p>
        </p:txBody>
      </p:sp>
      <p:sp>
        <p:nvSpPr>
          <p:cNvPr id="19" name="">
            <a:extLst xmlns:a="http://schemas.openxmlformats.org/drawingml/2006/main">
              <a:ext uri="{FF2B5EF4-FFF2-40B4-BE49-F238E27FC236}">
                <a16:creationId xmlns:a16="http://schemas.microsoft.com/office/drawing/2014/main" id="{2ED5320E-D909-41C5-BBF8-77FDA7A29FAA}"/>
              </a:ext>
            </a:extLst>
          </p:cNvPr>
          <p:cNvSpPr>
            <a:spLocks xmlns:a="http://schemas.openxmlformats.org/drawingml/2006/main" noGrp="1"/>
          </p:cNvSpPr>
          <p:nvPr/>
        </p:nvSpPr>
        <p:spPr>
          <a:xfrm xmlns:a="http://schemas.openxmlformats.org/drawingml/2006/main">
            <a:off x="6629400" y="1428750"/>
            <a:ext cx="4876800" cy="3829050"/>
          </a:xfrm>
          <a:prstGeom xmlns:a="http://schemas.openxmlformats.org/drawingml/2006/main" prst="roundRect">
            <a:avLst>
              <a:gd name="adj" fmla="val 1990"/>
            </a:avLst>
          </a:prstGeom>
          <a:solidFill xmlns:a="http://schemas.openxmlformats.org/drawingml/2006/main">
            <a:srgbClr val="F4F5F6"/>
          </a:solidFill>
          <a:ln xmlns:a="http://schemas.openxmlformats.org/drawingml/2006/main" w="14288">
            <a:solidFill>
              <a:srgbClr val="AEB4BB"/>
            </a:solidFill>
            <a:prstDash val="dash"/>
          </a:ln>
        </p:spPr>
      </p:sp>
      <p:sp>
        <p:nvSpPr>
          <p:cNvPr id="20" name="">
            <a:extLst xmlns:a="http://schemas.openxmlformats.org/drawingml/2006/main">
              <a:ext uri="{FF2B5EF4-FFF2-40B4-BE49-F238E27FC236}">
                <a16:creationId xmlns:a16="http://schemas.microsoft.com/office/drawing/2014/main" id="{53B2A91A-D319-45C6-A4F7-1349640F1A55}"/>
              </a:ext>
            </a:extLst>
          </p:cNvPr>
          <p:cNvSpPr>
            <a:spLocks xmlns:a="http://schemas.openxmlformats.org/drawingml/2006/main" noGrp="1"/>
          </p:cNvSpPr>
          <p:nvPr/>
        </p:nvSpPr>
        <p:spPr>
          <a:xfrm xmlns:a="http://schemas.openxmlformats.org/drawingml/2006/main">
            <a:off x="6819900" y="1657350"/>
            <a:ext cx="44958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최적화 흐름도 / DOE·응답면 그래프 / UI 캡처</a:t>
            </a:r>
          </a:p>
        </p:txBody>
      </p:sp>
      <p:sp>
        <p:nvSpPr>
          <p:cNvPr id="21" name="">
            <a:extLst xmlns:a="http://schemas.openxmlformats.org/drawingml/2006/main">
              <a:ext uri="{FF2B5EF4-FFF2-40B4-BE49-F238E27FC236}">
                <a16:creationId xmlns:a16="http://schemas.microsoft.com/office/drawing/2014/main" id="{C23CAA8E-1CF8-4086-806D-B37BDAC657A7}"/>
              </a:ext>
            </a:extLst>
          </p:cNvPr>
          <p:cNvSpPr>
            <a:spLocks xmlns:a="http://schemas.openxmlformats.org/drawingml/2006/main" noGrp="1"/>
          </p:cNvSpPr>
          <p:nvPr/>
        </p:nvSpPr>
        <p:spPr>
          <a:xfrm xmlns:a="http://schemas.openxmlformats.org/drawingml/2006/main">
            <a:off x="6915150" y="2019300"/>
            <a:ext cx="43053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최적화 프로세스 도식, DOE 결과,</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응답면 그래프, 사용자 UI 화면 중</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공개 가능한 이미지를 삽입하세요.</a:t>
            </a:r>
          </a:p>
        </p:txBody>
      </p:sp>
      <p:sp>
        <p:nvSpPr>
          <p:cNvPr id="22" name="">
            <a:extLst xmlns:a="http://schemas.openxmlformats.org/drawingml/2006/main">
              <a:ext uri="{FF2B5EF4-FFF2-40B4-BE49-F238E27FC236}">
                <a16:creationId xmlns:a16="http://schemas.microsoft.com/office/drawing/2014/main" id="{779054D2-A326-45E2-AA55-4FB53C18547B}"/>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23" name="">
            <a:extLst xmlns:a="http://schemas.openxmlformats.org/drawingml/2006/main">
              <a:ext uri="{FF2B5EF4-FFF2-40B4-BE49-F238E27FC236}">
                <a16:creationId xmlns:a16="http://schemas.microsoft.com/office/drawing/2014/main" id="{3A6E7ACC-196A-4F4D-AB00-58828826F63A}"/>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최적화 흐름도, DOE/응답면 그래프, 사용자 맞춤 UI 캡처를 넣습니다.</a:t>
            </a:r>
          </a:p>
        </p:txBody>
      </p:sp>
      <p:sp>
        <p:nvSpPr>
          <p:cNvPr id="24" name="">
            <a:extLst xmlns:a="http://schemas.openxmlformats.org/drawingml/2006/main">
              <a:ext uri="{FF2B5EF4-FFF2-40B4-BE49-F238E27FC236}">
                <a16:creationId xmlns:a16="http://schemas.microsoft.com/office/drawing/2014/main" id="{E81D4715-CE4E-4986-B064-53AF0660243A}"/>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5 / 10</a:t>
            </a:r>
          </a:p>
        </p:txBody>
      </p:sp>
    </p:spTree>
    <p:extLst>
      <p:ext uri="{BB962C8B-B14F-4D97-AF65-F5344CB8AC3E}">
        <p14:creationId xmlns:p14="http://schemas.microsoft.com/office/powerpoint/2010/main" val="494077953"/>
      </p:ext>
    </p:extLst>
  </p:cSld>
</p:sld>
</file>

<file path=ppt/slides/slide6.xml><?xml version="1.0" encoding="utf-8"?>
<p:sld xmlns:p="http://schemas.openxmlformats.org/presentationml/2006/main">
  <p:cSld>
    <p:bg>
      <p:bgPr>
        <a:solidFill xmlns:a="http://schemas.openxmlformats.org/drawingml/2006/main">
          <a:srgbClr val="12171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4D32E92-55D1-45CA-93C8-DB51317A91C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2171C"/>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965E0A7-ACA8-4CEB-A212-0E117B6FB472}"/>
              </a:ext>
            </a:extLst>
          </p:cNvPr>
          <p:cNvSpPr>
            <a:spLocks xmlns:a="http://schemas.openxmlformats.org/drawingml/2006/main" noGrp="1"/>
          </p:cNvSpPr>
          <p:nvPr/>
        </p:nvSpPr>
        <p:spPr>
          <a:xfrm xmlns:a="http://schemas.openxmlformats.org/drawingml/2006/main">
            <a:off x="523875" y="1390650"/>
            <a:ext cx="26670" cy="2667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2248C7C2-1AE7-459E-96B8-1F3B92943408}"/>
              </a:ext>
            </a:extLst>
          </p:cNvPr>
          <p:cNvSpPr>
            <a:spLocks xmlns:a="http://schemas.openxmlformats.org/drawingml/2006/main" noGrp="1"/>
          </p:cNvSpPr>
          <p:nvPr/>
        </p:nvSpPr>
        <p:spPr>
          <a:xfrm xmlns:a="http://schemas.openxmlformats.org/drawingml/2006/main">
            <a:off x="1390650" y="18383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94028013-EAE4-4F38-A726-6EB1DCD3204C}"/>
              </a:ext>
            </a:extLst>
          </p:cNvPr>
          <p:cNvSpPr>
            <a:spLocks xmlns:a="http://schemas.openxmlformats.org/drawingml/2006/main" noGrp="1"/>
          </p:cNvSpPr>
          <p:nvPr/>
        </p:nvSpPr>
        <p:spPr>
          <a:xfrm xmlns:a="http://schemas.openxmlformats.org/drawingml/2006/main">
            <a:off x="2257425" y="22860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B78840-14D9-4A3D-92CA-C51FC67EC6DB}"/>
              </a:ext>
            </a:extLst>
          </p:cNvPr>
          <p:cNvSpPr>
            <a:spLocks xmlns:a="http://schemas.openxmlformats.org/drawingml/2006/main" noGrp="1"/>
          </p:cNvSpPr>
          <p:nvPr/>
        </p:nvSpPr>
        <p:spPr>
          <a:xfrm xmlns:a="http://schemas.openxmlformats.org/drawingml/2006/main">
            <a:off x="3124200" y="273367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78547203-68F0-49D3-AB5F-032A71179AC9}"/>
              </a:ext>
            </a:extLst>
          </p:cNvPr>
          <p:cNvSpPr>
            <a:spLocks xmlns:a="http://schemas.openxmlformats.org/drawingml/2006/main" noGrp="1"/>
          </p:cNvSpPr>
          <p:nvPr/>
        </p:nvSpPr>
        <p:spPr>
          <a:xfrm xmlns:a="http://schemas.openxmlformats.org/drawingml/2006/main">
            <a:off x="3990975" y="31813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4CF54CC6-5A3A-4DD9-9EAE-875AC9F21CFE}"/>
              </a:ext>
            </a:extLst>
          </p:cNvPr>
          <p:cNvSpPr>
            <a:spLocks xmlns:a="http://schemas.openxmlformats.org/drawingml/2006/main" noGrp="1"/>
          </p:cNvSpPr>
          <p:nvPr/>
        </p:nvSpPr>
        <p:spPr>
          <a:xfrm xmlns:a="http://schemas.openxmlformats.org/drawingml/2006/main">
            <a:off x="4857750" y="3629025"/>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5DA71DA-3277-422A-A692-B54A812CB0F9}"/>
              </a:ext>
            </a:extLst>
          </p:cNvPr>
          <p:cNvSpPr>
            <a:spLocks xmlns:a="http://schemas.openxmlformats.org/drawingml/2006/main" noGrp="1"/>
          </p:cNvSpPr>
          <p:nvPr/>
        </p:nvSpPr>
        <p:spPr>
          <a:xfrm xmlns:a="http://schemas.openxmlformats.org/drawingml/2006/main">
            <a:off x="5724525" y="4076700"/>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C054547B-D4B7-417A-8FEB-6126BF9FECE9}"/>
              </a:ext>
            </a:extLst>
          </p:cNvPr>
          <p:cNvSpPr>
            <a:spLocks xmlns:a="http://schemas.openxmlformats.org/drawingml/2006/main" noGrp="1"/>
          </p:cNvSpPr>
          <p:nvPr/>
        </p:nvSpPr>
        <p:spPr>
          <a:xfrm xmlns:a="http://schemas.openxmlformats.org/drawingml/2006/main">
            <a:off x="6591300" y="45243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DB34714-CEAF-4041-9481-94E20411100B}"/>
              </a:ext>
            </a:extLst>
          </p:cNvPr>
          <p:cNvSpPr>
            <a:spLocks xmlns:a="http://schemas.openxmlformats.org/drawingml/2006/main" noGrp="1"/>
          </p:cNvSpPr>
          <p:nvPr/>
        </p:nvSpPr>
        <p:spPr>
          <a:xfrm xmlns:a="http://schemas.openxmlformats.org/drawingml/2006/main">
            <a:off x="7458075" y="49720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8068B4A8-2FAA-4F90-8A3B-3B37A69F7666}"/>
              </a:ext>
            </a:extLst>
          </p:cNvPr>
          <p:cNvSpPr>
            <a:spLocks xmlns:a="http://schemas.openxmlformats.org/drawingml/2006/main" noGrp="1"/>
          </p:cNvSpPr>
          <p:nvPr/>
        </p:nvSpPr>
        <p:spPr>
          <a:xfrm xmlns:a="http://schemas.openxmlformats.org/drawingml/2006/main">
            <a:off x="8324850" y="541972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D194EB1-ABDF-4422-9488-06A50D277029}"/>
              </a:ext>
            </a:extLst>
          </p:cNvPr>
          <p:cNvSpPr>
            <a:spLocks xmlns:a="http://schemas.openxmlformats.org/drawingml/2006/main" noGrp="1"/>
          </p:cNvSpPr>
          <p:nvPr/>
        </p:nvSpPr>
        <p:spPr>
          <a:xfrm xmlns:a="http://schemas.openxmlformats.org/drawingml/2006/main">
            <a:off x="9191625" y="1485900"/>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E8B4371C-D181-495C-9A56-8E2EDFC2A91F}"/>
              </a:ext>
            </a:extLst>
          </p:cNvPr>
          <p:cNvSpPr>
            <a:spLocks xmlns:a="http://schemas.openxmlformats.org/drawingml/2006/main" noGrp="1"/>
          </p:cNvSpPr>
          <p:nvPr/>
        </p:nvSpPr>
        <p:spPr>
          <a:xfrm xmlns:a="http://schemas.openxmlformats.org/drawingml/2006/main">
            <a:off x="10058400" y="19335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6C1754C-65C3-4CC5-919A-85B7D76D14E3}"/>
              </a:ext>
            </a:extLst>
          </p:cNvPr>
          <p:cNvSpPr>
            <a:spLocks xmlns:a="http://schemas.openxmlformats.org/drawingml/2006/main" noGrp="1"/>
          </p:cNvSpPr>
          <p:nvPr/>
        </p:nvSpPr>
        <p:spPr>
          <a:xfrm xmlns:a="http://schemas.openxmlformats.org/drawingml/2006/main">
            <a:off x="10925175" y="2381250"/>
            <a:ext cx="19050" cy="1905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B05826F5-01A6-42F5-A394-69BD5764E680}"/>
              </a:ext>
            </a:extLst>
          </p:cNvPr>
          <p:cNvSpPr>
            <a:spLocks xmlns:a="http://schemas.openxmlformats.org/drawingml/2006/main" noGrp="1"/>
          </p:cNvSpPr>
          <p:nvPr/>
        </p:nvSpPr>
        <p:spPr>
          <a:xfrm xmlns:a="http://schemas.openxmlformats.org/drawingml/2006/main">
            <a:off x="838200" y="28289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35C2CAD-8E06-495D-9C38-E49DECAA4921}"/>
              </a:ext>
            </a:extLst>
          </p:cNvPr>
          <p:cNvSpPr>
            <a:spLocks xmlns:a="http://schemas.openxmlformats.org/drawingml/2006/main" noGrp="1"/>
          </p:cNvSpPr>
          <p:nvPr/>
        </p:nvSpPr>
        <p:spPr>
          <a:xfrm xmlns:a="http://schemas.openxmlformats.org/drawingml/2006/main">
            <a:off x="1704975" y="32766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0E48F5EB-77BF-4EE6-92A7-02DBBC4D71A4}"/>
              </a:ext>
            </a:extLst>
          </p:cNvPr>
          <p:cNvSpPr>
            <a:spLocks xmlns:a="http://schemas.openxmlformats.org/drawingml/2006/main" noGrp="1"/>
          </p:cNvSpPr>
          <p:nvPr/>
        </p:nvSpPr>
        <p:spPr>
          <a:xfrm xmlns:a="http://schemas.openxmlformats.org/drawingml/2006/main">
            <a:off x="2571750" y="3724275"/>
            <a:ext cx="26670" cy="2667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F7A816D7-095C-47E0-9A51-757D8190A93D}"/>
              </a:ext>
            </a:extLst>
          </p:cNvPr>
          <p:cNvSpPr>
            <a:spLocks xmlns:a="http://schemas.openxmlformats.org/drawingml/2006/main" noGrp="1"/>
          </p:cNvSpPr>
          <p:nvPr/>
        </p:nvSpPr>
        <p:spPr>
          <a:xfrm xmlns:a="http://schemas.openxmlformats.org/drawingml/2006/main">
            <a:off x="3438525" y="4171950"/>
            <a:ext cx="13335" cy="13335"/>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2A7F526A-E8E9-4465-941C-1B73121A9B44}"/>
              </a:ext>
            </a:extLst>
          </p:cNvPr>
          <p:cNvSpPr>
            <a:spLocks xmlns:a="http://schemas.openxmlformats.org/drawingml/2006/main" noGrp="1"/>
          </p:cNvSpPr>
          <p:nvPr/>
        </p:nvSpPr>
        <p:spPr>
          <a:xfrm xmlns:a="http://schemas.openxmlformats.org/drawingml/2006/main">
            <a:off x="4305300" y="461962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C1E7E4B3-348D-4F34-88A0-F31191FF0082}"/>
              </a:ext>
            </a:extLst>
          </p:cNvPr>
          <p:cNvSpPr>
            <a:spLocks xmlns:a="http://schemas.openxmlformats.org/drawingml/2006/main" noGrp="1"/>
          </p:cNvSpPr>
          <p:nvPr/>
        </p:nvSpPr>
        <p:spPr>
          <a:xfrm xmlns:a="http://schemas.openxmlformats.org/drawingml/2006/main">
            <a:off x="5172075" y="5067300"/>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615F0E88-A18B-4914-88B3-8C6B37C9EB3A}"/>
              </a:ext>
            </a:extLst>
          </p:cNvPr>
          <p:cNvSpPr>
            <a:spLocks xmlns:a="http://schemas.openxmlformats.org/drawingml/2006/main" noGrp="1"/>
          </p:cNvSpPr>
          <p:nvPr/>
        </p:nvSpPr>
        <p:spPr>
          <a:xfrm xmlns:a="http://schemas.openxmlformats.org/drawingml/2006/main">
            <a:off x="6038850" y="11334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10403FB-E35C-419B-B846-BF394DBFA0FE}"/>
              </a:ext>
            </a:extLst>
          </p:cNvPr>
          <p:cNvSpPr>
            <a:spLocks xmlns:a="http://schemas.openxmlformats.org/drawingml/2006/main" noGrp="1"/>
          </p:cNvSpPr>
          <p:nvPr/>
        </p:nvSpPr>
        <p:spPr>
          <a:xfrm xmlns:a="http://schemas.openxmlformats.org/drawingml/2006/main">
            <a:off x="6905625" y="1581150"/>
            <a:ext cx="26670" cy="26670"/>
          </a:xfrm>
          <a:prstGeom xmlns:a="http://schemas.openxmlformats.org/drawingml/2006/main" prst="ellipse">
            <a:avLst/>
          </a:prstGeom>
          <a:solidFill xmlns:a="http://schemas.openxmlformats.org/drawingml/2006/main">
            <a:srgbClr val="E03C31">
              <a:alpha val="60000"/>
            </a:srgbClr>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A0153EE4-C184-4525-B969-3BD38877433B}"/>
              </a:ext>
            </a:extLst>
          </p:cNvPr>
          <p:cNvSpPr>
            <a:spLocks xmlns:a="http://schemas.openxmlformats.org/drawingml/2006/main" noGrp="1"/>
          </p:cNvSpPr>
          <p:nvPr/>
        </p:nvSpPr>
        <p:spPr>
          <a:xfrm xmlns:a="http://schemas.openxmlformats.org/drawingml/2006/main">
            <a:off x="7772400" y="2028825"/>
            <a:ext cx="19050" cy="19050"/>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28ED57D-7703-4913-9388-33444EB249DA}"/>
              </a:ext>
            </a:extLst>
          </p:cNvPr>
          <p:cNvSpPr>
            <a:spLocks xmlns:a="http://schemas.openxmlformats.org/drawingml/2006/main" noGrp="1"/>
          </p:cNvSpPr>
          <p:nvPr/>
        </p:nvSpPr>
        <p:spPr>
          <a:xfrm xmlns:a="http://schemas.openxmlformats.org/drawingml/2006/main">
            <a:off x="8639175" y="2476500"/>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74FB05D-4C84-4F60-8107-CD0964B5B863}"/>
              </a:ext>
            </a:extLst>
          </p:cNvPr>
          <p:cNvSpPr>
            <a:spLocks xmlns:a="http://schemas.openxmlformats.org/drawingml/2006/main" noGrp="1"/>
          </p:cNvSpPr>
          <p:nvPr/>
        </p:nvSpPr>
        <p:spPr>
          <a:xfrm xmlns:a="http://schemas.openxmlformats.org/drawingml/2006/main">
            <a:off x="9505950" y="2924175"/>
            <a:ext cx="13335" cy="13335"/>
          </a:xfrm>
          <a:prstGeom xmlns:a="http://schemas.openxmlformats.org/drawingml/2006/main" prst="ellipse">
            <a:avLst/>
          </a:prstGeom>
          <a:solidFill xmlns:a="http://schemas.openxmlformats.org/drawingml/2006/main">
            <a:srgbClr val="FFFFFF">
              <a:alpha val="55000"/>
            </a:srgbClr>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64BDD45-F240-43CC-A615-567A62568107}"/>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8E2801F-4A26-4955-8BE1-B46D455238E4}"/>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06</a:t>
            </a:r>
          </a:p>
        </p:txBody>
      </p:sp>
      <p:sp>
        <p:nvSpPr>
          <p:cNvPr id="28" name="">
            <a:extLst xmlns:a="http://schemas.openxmlformats.org/drawingml/2006/main">
              <a:ext uri="{FF2B5EF4-FFF2-40B4-BE49-F238E27FC236}">
                <a16:creationId xmlns:a16="http://schemas.microsoft.com/office/drawing/2014/main" id="{780037B4-9E83-4EE9-9240-B1DAEC5A4806}"/>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FFFFFF"/>
                </a:solidFill>
                <a:latin typeface="Pretendard"/>
                <a:ea typeface="Pretendard"/>
                <a:cs typeface="Pretendard"/>
              </a:defRPr>
            </a:pPr>
            <a:r>
              <a:rPr sz="2250" b="1">
                <a:solidFill>
                  <a:srgbClr val="FFFFFF"/>
                </a:solidFill>
                <a:latin typeface="Pretendard"/>
                <a:ea typeface="Pretendard"/>
                <a:cs typeface="Pretendard"/>
              </a:rPr>
              <a:t>N.I.N.A Manual Focuser Plugin</a:t>
            </a:r>
          </a:p>
        </p:txBody>
      </p:sp>
      <p:sp>
        <p:nvSpPr>
          <p:cNvPr id="29" name="">
            <a:extLst xmlns:a="http://schemas.openxmlformats.org/drawingml/2006/main">
              <a:ext uri="{FF2B5EF4-FFF2-40B4-BE49-F238E27FC236}">
                <a16:creationId xmlns:a16="http://schemas.microsoft.com/office/drawing/2014/main" id="{51A83E32-6117-4D27-BF05-4F0F159F7067}"/>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D7DCE0"/>
                </a:solidFill>
                <a:latin typeface="Pretendard"/>
                <a:ea typeface="Pretendard"/>
                <a:cs typeface="Pretendard"/>
              </a:defRPr>
            </a:pPr>
            <a:r>
              <a:rPr sz="1163" b="0">
                <a:solidFill>
                  <a:srgbClr val="D7DCE0"/>
                </a:solidFill>
                <a:latin typeface="Pretendard"/>
                <a:ea typeface="Pretendard"/>
                <a:cs typeface="Pretendard"/>
              </a:rPr>
              <a:t>천문 관측 workflow를 직접 사용하고, 필요한 기능을 플러그인으로 확장했습니다.</a:t>
            </a:r>
          </a:p>
        </p:txBody>
      </p:sp>
      <p:sp>
        <p:nvSpPr>
          <p:cNvPr id="30" name="">
            <a:extLst xmlns:a="http://schemas.openxmlformats.org/drawingml/2006/main">
              <a:ext uri="{FF2B5EF4-FFF2-40B4-BE49-F238E27FC236}">
                <a16:creationId xmlns:a16="http://schemas.microsoft.com/office/drawing/2014/main" id="{DD8092B8-18BD-4693-8871-77C40FDDDFD5}"/>
              </a:ext>
            </a:extLst>
          </p:cNvPr>
          <p:cNvSpPr>
            <a:spLocks xmlns:a="http://schemas.openxmlformats.org/drawingml/2006/main" noGrp="1"/>
          </p:cNvSpPr>
          <p:nvPr/>
        </p:nvSpPr>
        <p:spPr>
          <a:xfrm xmlns:a="http://schemas.openxmlformats.org/drawingml/2006/main">
            <a:off x="685800" y="1257300"/>
            <a:ext cx="1028700" cy="266700"/>
          </a:xfrm>
          <a:prstGeom xmlns:a="http://schemas.openxmlformats.org/drawingml/2006/main" prst="roundRect">
            <a:avLst>
              <a:gd name="adj" fmla="val 28571"/>
            </a:avLst>
          </a:prstGeom>
          <a:solidFill xmlns:a="http://schemas.openxmlformats.org/drawingml/2006/main">
            <a:srgbClr val="362725"/>
          </a:solidFill>
          <a:ln xmlns:a="http://schemas.openxmlformats.org/drawingml/2006/main" w="9525">
            <a:solidFill>
              <a:srgbClr val="5E3934"/>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FFB6AE"/>
                </a:solidFill>
                <a:latin typeface="Pretendard"/>
                <a:ea typeface="Pretendard"/>
                <a:cs typeface="Pretendard"/>
              </a:defRPr>
            </a:pPr>
            <a:r>
              <a:rPr sz="863" b="1">
                <a:solidFill>
                  <a:srgbClr val="FFB6AE"/>
                </a:solidFill>
                <a:latin typeface="Pretendard"/>
                <a:ea typeface="Pretendard"/>
                <a:cs typeface="Pretendard"/>
              </a:rPr>
              <a:t>개인 프로젝트</a:t>
            </a:r>
          </a:p>
        </p:txBody>
      </p:sp>
      <p:sp>
        <p:nvSpPr>
          <p:cNvPr id="31" name="">
            <a:extLst xmlns:a="http://schemas.openxmlformats.org/drawingml/2006/main">
              <a:ext uri="{FF2B5EF4-FFF2-40B4-BE49-F238E27FC236}">
                <a16:creationId xmlns:a16="http://schemas.microsoft.com/office/drawing/2014/main" id="{47B76746-F803-489C-9D2C-578888E59F35}"/>
              </a:ext>
            </a:extLst>
          </p:cNvPr>
          <p:cNvSpPr>
            <a:spLocks xmlns:a="http://schemas.openxmlformats.org/drawingml/2006/main" noGrp="1"/>
          </p:cNvSpPr>
          <p:nvPr/>
        </p:nvSpPr>
        <p:spPr>
          <a:xfrm xmlns:a="http://schemas.openxmlformats.org/drawingml/2006/main">
            <a:off x="1847850" y="1247775"/>
            <a:ext cx="4333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13" b="1">
                <a:solidFill>
                  <a:srgbClr val="A7D6E5"/>
                </a:solidFill>
                <a:latin typeface="Pretendard"/>
                <a:ea typeface="Pretendard"/>
                <a:cs typeface="Pretendard"/>
              </a:defRPr>
            </a:pPr>
            <a:r>
              <a:rPr sz="1013" b="1">
                <a:solidFill>
                  <a:srgbClr val="A7D6E5"/>
                </a:solidFill>
                <a:latin typeface="Pretendard"/>
                <a:ea typeface="Pretendard"/>
                <a:cs typeface="Pretendard"/>
              </a:rPr>
              <a:t>GitHub: github.com/squallseo/Nina.Manualfocuser</a:t>
            </a:r>
          </a:p>
        </p:txBody>
      </p:sp>
      <p:sp>
        <p:nvSpPr>
          <p:cNvPr id="32" name="">
            <a:extLst xmlns:a="http://schemas.openxmlformats.org/drawingml/2006/main">
              <a:ext uri="{FF2B5EF4-FFF2-40B4-BE49-F238E27FC236}">
                <a16:creationId xmlns:a16="http://schemas.microsoft.com/office/drawing/2014/main" id="{E2B27C5F-91D2-439B-91EF-AD7C23CEE667}"/>
              </a:ext>
            </a:extLst>
          </p:cNvPr>
          <p:cNvSpPr>
            <a:spLocks xmlns:a="http://schemas.openxmlformats.org/drawingml/2006/main" noGrp="1"/>
          </p:cNvSpPr>
          <p:nvPr/>
        </p:nvSpPr>
        <p:spPr>
          <a:xfrm xmlns:a="http://schemas.openxmlformats.org/drawingml/2006/main">
            <a:off x="685800" y="1790700"/>
            <a:ext cx="1238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200" b="1">
                <a:solidFill>
                  <a:srgbClr val="FFFFFF"/>
                </a:solidFill>
                <a:latin typeface="Pretendard"/>
                <a:ea typeface="Pretendard"/>
                <a:cs typeface="Pretendard"/>
              </a:defRPr>
            </a:pPr>
            <a:r>
              <a:rPr sz="1200" b="1">
                <a:solidFill>
                  <a:srgbClr val="FFFFFF"/>
                </a:solidFill>
                <a:latin typeface="Pretendard"/>
                <a:ea typeface="Pretendard"/>
                <a:cs typeface="Pretendard"/>
              </a:rPr>
              <a:t>개발 목적</a:t>
            </a:r>
          </a:p>
        </p:txBody>
      </p:sp>
      <p:sp>
        <p:nvSpPr>
          <p:cNvPr id="33" name="">
            <a:extLst xmlns:a="http://schemas.openxmlformats.org/drawingml/2006/main">
              <a:ext uri="{FF2B5EF4-FFF2-40B4-BE49-F238E27FC236}">
                <a16:creationId xmlns:a16="http://schemas.microsoft.com/office/drawing/2014/main" id="{0FD40DC8-1481-462D-A9EC-29A5E0595C4B}"/>
              </a:ext>
            </a:extLst>
          </p:cNvPr>
          <p:cNvSpPr>
            <a:spLocks xmlns:a="http://schemas.openxmlformats.org/drawingml/2006/main" noGrp="1"/>
          </p:cNvSpPr>
          <p:nvPr/>
        </p:nvSpPr>
        <p:spPr>
          <a:xfrm xmlns:a="http://schemas.openxmlformats.org/drawingml/2006/main">
            <a:off x="685800" y="2095500"/>
            <a:ext cx="4953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2000"/>
              </a:lnSpc>
              <a:buNone/>
              <a:defRPr sz="1065" b="0">
                <a:solidFill>
                  <a:srgbClr val="D9DEE4"/>
                </a:solidFill>
                <a:latin typeface="Pretendard"/>
                <a:ea typeface="Pretendard"/>
                <a:cs typeface="Pretendard"/>
              </a:defRPr>
            </a:pPr>
            <a:r>
              <a:rPr sz="1065" b="0">
                <a:solidFill>
                  <a:srgbClr val="D9DEE4"/>
                </a:solidFill>
                <a:latin typeface="Pretendard"/>
                <a:ea typeface="Pretendard"/>
                <a:cs typeface="Pretendard"/>
              </a:rPr>
              <a:t>자동 포커서가 없는 환경에서도 수동 포커싱 과정을 더 편리하게 기록하고 보조하기 위해 개발했습니다.</a:t>
            </a:r>
          </a:p>
        </p:txBody>
      </p:sp>
      <p:sp>
        <p:nvSpPr>
          <p:cNvPr id="34" name="">
            <a:extLst xmlns:a="http://schemas.openxmlformats.org/drawingml/2006/main">
              <a:ext uri="{FF2B5EF4-FFF2-40B4-BE49-F238E27FC236}">
                <a16:creationId xmlns:a16="http://schemas.microsoft.com/office/drawing/2014/main" id="{1C7934FA-7FE8-4A77-B735-C55D31E1680F}"/>
              </a:ext>
            </a:extLst>
          </p:cNvPr>
          <p:cNvSpPr>
            <a:spLocks xmlns:a="http://schemas.openxmlformats.org/drawingml/2006/main" noGrp="1"/>
          </p:cNvSpPr>
          <p:nvPr/>
        </p:nvSpPr>
        <p:spPr>
          <a:xfrm xmlns:a="http://schemas.openxmlformats.org/drawingml/2006/main">
            <a:off x="685800" y="29908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200" b="1">
                <a:solidFill>
                  <a:srgbClr val="FFFFFF"/>
                </a:solidFill>
                <a:latin typeface="Pretendard"/>
                <a:ea typeface="Pretendard"/>
                <a:cs typeface="Pretendard"/>
              </a:defRPr>
            </a:pPr>
            <a:r>
              <a:rPr sz="1200" b="1">
                <a:solidFill>
                  <a:srgbClr val="FFFFFF"/>
                </a:solidFill>
                <a:latin typeface="Pretendard"/>
                <a:ea typeface="Pretendard"/>
                <a:cs typeface="Pretendard"/>
              </a:rPr>
              <a:t>채용 관점의 의미</a:t>
            </a:r>
          </a:p>
        </p:txBody>
      </p:sp>
      <p:sp>
        <p:nvSpPr>
          <p:cNvPr id="35" name="">
            <a:extLst xmlns:a="http://schemas.openxmlformats.org/drawingml/2006/main">
              <a:ext uri="{FF2B5EF4-FFF2-40B4-BE49-F238E27FC236}">
                <a16:creationId xmlns:a16="http://schemas.microsoft.com/office/drawing/2014/main" id="{B7A6709F-E4D6-43E6-80E9-537856999397}"/>
              </a:ext>
            </a:extLst>
          </p:cNvPr>
          <p:cNvSpPr>
            <a:spLocks xmlns:a="http://schemas.openxmlformats.org/drawingml/2006/main" noGrp="1"/>
          </p:cNvSpPr>
          <p:nvPr/>
        </p:nvSpPr>
        <p:spPr>
          <a:xfrm xmlns:a="http://schemas.openxmlformats.org/drawingml/2006/main">
            <a:off x="685800" y="3314700"/>
            <a:ext cx="495300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3000"/>
              </a:lnSpc>
              <a:buNone/>
              <a:defRPr sz="1065" b="0">
                <a:solidFill>
                  <a:srgbClr val="D9DEE4"/>
                </a:solidFill>
                <a:latin typeface="Pretendard"/>
                <a:ea typeface="Pretendard"/>
                <a:cs typeface="Pretendard"/>
              </a:defRPr>
            </a:pPr>
            <a:r>
              <a:rPr sz="1065" b="0">
                <a:solidFill>
                  <a:srgbClr val="D9DEE4"/>
                </a:solidFill>
                <a:latin typeface="Pretendard"/>
                <a:ea typeface="Pretendard"/>
                <a:cs typeface="Pretendard"/>
              </a:rPr>
              <a:t>• 오픈소스 구조 분석 후 기능 확장</a:t>
            </a:r>
          </a:p>
          <a:p xmlns:a="http://schemas.openxmlformats.org/drawingml/2006/main">
            <a:pPr algn="l">
              <a:lnSpc>
                <a:spcPct val="123000"/>
              </a:lnSpc>
              <a:buNone/>
              <a:defRPr sz="1065" b="0">
                <a:solidFill>
                  <a:srgbClr val="D9DEE4"/>
                </a:solidFill>
                <a:latin typeface="Pretendard"/>
                <a:ea typeface="Pretendard"/>
                <a:cs typeface="Pretendard"/>
              </a:defRPr>
            </a:pPr>
            <a:r>
              <a:rPr sz="1065" b="0">
                <a:solidFill>
                  <a:srgbClr val="D9DEE4"/>
                </a:solidFill>
                <a:latin typeface="Pretendard"/>
                <a:ea typeface="Pretendard"/>
                <a:cs typeface="Pretendard"/>
              </a:rPr>
              <a:t>• N.I.N.A 플러그인 구조 이해</a:t>
            </a:r>
          </a:p>
          <a:p xmlns:a="http://schemas.openxmlformats.org/drawingml/2006/main">
            <a:pPr algn="l">
              <a:lnSpc>
                <a:spcPct val="123000"/>
              </a:lnSpc>
              <a:buNone/>
              <a:defRPr sz="1065" b="0">
                <a:solidFill>
                  <a:srgbClr val="D9DEE4"/>
                </a:solidFill>
                <a:latin typeface="Pretendard"/>
                <a:ea typeface="Pretendard"/>
                <a:cs typeface="Pretendard"/>
              </a:defRPr>
            </a:pPr>
            <a:r>
              <a:rPr sz="1065" b="0">
                <a:solidFill>
                  <a:srgbClr val="D9DEE4"/>
                </a:solidFill>
                <a:latin typeface="Pretendard"/>
                <a:ea typeface="Pretendard"/>
                <a:cs typeface="Pretendard"/>
              </a:rPr>
              <a:t>• 천문 관측 workflow 기반 기능 설계</a:t>
            </a:r>
          </a:p>
          <a:p xmlns:a="http://schemas.openxmlformats.org/drawingml/2006/main">
            <a:pPr algn="l">
              <a:lnSpc>
                <a:spcPct val="123000"/>
              </a:lnSpc>
              <a:buNone/>
              <a:defRPr sz="1065" b="0">
                <a:solidFill>
                  <a:srgbClr val="D9DEE4"/>
                </a:solidFill>
                <a:latin typeface="Pretendard"/>
                <a:ea typeface="Pretendard"/>
                <a:cs typeface="Pretendard"/>
              </a:defRPr>
            </a:pPr>
            <a:r>
              <a:rPr sz="1065" b="0">
                <a:solidFill>
                  <a:srgbClr val="D9DEE4"/>
                </a:solidFill>
                <a:latin typeface="Pretendard"/>
                <a:ea typeface="Pretendard"/>
                <a:cs typeface="Pretendard"/>
              </a:rPr>
              <a:t>• 실제 사용 가능한 형태로 배포</a:t>
            </a:r>
          </a:p>
          <a:p xmlns:a="http://schemas.openxmlformats.org/drawingml/2006/main">
            <a:pPr algn="l">
              <a:lnSpc>
                <a:spcPct val="123000"/>
              </a:lnSpc>
              <a:buNone/>
              <a:defRPr sz="1065" b="0">
                <a:solidFill>
                  <a:srgbClr val="D9DEE4"/>
                </a:solidFill>
                <a:latin typeface="Pretendard"/>
                <a:ea typeface="Pretendard"/>
                <a:cs typeface="Pretendard"/>
              </a:defRPr>
            </a:pPr>
            <a:r>
              <a:rPr sz="1065" b="0">
                <a:solidFill>
                  <a:srgbClr val="D9DEE4"/>
                </a:solidFill>
                <a:latin typeface="Pretendard"/>
                <a:ea typeface="Pretendard"/>
                <a:cs typeface="Pretendard"/>
              </a:rPr>
              <a:t>• GitHub 기반 코드 관리</a:t>
            </a:r>
          </a:p>
        </p:txBody>
      </p:sp>
      <p:sp>
        <p:nvSpPr>
          <p:cNvPr id="36" name="">
            <a:extLst xmlns:a="http://schemas.openxmlformats.org/drawingml/2006/main">
              <a:ext uri="{FF2B5EF4-FFF2-40B4-BE49-F238E27FC236}">
                <a16:creationId xmlns:a16="http://schemas.microsoft.com/office/drawing/2014/main" id="{AD980DE8-FF15-433F-B4B9-A0CEA2BB8A92}"/>
              </a:ext>
            </a:extLst>
          </p:cNvPr>
          <p:cNvSpPr>
            <a:spLocks xmlns:a="http://schemas.openxmlformats.org/drawingml/2006/main" noGrp="1"/>
          </p:cNvSpPr>
          <p:nvPr/>
        </p:nvSpPr>
        <p:spPr>
          <a:xfrm xmlns:a="http://schemas.openxmlformats.org/drawingml/2006/main">
            <a:off x="6286500" y="1390650"/>
            <a:ext cx="2381250" cy="1524000"/>
          </a:xfrm>
          <a:prstGeom xmlns:a="http://schemas.openxmlformats.org/drawingml/2006/main" prst="roundRect">
            <a:avLst>
              <a:gd name="adj" fmla="val 5000"/>
            </a:avLst>
          </a:prstGeom>
          <a:solidFill xmlns:a="http://schemas.openxmlformats.org/drawingml/2006/main">
            <a:srgbClr val="2B3036"/>
          </a:solidFill>
          <a:ln xmlns:a="http://schemas.openxmlformats.org/drawingml/2006/main" w="14288">
            <a:solidFill>
              <a:srgbClr val="858B92"/>
            </a:solidFill>
            <a:prstDash val="dash"/>
          </a:ln>
        </p:spPr>
      </p:sp>
      <p:sp>
        <p:nvSpPr>
          <p:cNvPr id="37" name="">
            <a:extLst xmlns:a="http://schemas.openxmlformats.org/drawingml/2006/main">
              <a:ext uri="{FF2B5EF4-FFF2-40B4-BE49-F238E27FC236}">
                <a16:creationId xmlns:a16="http://schemas.microsoft.com/office/drawing/2014/main" id="{812FC491-56CA-408B-91A3-950C0F38554F}"/>
              </a:ext>
            </a:extLst>
          </p:cNvPr>
          <p:cNvSpPr>
            <a:spLocks xmlns:a="http://schemas.openxmlformats.org/drawingml/2006/main" noGrp="1"/>
          </p:cNvSpPr>
          <p:nvPr/>
        </p:nvSpPr>
        <p:spPr>
          <a:xfrm xmlns:a="http://schemas.openxmlformats.org/drawingml/2006/main">
            <a:off x="6477000" y="16192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F2F4F5"/>
                </a:solidFill>
                <a:latin typeface="Pretendard"/>
                <a:ea typeface="Pretendard"/>
                <a:cs typeface="Pretendard"/>
              </a:defRPr>
            </a:pPr>
            <a:r>
              <a:rPr sz="975" b="1">
                <a:solidFill>
                  <a:srgbClr val="F2F4F5"/>
                </a:solidFill>
                <a:latin typeface="Pretendard"/>
                <a:ea typeface="Pretendard"/>
                <a:cs typeface="Pretendard"/>
              </a:rPr>
              <a:t>GitHub 저장소 캡처</a:t>
            </a:r>
          </a:p>
        </p:txBody>
      </p:sp>
      <p:sp>
        <p:nvSpPr>
          <p:cNvPr id="38" name="">
            <a:extLst xmlns:a="http://schemas.openxmlformats.org/drawingml/2006/main">
              <a:ext uri="{FF2B5EF4-FFF2-40B4-BE49-F238E27FC236}">
                <a16:creationId xmlns:a16="http://schemas.microsoft.com/office/drawing/2014/main" id="{D03F65A4-49E6-4513-B02A-D03BF6D434E9}"/>
              </a:ext>
            </a:extLst>
          </p:cNvPr>
          <p:cNvSpPr>
            <a:spLocks xmlns:a="http://schemas.openxmlformats.org/drawingml/2006/main" noGrp="1"/>
          </p:cNvSpPr>
          <p:nvPr/>
        </p:nvSpPr>
        <p:spPr>
          <a:xfrm xmlns:a="http://schemas.openxmlformats.org/drawingml/2006/main">
            <a:off x="6572250" y="1981200"/>
            <a:ext cx="180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README, 코드 구조, 릴리스/커밋 내역이</a:t>
            </a:r>
          </a:p>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보이는 저장소 화면</a:t>
            </a:r>
          </a:p>
        </p:txBody>
      </p:sp>
      <p:sp>
        <p:nvSpPr>
          <p:cNvPr id="39" name="">
            <a:extLst xmlns:a="http://schemas.openxmlformats.org/drawingml/2006/main">
              <a:ext uri="{FF2B5EF4-FFF2-40B4-BE49-F238E27FC236}">
                <a16:creationId xmlns:a16="http://schemas.microsoft.com/office/drawing/2014/main" id="{CCDAC212-1019-43F2-867A-6D1D40EB54DE}"/>
              </a:ext>
            </a:extLst>
          </p:cNvPr>
          <p:cNvSpPr>
            <a:spLocks xmlns:a="http://schemas.openxmlformats.org/drawingml/2006/main" noGrp="1"/>
          </p:cNvSpPr>
          <p:nvPr/>
        </p:nvSpPr>
        <p:spPr>
          <a:xfrm xmlns:a="http://schemas.openxmlformats.org/drawingml/2006/main">
            <a:off x="8858250" y="1390650"/>
            <a:ext cx="2381250" cy="1524000"/>
          </a:xfrm>
          <a:prstGeom xmlns:a="http://schemas.openxmlformats.org/drawingml/2006/main" prst="roundRect">
            <a:avLst>
              <a:gd name="adj" fmla="val 5000"/>
            </a:avLst>
          </a:prstGeom>
          <a:solidFill xmlns:a="http://schemas.openxmlformats.org/drawingml/2006/main">
            <a:srgbClr val="2B3036"/>
          </a:solidFill>
          <a:ln xmlns:a="http://schemas.openxmlformats.org/drawingml/2006/main" w="14288">
            <a:solidFill>
              <a:srgbClr val="858B92"/>
            </a:solidFill>
            <a:prstDash val="dash"/>
          </a:ln>
        </p:spPr>
      </p:sp>
      <p:sp>
        <p:nvSpPr>
          <p:cNvPr id="40" name="">
            <a:extLst xmlns:a="http://schemas.openxmlformats.org/drawingml/2006/main">
              <a:ext uri="{FF2B5EF4-FFF2-40B4-BE49-F238E27FC236}">
                <a16:creationId xmlns:a16="http://schemas.microsoft.com/office/drawing/2014/main" id="{3CA5170D-A338-41D9-85B0-DEE86BE6C9F8}"/>
              </a:ext>
            </a:extLst>
          </p:cNvPr>
          <p:cNvSpPr>
            <a:spLocks xmlns:a="http://schemas.openxmlformats.org/drawingml/2006/main" noGrp="1"/>
          </p:cNvSpPr>
          <p:nvPr/>
        </p:nvSpPr>
        <p:spPr>
          <a:xfrm xmlns:a="http://schemas.openxmlformats.org/drawingml/2006/main">
            <a:off x="9048750" y="1619250"/>
            <a:ext cx="2000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F2F4F5"/>
                </a:solidFill>
                <a:latin typeface="Pretendard"/>
                <a:ea typeface="Pretendard"/>
                <a:cs typeface="Pretendard"/>
              </a:defRPr>
            </a:pPr>
            <a:r>
              <a:rPr sz="975" b="1">
                <a:solidFill>
                  <a:srgbClr val="F2F4F5"/>
                </a:solidFill>
                <a:latin typeface="Pretendard"/>
                <a:ea typeface="Pretendard"/>
                <a:cs typeface="Pretendard"/>
              </a:rPr>
              <a:t>플러그인 실행 화면</a:t>
            </a:r>
          </a:p>
        </p:txBody>
      </p:sp>
      <p:sp>
        <p:nvSpPr>
          <p:cNvPr id="41" name="">
            <a:extLst xmlns:a="http://schemas.openxmlformats.org/drawingml/2006/main">
              <a:ext uri="{FF2B5EF4-FFF2-40B4-BE49-F238E27FC236}">
                <a16:creationId xmlns:a16="http://schemas.microsoft.com/office/drawing/2014/main" id="{853E69B9-A3CC-49F9-807D-32FFF4424E52}"/>
              </a:ext>
            </a:extLst>
          </p:cNvPr>
          <p:cNvSpPr>
            <a:spLocks xmlns:a="http://schemas.openxmlformats.org/drawingml/2006/main" noGrp="1"/>
          </p:cNvSpPr>
          <p:nvPr/>
        </p:nvSpPr>
        <p:spPr>
          <a:xfrm xmlns:a="http://schemas.openxmlformats.org/drawingml/2006/main">
            <a:off x="9144000" y="1981200"/>
            <a:ext cx="1809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N.I.N.A 안에서 플러그인이 동작하는</a:t>
            </a:r>
          </a:p>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실제 UI 캡처</a:t>
            </a:r>
          </a:p>
        </p:txBody>
      </p:sp>
      <p:sp>
        <p:nvSpPr>
          <p:cNvPr id="42" name="">
            <a:extLst xmlns:a="http://schemas.openxmlformats.org/drawingml/2006/main">
              <a:ext uri="{FF2B5EF4-FFF2-40B4-BE49-F238E27FC236}">
                <a16:creationId xmlns:a16="http://schemas.microsoft.com/office/drawing/2014/main" id="{38E1CF13-9F9A-45D0-9059-ACCC28EAC688}"/>
              </a:ext>
            </a:extLst>
          </p:cNvPr>
          <p:cNvSpPr>
            <a:spLocks xmlns:a="http://schemas.openxmlformats.org/drawingml/2006/main" noGrp="1"/>
          </p:cNvSpPr>
          <p:nvPr/>
        </p:nvSpPr>
        <p:spPr>
          <a:xfrm xmlns:a="http://schemas.openxmlformats.org/drawingml/2006/main">
            <a:off x="6286500" y="3181350"/>
            <a:ext cx="4953000" cy="1809750"/>
          </a:xfrm>
          <a:prstGeom xmlns:a="http://schemas.openxmlformats.org/drawingml/2006/main" prst="roundRect">
            <a:avLst>
              <a:gd name="adj" fmla="val 4211"/>
            </a:avLst>
          </a:prstGeom>
          <a:solidFill xmlns:a="http://schemas.openxmlformats.org/drawingml/2006/main">
            <a:srgbClr val="2B3036"/>
          </a:solidFill>
          <a:ln xmlns:a="http://schemas.openxmlformats.org/drawingml/2006/main" w="14288">
            <a:solidFill>
              <a:srgbClr val="858B92"/>
            </a:solidFill>
            <a:prstDash val="dash"/>
          </a:ln>
        </p:spPr>
      </p:sp>
      <p:sp>
        <p:nvSpPr>
          <p:cNvPr id="43" name="">
            <a:extLst xmlns:a="http://schemas.openxmlformats.org/drawingml/2006/main">
              <a:ext uri="{FF2B5EF4-FFF2-40B4-BE49-F238E27FC236}">
                <a16:creationId xmlns:a16="http://schemas.microsoft.com/office/drawing/2014/main" id="{D402A699-8EB7-486E-BBAA-B20866F33131}"/>
              </a:ext>
            </a:extLst>
          </p:cNvPr>
          <p:cNvSpPr>
            <a:spLocks xmlns:a="http://schemas.openxmlformats.org/drawingml/2006/main" noGrp="1"/>
          </p:cNvSpPr>
          <p:nvPr/>
        </p:nvSpPr>
        <p:spPr>
          <a:xfrm xmlns:a="http://schemas.openxmlformats.org/drawingml/2006/main">
            <a:off x="6477000" y="34099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F2F4F5"/>
                </a:solidFill>
                <a:latin typeface="Pretendard"/>
                <a:ea typeface="Pretendard"/>
                <a:cs typeface="Pretendard"/>
              </a:defRPr>
            </a:pPr>
            <a:r>
              <a:rPr sz="975" b="1">
                <a:solidFill>
                  <a:srgbClr val="F2F4F5"/>
                </a:solidFill>
                <a:latin typeface="Pretendard"/>
                <a:ea typeface="Pretendard"/>
                <a:cs typeface="Pretendard"/>
              </a:rPr>
              <a:t>포커싱 Workflow 이미지</a:t>
            </a:r>
          </a:p>
        </p:txBody>
      </p:sp>
      <p:sp>
        <p:nvSpPr>
          <p:cNvPr id="44" name="">
            <a:extLst xmlns:a="http://schemas.openxmlformats.org/drawingml/2006/main">
              <a:ext uri="{FF2B5EF4-FFF2-40B4-BE49-F238E27FC236}">
                <a16:creationId xmlns:a16="http://schemas.microsoft.com/office/drawing/2014/main" id="{F2309EF7-0C6E-4D0B-8143-ED5FEE11F685}"/>
              </a:ext>
            </a:extLst>
          </p:cNvPr>
          <p:cNvSpPr>
            <a:spLocks xmlns:a="http://schemas.openxmlformats.org/drawingml/2006/main" noGrp="1"/>
          </p:cNvSpPr>
          <p:nvPr/>
        </p:nvSpPr>
        <p:spPr>
          <a:xfrm xmlns:a="http://schemas.openxmlformats.org/drawingml/2006/main">
            <a:off x="6572250" y="3771900"/>
            <a:ext cx="438150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수동 포커싱 절차, 기록 방식, 사용자 흐름을</a:t>
            </a:r>
          </a:p>
          <a:p xmlns:a="http://schemas.openxmlformats.org/drawingml/2006/main">
            <a:pPr algn="ctr">
              <a:lnSpc>
                <a:spcPct val="120000"/>
              </a:lnSpc>
              <a:buNone/>
              <a:defRPr sz="900" b="0">
                <a:solidFill>
                  <a:srgbClr val="C8D0D8"/>
                </a:solidFill>
                <a:latin typeface="Pretendard"/>
                <a:ea typeface="Pretendard"/>
                <a:cs typeface="Pretendard"/>
              </a:defRPr>
            </a:pPr>
            <a:r>
              <a:rPr sz="900" b="0">
                <a:solidFill>
                  <a:srgbClr val="C8D0D8"/>
                </a:solidFill>
                <a:latin typeface="Pretendard"/>
                <a:ea typeface="Pretendard"/>
                <a:cs typeface="Pretendard"/>
              </a:rPr>
              <a:t>한눈에 보여주는 다이어그램 또는 캡처</a:t>
            </a:r>
          </a:p>
        </p:txBody>
      </p:sp>
      <p:sp>
        <p:nvSpPr>
          <p:cNvPr id="45" name="">
            <a:extLst xmlns:a="http://schemas.openxmlformats.org/drawingml/2006/main">
              <a:ext uri="{FF2B5EF4-FFF2-40B4-BE49-F238E27FC236}">
                <a16:creationId xmlns:a16="http://schemas.microsoft.com/office/drawing/2014/main" id="{5C7E39A4-EBD9-4375-B82B-E01FD8FBA1E3}"/>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3A4148"/>
            </a:solidFill>
            <a:prstDash val="solid"/>
          </a:ln>
        </p:spPr>
      </p:sp>
      <p:sp>
        <p:nvSpPr>
          <p:cNvPr id="46" name="">
            <a:extLst xmlns:a="http://schemas.openxmlformats.org/drawingml/2006/main">
              <a:ext uri="{FF2B5EF4-FFF2-40B4-BE49-F238E27FC236}">
                <a16:creationId xmlns:a16="http://schemas.microsoft.com/office/drawing/2014/main" id="{5416412E-7E3B-41B5-B3F5-09803FD676E2}"/>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AEB7C0"/>
                </a:solidFill>
                <a:latin typeface="Pretendard"/>
                <a:ea typeface="Pretendard"/>
                <a:cs typeface="Pretendard"/>
              </a:defRPr>
            </a:pPr>
            <a:r>
              <a:rPr sz="713" b="0">
                <a:solidFill>
                  <a:srgbClr val="AEB7C0"/>
                </a:solidFill>
                <a:latin typeface="Pretendard"/>
                <a:ea typeface="Pretendard"/>
                <a:cs typeface="Pretendard"/>
              </a:rPr>
              <a:t>이미지 삽입 가이드: GitHub 저장소, N.I.N.A 실행 화면, 포커싱 workflow 이미지를 각각 넣습니다.</a:t>
            </a:r>
          </a:p>
        </p:txBody>
      </p:sp>
      <p:sp>
        <p:nvSpPr>
          <p:cNvPr id="47" name="">
            <a:extLst xmlns:a="http://schemas.openxmlformats.org/drawingml/2006/main">
              <a:ext uri="{FF2B5EF4-FFF2-40B4-BE49-F238E27FC236}">
                <a16:creationId xmlns:a16="http://schemas.microsoft.com/office/drawing/2014/main" id="{45AE7E69-EBB9-4BF5-A798-7844B71C3048}"/>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AEB7C0"/>
                </a:solidFill>
                <a:latin typeface="Pretendard"/>
                <a:ea typeface="Pretendard"/>
                <a:cs typeface="Pretendard"/>
              </a:defRPr>
            </a:pPr>
            <a:r>
              <a:rPr sz="713" b="0">
                <a:solidFill>
                  <a:srgbClr val="AEB7C0"/>
                </a:solidFill>
                <a:latin typeface="Pretendard"/>
                <a:ea typeface="Pretendard"/>
                <a:cs typeface="Pretendard"/>
              </a:rPr>
              <a:t>6 / 10</a:t>
            </a:r>
          </a:p>
        </p:txBody>
      </p:sp>
    </p:spTree>
    <p:extLst>
      <p:ext uri="{BB962C8B-B14F-4D97-AF65-F5344CB8AC3E}">
        <p14:creationId xmlns:p14="http://schemas.microsoft.com/office/powerpoint/2010/main" val="1521178280"/>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8F9DF51-767A-434D-95CF-9B31589EE91A}"/>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F2EE9B49-1260-420E-9AD6-B0C65D9E7A38}"/>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07</a:t>
            </a:r>
          </a:p>
        </p:txBody>
      </p:sp>
      <p:sp>
        <p:nvSpPr>
          <p:cNvPr id="3" name="">
            <a:extLst xmlns:a="http://schemas.openxmlformats.org/drawingml/2006/main">
              <a:ext uri="{FF2B5EF4-FFF2-40B4-BE49-F238E27FC236}">
                <a16:creationId xmlns:a16="http://schemas.microsoft.com/office/drawing/2014/main" id="{FEF7167D-EBA9-471B-8490-29B40358CBCF}"/>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기술 역량 매핑</a:t>
            </a:r>
          </a:p>
        </p:txBody>
      </p:sp>
      <p:sp>
        <p:nvSpPr>
          <p:cNvPr id="4" name="">
            <a:extLst xmlns:a="http://schemas.openxmlformats.org/drawingml/2006/main">
              <a:ext uri="{FF2B5EF4-FFF2-40B4-BE49-F238E27FC236}">
                <a16:creationId xmlns:a16="http://schemas.microsoft.com/office/drawing/2014/main" id="{F3D0BD3C-CE18-4FB1-8881-1A74E08E2023}"/>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C++·유지보수는 즉시 투입 가능하고, TCP/IP·Linux·장비 SDK는 샘플 구현으로 보완하겠습니다.</a:t>
            </a:r>
          </a:p>
        </p:txBody>
      </p:sp>
      <p:sp>
        <p:nvSpPr>
          <p:cNvPr id="5" name="">
            <a:extLst xmlns:a="http://schemas.openxmlformats.org/drawingml/2006/main">
              <a:ext uri="{FF2B5EF4-FFF2-40B4-BE49-F238E27FC236}">
                <a16:creationId xmlns:a16="http://schemas.microsoft.com/office/drawing/2014/main" id="{EEBEB94B-37C9-44C6-BAAA-EC06A4B6D4AD}"/>
              </a:ext>
            </a:extLst>
          </p:cNvPr>
          <p:cNvSpPr>
            <a:spLocks xmlns:a="http://schemas.openxmlformats.org/drawingml/2006/main" noGrp="1"/>
          </p:cNvSpPr>
          <p:nvPr/>
        </p:nvSpPr>
        <p:spPr>
          <a:xfrm xmlns:a="http://schemas.openxmlformats.org/drawingml/2006/main">
            <a:off x="685800" y="1390650"/>
            <a:ext cx="1162050" cy="428625"/>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32" b="1">
                <a:solidFill>
                  <a:srgbClr val="FFFFFF"/>
                </a:solidFill>
                <a:latin typeface="Pretendard"/>
                <a:ea typeface="Pretendard"/>
                <a:cs typeface="Pretendard"/>
              </a:defRPr>
            </a:pPr>
            <a:r>
              <a:rPr sz="832" b="1">
                <a:solidFill>
                  <a:srgbClr val="FFFFFF"/>
                </a:solidFill>
                <a:latin typeface="Pretendard"/>
                <a:ea typeface="Pretendard"/>
                <a:cs typeface="Pretendard"/>
              </a:rPr>
              <a:t>영역</a:t>
            </a:r>
          </a:p>
        </p:txBody>
      </p:sp>
      <p:sp>
        <p:nvSpPr>
          <p:cNvPr id="6" name="">
            <a:extLst xmlns:a="http://schemas.openxmlformats.org/drawingml/2006/main">
              <a:ext uri="{FF2B5EF4-FFF2-40B4-BE49-F238E27FC236}">
                <a16:creationId xmlns:a16="http://schemas.microsoft.com/office/drawing/2014/main" id="{22E83301-CC1B-4FB5-B87D-E2A0477D841F}"/>
              </a:ext>
            </a:extLst>
          </p:cNvPr>
          <p:cNvSpPr>
            <a:spLocks xmlns:a="http://schemas.openxmlformats.org/drawingml/2006/main" noGrp="1"/>
          </p:cNvSpPr>
          <p:nvPr/>
        </p:nvSpPr>
        <p:spPr>
          <a:xfrm xmlns:a="http://schemas.openxmlformats.org/drawingml/2006/main">
            <a:off x="1847850" y="1390650"/>
            <a:ext cx="838200" cy="428625"/>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32" b="1">
                <a:solidFill>
                  <a:srgbClr val="FFFFFF"/>
                </a:solidFill>
                <a:latin typeface="Pretendard"/>
                <a:ea typeface="Pretendard"/>
                <a:cs typeface="Pretendard"/>
              </a:defRPr>
            </a:pPr>
            <a:r>
              <a:rPr sz="832" b="1">
                <a:solidFill>
                  <a:srgbClr val="FFFFFF"/>
                </a:solidFill>
                <a:latin typeface="Pretendard"/>
                <a:ea typeface="Pretendard"/>
                <a:cs typeface="Pretendard"/>
              </a:rPr>
              <a:t>수준</a:t>
            </a:r>
          </a:p>
        </p:txBody>
      </p:sp>
      <p:sp>
        <p:nvSpPr>
          <p:cNvPr id="7" name="">
            <a:extLst xmlns:a="http://schemas.openxmlformats.org/drawingml/2006/main">
              <a:ext uri="{FF2B5EF4-FFF2-40B4-BE49-F238E27FC236}">
                <a16:creationId xmlns:a16="http://schemas.microsoft.com/office/drawing/2014/main" id="{E46AFA98-5B3C-44BB-BFB9-38FE8C3F8181}"/>
              </a:ext>
            </a:extLst>
          </p:cNvPr>
          <p:cNvSpPr>
            <a:spLocks xmlns:a="http://schemas.openxmlformats.org/drawingml/2006/main" noGrp="1"/>
          </p:cNvSpPr>
          <p:nvPr/>
        </p:nvSpPr>
        <p:spPr>
          <a:xfrm xmlns:a="http://schemas.openxmlformats.org/drawingml/2006/main">
            <a:off x="2686050" y="1390650"/>
            <a:ext cx="2809875" cy="428625"/>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32" b="1">
                <a:solidFill>
                  <a:srgbClr val="FFFFFF"/>
                </a:solidFill>
                <a:latin typeface="Pretendard"/>
                <a:ea typeface="Pretendard"/>
                <a:cs typeface="Pretendard"/>
              </a:defRPr>
            </a:pPr>
            <a:r>
              <a:rPr sz="832" b="1">
                <a:solidFill>
                  <a:srgbClr val="FFFFFF"/>
                </a:solidFill>
                <a:latin typeface="Pretendard"/>
                <a:ea typeface="Pretendard"/>
                <a:cs typeface="Pretendard"/>
              </a:rPr>
              <a:t>근거</a:t>
            </a:r>
          </a:p>
        </p:txBody>
      </p:sp>
      <p:sp>
        <p:nvSpPr>
          <p:cNvPr id="8" name="">
            <a:extLst xmlns:a="http://schemas.openxmlformats.org/drawingml/2006/main">
              <a:ext uri="{FF2B5EF4-FFF2-40B4-BE49-F238E27FC236}">
                <a16:creationId xmlns:a16="http://schemas.microsoft.com/office/drawing/2014/main" id="{3AF83963-DCDA-4C46-B326-9CC507EE025E}"/>
              </a:ext>
            </a:extLst>
          </p:cNvPr>
          <p:cNvSpPr>
            <a:spLocks xmlns:a="http://schemas.openxmlformats.org/drawingml/2006/main" noGrp="1"/>
          </p:cNvSpPr>
          <p:nvPr/>
        </p:nvSpPr>
        <p:spPr>
          <a:xfrm xmlns:a="http://schemas.openxmlformats.org/drawingml/2006/main">
            <a:off x="5495925" y="1390650"/>
            <a:ext cx="2381250" cy="428625"/>
          </a:xfrm>
          <a:prstGeom xmlns:a="http://schemas.openxmlformats.org/drawingml/2006/main" prst="rect">
            <a:avLst/>
          </a:prstGeom>
          <a:solidFill xmlns:a="http://schemas.openxmlformats.org/drawingml/2006/main">
            <a:srgbClr val="1F2328"/>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832" b="1">
                <a:solidFill>
                  <a:srgbClr val="FFFFFF"/>
                </a:solidFill>
                <a:latin typeface="Pretendard"/>
                <a:ea typeface="Pretendard"/>
                <a:cs typeface="Pretendard"/>
              </a:defRPr>
            </a:pPr>
            <a:r>
              <a:rPr sz="832" b="1">
                <a:solidFill>
                  <a:srgbClr val="FFFFFF"/>
                </a:solidFill>
                <a:latin typeface="Pretendard"/>
                <a:ea typeface="Pretendard"/>
                <a:cs typeface="Pretendard"/>
              </a:rPr>
              <a:t>보완 계획</a:t>
            </a:r>
          </a:p>
        </p:txBody>
      </p:sp>
      <p:sp>
        <p:nvSpPr>
          <p:cNvPr id="9" name="">
            <a:extLst xmlns:a="http://schemas.openxmlformats.org/drawingml/2006/main">
              <a:ext uri="{FF2B5EF4-FFF2-40B4-BE49-F238E27FC236}">
                <a16:creationId xmlns:a16="http://schemas.microsoft.com/office/drawing/2014/main" id="{FF2FC14B-7111-4D4E-8913-6E7D191345A7}"/>
              </a:ext>
            </a:extLst>
          </p:cNvPr>
          <p:cNvSpPr>
            <a:spLocks xmlns:a="http://schemas.openxmlformats.org/drawingml/2006/main" noGrp="1"/>
          </p:cNvSpPr>
          <p:nvPr/>
        </p:nvSpPr>
        <p:spPr>
          <a:xfrm xmlns:a="http://schemas.openxmlformats.org/drawingml/2006/main">
            <a:off x="685800" y="1819275"/>
            <a:ext cx="116205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C/C++</a:t>
            </a:r>
          </a:p>
        </p:txBody>
      </p:sp>
      <p:sp>
        <p:nvSpPr>
          <p:cNvPr id="10" name="">
            <a:extLst xmlns:a="http://schemas.openxmlformats.org/drawingml/2006/main">
              <a:ext uri="{FF2B5EF4-FFF2-40B4-BE49-F238E27FC236}">
                <a16:creationId xmlns:a16="http://schemas.microsoft.com/office/drawing/2014/main" id="{85C4D447-AB3F-4DE3-BA86-2C93EB67531A}"/>
              </a:ext>
            </a:extLst>
          </p:cNvPr>
          <p:cNvSpPr>
            <a:spLocks xmlns:a="http://schemas.openxmlformats.org/drawingml/2006/main" noGrp="1"/>
          </p:cNvSpPr>
          <p:nvPr/>
        </p:nvSpPr>
        <p:spPr>
          <a:xfrm xmlns:a="http://schemas.openxmlformats.org/drawingml/2006/main">
            <a:off x="1847850" y="1819275"/>
            <a:ext cx="83820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강함</a:t>
            </a:r>
          </a:p>
        </p:txBody>
      </p:sp>
      <p:sp>
        <p:nvSpPr>
          <p:cNvPr id="11" name="">
            <a:extLst xmlns:a="http://schemas.openxmlformats.org/drawingml/2006/main">
              <a:ext uri="{FF2B5EF4-FFF2-40B4-BE49-F238E27FC236}">
                <a16:creationId xmlns:a16="http://schemas.microsoft.com/office/drawing/2014/main" id="{E8C0752F-DC1F-43CB-8448-E112137E64FF}"/>
              </a:ext>
            </a:extLst>
          </p:cNvPr>
          <p:cNvSpPr>
            <a:spLocks xmlns:a="http://schemas.openxmlformats.org/drawingml/2006/main" noGrp="1"/>
          </p:cNvSpPr>
          <p:nvPr/>
        </p:nvSpPr>
        <p:spPr>
          <a:xfrm xmlns:a="http://schemas.openxmlformats.org/drawingml/2006/main">
            <a:off x="2686050" y="1819275"/>
            <a:ext cx="2809875"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20년 이상 상용 엔지니어링 SW 개발</a:t>
            </a:r>
          </a:p>
        </p:txBody>
      </p:sp>
      <p:sp>
        <p:nvSpPr>
          <p:cNvPr id="12" name="">
            <a:extLst xmlns:a="http://schemas.openxmlformats.org/drawingml/2006/main">
              <a:ext uri="{FF2B5EF4-FFF2-40B4-BE49-F238E27FC236}">
                <a16:creationId xmlns:a16="http://schemas.microsoft.com/office/drawing/2014/main" id="{7367F45B-636C-4B08-A932-1012DB5BF0D5}"/>
              </a:ext>
            </a:extLst>
          </p:cNvPr>
          <p:cNvSpPr>
            <a:spLocks xmlns:a="http://schemas.openxmlformats.org/drawingml/2006/main" noGrp="1"/>
          </p:cNvSpPr>
          <p:nvPr/>
        </p:nvSpPr>
        <p:spPr>
          <a:xfrm xmlns:a="http://schemas.openxmlformats.org/drawingml/2006/main">
            <a:off x="5495925" y="1819275"/>
            <a:ext cx="238125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실무 적용 지속</a:t>
            </a:r>
          </a:p>
        </p:txBody>
      </p:sp>
      <p:sp>
        <p:nvSpPr>
          <p:cNvPr id="13" name="">
            <a:extLst xmlns:a="http://schemas.openxmlformats.org/drawingml/2006/main">
              <a:ext uri="{FF2B5EF4-FFF2-40B4-BE49-F238E27FC236}">
                <a16:creationId xmlns:a16="http://schemas.microsoft.com/office/drawing/2014/main" id="{9C99C838-1F01-40B8-89D9-CCE0C5467138}"/>
              </a:ext>
            </a:extLst>
          </p:cNvPr>
          <p:cNvSpPr>
            <a:spLocks xmlns:a="http://schemas.openxmlformats.org/drawingml/2006/main" noGrp="1"/>
          </p:cNvSpPr>
          <p:nvPr/>
        </p:nvSpPr>
        <p:spPr>
          <a:xfrm xmlns:a="http://schemas.openxmlformats.org/drawingml/2006/main">
            <a:off x="685800" y="2247900"/>
            <a:ext cx="116205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MFC</a:t>
            </a:r>
          </a:p>
        </p:txBody>
      </p:sp>
      <p:sp>
        <p:nvSpPr>
          <p:cNvPr id="14" name="">
            <a:extLst xmlns:a="http://schemas.openxmlformats.org/drawingml/2006/main">
              <a:ext uri="{FF2B5EF4-FFF2-40B4-BE49-F238E27FC236}">
                <a16:creationId xmlns:a16="http://schemas.microsoft.com/office/drawing/2014/main" id="{47EFB176-6793-494D-BBA1-AA81BC27C825}"/>
              </a:ext>
            </a:extLst>
          </p:cNvPr>
          <p:cNvSpPr>
            <a:spLocks xmlns:a="http://schemas.openxmlformats.org/drawingml/2006/main" noGrp="1"/>
          </p:cNvSpPr>
          <p:nvPr/>
        </p:nvSpPr>
        <p:spPr>
          <a:xfrm xmlns:a="http://schemas.openxmlformats.org/drawingml/2006/main">
            <a:off x="1847850" y="2247900"/>
            <a:ext cx="83820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경험 있음</a:t>
            </a:r>
          </a:p>
        </p:txBody>
      </p:sp>
      <p:sp>
        <p:nvSpPr>
          <p:cNvPr id="15" name="">
            <a:extLst xmlns:a="http://schemas.openxmlformats.org/drawingml/2006/main">
              <a:ext uri="{FF2B5EF4-FFF2-40B4-BE49-F238E27FC236}">
                <a16:creationId xmlns:a16="http://schemas.microsoft.com/office/drawing/2014/main" id="{D1D21199-73AC-4671-B3C3-6CA1448FFBA9}"/>
              </a:ext>
            </a:extLst>
          </p:cNvPr>
          <p:cNvSpPr>
            <a:spLocks xmlns:a="http://schemas.openxmlformats.org/drawingml/2006/main" noGrp="1"/>
          </p:cNvSpPr>
          <p:nvPr/>
        </p:nvSpPr>
        <p:spPr>
          <a:xfrm xmlns:a="http://schemas.openxmlformats.org/drawingml/2006/main">
            <a:off x="2686050" y="2247900"/>
            <a:ext cx="2809875"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Windows 응용 프로그램 개발</a:t>
            </a:r>
          </a:p>
        </p:txBody>
      </p:sp>
      <p:sp>
        <p:nvSpPr>
          <p:cNvPr id="16" name="">
            <a:extLst xmlns:a="http://schemas.openxmlformats.org/drawingml/2006/main">
              <a:ext uri="{FF2B5EF4-FFF2-40B4-BE49-F238E27FC236}">
                <a16:creationId xmlns:a16="http://schemas.microsoft.com/office/drawing/2014/main" id="{F4FE8873-C30F-486E-A968-0DB69110D176}"/>
              </a:ext>
            </a:extLst>
          </p:cNvPr>
          <p:cNvSpPr>
            <a:spLocks xmlns:a="http://schemas.openxmlformats.org/drawingml/2006/main" noGrp="1"/>
          </p:cNvSpPr>
          <p:nvPr/>
        </p:nvSpPr>
        <p:spPr>
          <a:xfrm xmlns:a="http://schemas.openxmlformats.org/drawingml/2006/main">
            <a:off x="5495925" y="2247900"/>
            <a:ext cx="238125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기존 코드 기준 적응</a:t>
            </a:r>
          </a:p>
        </p:txBody>
      </p:sp>
      <p:sp>
        <p:nvSpPr>
          <p:cNvPr id="17" name="">
            <a:extLst xmlns:a="http://schemas.openxmlformats.org/drawingml/2006/main">
              <a:ext uri="{FF2B5EF4-FFF2-40B4-BE49-F238E27FC236}">
                <a16:creationId xmlns:a16="http://schemas.microsoft.com/office/drawing/2014/main" id="{20CAB190-61B1-4F2C-8E0E-51C941E79DDC}"/>
              </a:ext>
            </a:extLst>
          </p:cNvPr>
          <p:cNvSpPr>
            <a:spLocks xmlns:a="http://schemas.openxmlformats.org/drawingml/2006/main" noGrp="1"/>
          </p:cNvSpPr>
          <p:nvPr/>
        </p:nvSpPr>
        <p:spPr>
          <a:xfrm xmlns:a="http://schemas.openxmlformats.org/drawingml/2006/main">
            <a:off x="685800" y="2676525"/>
            <a:ext cx="116205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Python/MATLAB</a:t>
            </a:r>
          </a:p>
        </p:txBody>
      </p:sp>
      <p:sp>
        <p:nvSpPr>
          <p:cNvPr id="18" name="">
            <a:extLst xmlns:a="http://schemas.openxmlformats.org/drawingml/2006/main">
              <a:ext uri="{FF2B5EF4-FFF2-40B4-BE49-F238E27FC236}">
                <a16:creationId xmlns:a16="http://schemas.microsoft.com/office/drawing/2014/main" id="{9AF2273D-2946-47F5-A248-84F2EA6CA949}"/>
              </a:ext>
            </a:extLst>
          </p:cNvPr>
          <p:cNvSpPr>
            <a:spLocks xmlns:a="http://schemas.openxmlformats.org/drawingml/2006/main" noGrp="1"/>
          </p:cNvSpPr>
          <p:nvPr/>
        </p:nvSpPr>
        <p:spPr>
          <a:xfrm xmlns:a="http://schemas.openxmlformats.org/drawingml/2006/main">
            <a:off x="1847850" y="2676525"/>
            <a:ext cx="83820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경험 있음</a:t>
            </a:r>
          </a:p>
        </p:txBody>
      </p:sp>
      <p:sp>
        <p:nvSpPr>
          <p:cNvPr id="19" name="">
            <a:extLst xmlns:a="http://schemas.openxmlformats.org/drawingml/2006/main">
              <a:ext uri="{FF2B5EF4-FFF2-40B4-BE49-F238E27FC236}">
                <a16:creationId xmlns:a16="http://schemas.microsoft.com/office/drawing/2014/main" id="{CC441D6F-88FD-4989-B061-8DAE5A1ED795}"/>
              </a:ext>
            </a:extLst>
          </p:cNvPr>
          <p:cNvSpPr>
            <a:spLocks xmlns:a="http://schemas.openxmlformats.org/drawingml/2006/main" noGrp="1"/>
          </p:cNvSpPr>
          <p:nvPr/>
        </p:nvSpPr>
        <p:spPr>
          <a:xfrm xmlns:a="http://schemas.openxmlformats.org/drawingml/2006/main">
            <a:off x="2686050" y="2676525"/>
            <a:ext cx="2809875"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알고리즘 검증 및 자동화</a:t>
            </a:r>
          </a:p>
        </p:txBody>
      </p:sp>
      <p:sp>
        <p:nvSpPr>
          <p:cNvPr id="20" name="">
            <a:extLst xmlns:a="http://schemas.openxmlformats.org/drawingml/2006/main">
              <a:ext uri="{FF2B5EF4-FFF2-40B4-BE49-F238E27FC236}">
                <a16:creationId xmlns:a16="http://schemas.microsoft.com/office/drawing/2014/main" id="{884FB71B-6D1C-46A0-87EC-CBA1B52B00EC}"/>
              </a:ext>
            </a:extLst>
          </p:cNvPr>
          <p:cNvSpPr>
            <a:spLocks xmlns:a="http://schemas.openxmlformats.org/drawingml/2006/main" noGrp="1"/>
          </p:cNvSpPr>
          <p:nvPr/>
        </p:nvSpPr>
        <p:spPr>
          <a:xfrm xmlns:a="http://schemas.openxmlformats.org/drawingml/2006/main">
            <a:off x="5495925" y="2676525"/>
            <a:ext cx="238125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도메인 자동화에 활용</a:t>
            </a:r>
          </a:p>
        </p:txBody>
      </p:sp>
      <p:sp>
        <p:nvSpPr>
          <p:cNvPr id="21" name="">
            <a:extLst xmlns:a="http://schemas.openxmlformats.org/drawingml/2006/main">
              <a:ext uri="{FF2B5EF4-FFF2-40B4-BE49-F238E27FC236}">
                <a16:creationId xmlns:a16="http://schemas.microsoft.com/office/drawing/2014/main" id="{A4DCDA3F-C997-46EF-8A8D-C509936E83EC}"/>
              </a:ext>
            </a:extLst>
          </p:cNvPr>
          <p:cNvSpPr>
            <a:spLocks xmlns:a="http://schemas.openxmlformats.org/drawingml/2006/main" noGrp="1"/>
          </p:cNvSpPr>
          <p:nvPr/>
        </p:nvSpPr>
        <p:spPr>
          <a:xfrm xmlns:a="http://schemas.openxmlformats.org/drawingml/2006/main">
            <a:off x="685800" y="3105150"/>
            <a:ext cx="116205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Git</a:t>
            </a:r>
          </a:p>
        </p:txBody>
      </p:sp>
      <p:sp>
        <p:nvSpPr>
          <p:cNvPr id="22" name="">
            <a:extLst xmlns:a="http://schemas.openxmlformats.org/drawingml/2006/main">
              <a:ext uri="{FF2B5EF4-FFF2-40B4-BE49-F238E27FC236}">
                <a16:creationId xmlns:a16="http://schemas.microsoft.com/office/drawing/2014/main" id="{DA1CEF16-F223-4737-BDE8-293D882ED9F3}"/>
              </a:ext>
            </a:extLst>
          </p:cNvPr>
          <p:cNvSpPr>
            <a:spLocks xmlns:a="http://schemas.openxmlformats.org/drawingml/2006/main" noGrp="1"/>
          </p:cNvSpPr>
          <p:nvPr/>
        </p:nvSpPr>
        <p:spPr>
          <a:xfrm xmlns:a="http://schemas.openxmlformats.org/drawingml/2006/main">
            <a:off x="1847850" y="3105150"/>
            <a:ext cx="83820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경험 있음</a:t>
            </a:r>
          </a:p>
        </p:txBody>
      </p:sp>
      <p:sp>
        <p:nvSpPr>
          <p:cNvPr id="23" name="">
            <a:extLst xmlns:a="http://schemas.openxmlformats.org/drawingml/2006/main">
              <a:ext uri="{FF2B5EF4-FFF2-40B4-BE49-F238E27FC236}">
                <a16:creationId xmlns:a16="http://schemas.microsoft.com/office/drawing/2014/main" id="{556DF334-B550-4CD7-A279-8B861D0509FA}"/>
              </a:ext>
            </a:extLst>
          </p:cNvPr>
          <p:cNvSpPr>
            <a:spLocks xmlns:a="http://schemas.openxmlformats.org/drawingml/2006/main" noGrp="1"/>
          </p:cNvSpPr>
          <p:nvPr/>
        </p:nvSpPr>
        <p:spPr>
          <a:xfrm xmlns:a="http://schemas.openxmlformats.org/drawingml/2006/main">
            <a:off x="2686050" y="3105150"/>
            <a:ext cx="2809875"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프로젝트 및 개인 개발 관리</a:t>
            </a:r>
          </a:p>
        </p:txBody>
      </p:sp>
      <p:sp>
        <p:nvSpPr>
          <p:cNvPr id="24" name="">
            <a:extLst xmlns:a="http://schemas.openxmlformats.org/drawingml/2006/main">
              <a:ext uri="{FF2B5EF4-FFF2-40B4-BE49-F238E27FC236}">
                <a16:creationId xmlns:a16="http://schemas.microsoft.com/office/drawing/2014/main" id="{0CE6D09F-1318-4A6C-99E1-573BEEA58D97}"/>
              </a:ext>
            </a:extLst>
          </p:cNvPr>
          <p:cNvSpPr>
            <a:spLocks xmlns:a="http://schemas.openxmlformats.org/drawingml/2006/main" noGrp="1"/>
          </p:cNvSpPr>
          <p:nvPr/>
        </p:nvSpPr>
        <p:spPr>
          <a:xfrm xmlns:a="http://schemas.openxmlformats.org/drawingml/2006/main">
            <a:off x="5495925" y="3105150"/>
            <a:ext cx="238125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협업 규칙에 맞춰 적용</a:t>
            </a:r>
          </a:p>
        </p:txBody>
      </p:sp>
      <p:sp>
        <p:nvSpPr>
          <p:cNvPr id="25" name="">
            <a:extLst xmlns:a="http://schemas.openxmlformats.org/drawingml/2006/main">
              <a:ext uri="{FF2B5EF4-FFF2-40B4-BE49-F238E27FC236}">
                <a16:creationId xmlns:a16="http://schemas.microsoft.com/office/drawing/2014/main" id="{8D96FF0A-25AF-4C16-87FC-8C9DD237E931}"/>
              </a:ext>
            </a:extLst>
          </p:cNvPr>
          <p:cNvSpPr>
            <a:spLocks xmlns:a="http://schemas.openxmlformats.org/drawingml/2006/main" noGrp="1"/>
          </p:cNvSpPr>
          <p:nvPr/>
        </p:nvSpPr>
        <p:spPr>
          <a:xfrm xmlns:a="http://schemas.openxmlformats.org/drawingml/2006/main">
            <a:off x="685800" y="3533775"/>
            <a:ext cx="116205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기존 코드 유지보수</a:t>
            </a:r>
          </a:p>
        </p:txBody>
      </p:sp>
      <p:sp>
        <p:nvSpPr>
          <p:cNvPr id="26" name="">
            <a:extLst xmlns:a="http://schemas.openxmlformats.org/drawingml/2006/main">
              <a:ext uri="{FF2B5EF4-FFF2-40B4-BE49-F238E27FC236}">
                <a16:creationId xmlns:a16="http://schemas.microsoft.com/office/drawing/2014/main" id="{2170CEA7-C872-4DA3-BAC8-3A0A60BDE4F2}"/>
              </a:ext>
            </a:extLst>
          </p:cNvPr>
          <p:cNvSpPr>
            <a:spLocks xmlns:a="http://schemas.openxmlformats.org/drawingml/2006/main" noGrp="1"/>
          </p:cNvSpPr>
          <p:nvPr/>
        </p:nvSpPr>
        <p:spPr>
          <a:xfrm xmlns:a="http://schemas.openxmlformats.org/drawingml/2006/main">
            <a:off x="1847850" y="3533775"/>
            <a:ext cx="83820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강함</a:t>
            </a:r>
          </a:p>
        </p:txBody>
      </p:sp>
      <p:sp>
        <p:nvSpPr>
          <p:cNvPr id="27" name="">
            <a:extLst xmlns:a="http://schemas.openxmlformats.org/drawingml/2006/main">
              <a:ext uri="{FF2B5EF4-FFF2-40B4-BE49-F238E27FC236}">
                <a16:creationId xmlns:a16="http://schemas.microsoft.com/office/drawing/2014/main" id="{7F9CA4D1-F81B-4E11-8A63-969C8F0A9E2D}"/>
              </a:ext>
            </a:extLst>
          </p:cNvPr>
          <p:cNvSpPr>
            <a:spLocks xmlns:a="http://schemas.openxmlformats.org/drawingml/2006/main" noGrp="1"/>
          </p:cNvSpPr>
          <p:nvPr/>
        </p:nvSpPr>
        <p:spPr>
          <a:xfrm xmlns:a="http://schemas.openxmlformats.org/drawingml/2006/main">
            <a:off x="2686050" y="3533775"/>
            <a:ext cx="2809875"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장기 운영 상용 SW 기능 개선</a:t>
            </a:r>
          </a:p>
        </p:txBody>
      </p:sp>
      <p:sp>
        <p:nvSpPr>
          <p:cNvPr id="28" name="">
            <a:extLst xmlns:a="http://schemas.openxmlformats.org/drawingml/2006/main">
              <a:ext uri="{FF2B5EF4-FFF2-40B4-BE49-F238E27FC236}">
                <a16:creationId xmlns:a16="http://schemas.microsoft.com/office/drawing/2014/main" id="{3BEE7090-19F8-4F6F-A068-E1835E112DA2}"/>
              </a:ext>
            </a:extLst>
          </p:cNvPr>
          <p:cNvSpPr>
            <a:spLocks xmlns:a="http://schemas.openxmlformats.org/drawingml/2006/main" noGrp="1"/>
          </p:cNvSpPr>
          <p:nvPr/>
        </p:nvSpPr>
        <p:spPr>
          <a:xfrm xmlns:a="http://schemas.openxmlformats.org/drawingml/2006/main">
            <a:off x="5495925" y="3533775"/>
            <a:ext cx="2381250" cy="428625"/>
          </a:xfrm>
          <a:prstGeom xmlns:a="http://schemas.openxmlformats.org/drawingml/2006/main" prst="rect">
            <a:avLst/>
          </a:prstGeom>
          <a:solidFill xmlns:a="http://schemas.openxmlformats.org/drawingml/2006/main">
            <a:srgbClr val="FFFFFF"/>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리팩토링 기준 공유</a:t>
            </a:r>
          </a:p>
        </p:txBody>
      </p:sp>
      <p:sp>
        <p:nvSpPr>
          <p:cNvPr id="29" name="">
            <a:extLst xmlns:a="http://schemas.openxmlformats.org/drawingml/2006/main">
              <a:ext uri="{FF2B5EF4-FFF2-40B4-BE49-F238E27FC236}">
                <a16:creationId xmlns:a16="http://schemas.microsoft.com/office/drawing/2014/main" id="{D412E260-6E15-46AF-AB69-A3C33455053A}"/>
              </a:ext>
            </a:extLst>
          </p:cNvPr>
          <p:cNvSpPr>
            <a:spLocks xmlns:a="http://schemas.openxmlformats.org/drawingml/2006/main" noGrp="1"/>
          </p:cNvSpPr>
          <p:nvPr/>
        </p:nvSpPr>
        <p:spPr>
          <a:xfrm xmlns:a="http://schemas.openxmlformats.org/drawingml/2006/main">
            <a:off x="685800" y="3962400"/>
            <a:ext cx="116205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외부 라이브러리 활용</a:t>
            </a:r>
          </a:p>
        </p:txBody>
      </p:sp>
      <p:sp>
        <p:nvSpPr>
          <p:cNvPr id="30" name="">
            <a:extLst xmlns:a="http://schemas.openxmlformats.org/drawingml/2006/main">
              <a:ext uri="{FF2B5EF4-FFF2-40B4-BE49-F238E27FC236}">
                <a16:creationId xmlns:a16="http://schemas.microsoft.com/office/drawing/2014/main" id="{6EDCBF9E-9B93-44E3-9F68-D080E03D33CE}"/>
              </a:ext>
            </a:extLst>
          </p:cNvPr>
          <p:cNvSpPr>
            <a:spLocks xmlns:a="http://schemas.openxmlformats.org/drawingml/2006/main" noGrp="1"/>
          </p:cNvSpPr>
          <p:nvPr/>
        </p:nvSpPr>
        <p:spPr>
          <a:xfrm xmlns:a="http://schemas.openxmlformats.org/drawingml/2006/main">
            <a:off x="1847850" y="3962400"/>
            <a:ext cx="83820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경험 있음</a:t>
            </a:r>
          </a:p>
        </p:txBody>
      </p:sp>
      <p:sp>
        <p:nvSpPr>
          <p:cNvPr id="31" name="">
            <a:extLst xmlns:a="http://schemas.openxmlformats.org/drawingml/2006/main">
              <a:ext uri="{FF2B5EF4-FFF2-40B4-BE49-F238E27FC236}">
                <a16:creationId xmlns:a16="http://schemas.microsoft.com/office/drawing/2014/main" id="{312B03F0-6A6C-47F5-9748-5DBDA63434D7}"/>
              </a:ext>
            </a:extLst>
          </p:cNvPr>
          <p:cNvSpPr>
            <a:spLocks xmlns:a="http://schemas.openxmlformats.org/drawingml/2006/main" noGrp="1"/>
          </p:cNvSpPr>
          <p:nvPr/>
        </p:nvSpPr>
        <p:spPr>
          <a:xfrm xmlns:a="http://schemas.openxmlformats.org/drawingml/2006/main">
            <a:off x="2686050" y="3962400"/>
            <a:ext cx="2809875"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N.I.N.A 플러그인 개발</a:t>
            </a:r>
          </a:p>
        </p:txBody>
      </p:sp>
      <p:sp>
        <p:nvSpPr>
          <p:cNvPr id="32" name="">
            <a:extLst xmlns:a="http://schemas.openxmlformats.org/drawingml/2006/main">
              <a:ext uri="{FF2B5EF4-FFF2-40B4-BE49-F238E27FC236}">
                <a16:creationId xmlns:a16="http://schemas.microsoft.com/office/drawing/2014/main" id="{A64A5B50-C9D3-41B8-9472-F1A70B29C462}"/>
              </a:ext>
            </a:extLst>
          </p:cNvPr>
          <p:cNvSpPr>
            <a:spLocks xmlns:a="http://schemas.openxmlformats.org/drawingml/2006/main" noGrp="1"/>
          </p:cNvSpPr>
          <p:nvPr/>
        </p:nvSpPr>
        <p:spPr>
          <a:xfrm xmlns:a="http://schemas.openxmlformats.org/drawingml/2006/main">
            <a:off x="5495925" y="3962400"/>
            <a:ext cx="2381250" cy="428625"/>
          </a:xfrm>
          <a:prstGeom xmlns:a="http://schemas.openxmlformats.org/drawingml/2006/main" prst="rect">
            <a:avLst/>
          </a:prstGeom>
          <a:solidFill xmlns:a="http://schemas.openxmlformats.org/drawingml/2006/main">
            <a:srgbClr val="FAFBFC"/>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SDK/API 연동으로 확장</a:t>
            </a:r>
          </a:p>
        </p:txBody>
      </p:sp>
      <p:sp>
        <p:nvSpPr>
          <p:cNvPr id="33" name="">
            <a:extLst xmlns:a="http://schemas.openxmlformats.org/drawingml/2006/main">
              <a:ext uri="{FF2B5EF4-FFF2-40B4-BE49-F238E27FC236}">
                <a16:creationId xmlns:a16="http://schemas.microsoft.com/office/drawing/2014/main" id="{B5AD0576-53D5-49CF-9498-6F786D8084D0}"/>
              </a:ext>
            </a:extLst>
          </p:cNvPr>
          <p:cNvSpPr>
            <a:spLocks xmlns:a="http://schemas.openxmlformats.org/drawingml/2006/main" noGrp="1"/>
          </p:cNvSpPr>
          <p:nvPr/>
        </p:nvSpPr>
        <p:spPr>
          <a:xfrm xmlns:a="http://schemas.openxmlformats.org/drawingml/2006/main">
            <a:off x="685800" y="4391025"/>
            <a:ext cx="116205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TCP/IP</a:t>
            </a:r>
          </a:p>
        </p:txBody>
      </p:sp>
      <p:sp>
        <p:nvSpPr>
          <p:cNvPr id="34" name="">
            <a:extLst xmlns:a="http://schemas.openxmlformats.org/drawingml/2006/main">
              <a:ext uri="{FF2B5EF4-FFF2-40B4-BE49-F238E27FC236}">
                <a16:creationId xmlns:a16="http://schemas.microsoft.com/office/drawing/2014/main" id="{4C12A7DB-7B1D-46AA-AB3C-89020893D26B}"/>
              </a:ext>
            </a:extLst>
          </p:cNvPr>
          <p:cNvSpPr>
            <a:spLocks xmlns:a="http://schemas.openxmlformats.org/drawingml/2006/main" noGrp="1"/>
          </p:cNvSpPr>
          <p:nvPr/>
        </p:nvSpPr>
        <p:spPr>
          <a:xfrm xmlns:a="http://schemas.openxmlformats.org/drawingml/2006/main">
            <a:off x="1847850" y="4391025"/>
            <a:ext cx="83820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E03C31"/>
                </a:solidFill>
                <a:latin typeface="Pretendard"/>
                <a:ea typeface="Pretendard"/>
                <a:cs typeface="Pretendard"/>
              </a:defRPr>
            </a:pPr>
            <a:r>
              <a:rPr sz="780" b="0">
                <a:solidFill>
                  <a:srgbClr val="E03C31"/>
                </a:solidFill>
                <a:latin typeface="Pretendard"/>
                <a:ea typeface="Pretendard"/>
                <a:cs typeface="Pretendard"/>
              </a:rPr>
              <a:t>보완 필요</a:t>
            </a:r>
          </a:p>
        </p:txBody>
      </p:sp>
      <p:sp>
        <p:nvSpPr>
          <p:cNvPr id="35" name="">
            <a:extLst xmlns:a="http://schemas.openxmlformats.org/drawingml/2006/main">
              <a:ext uri="{FF2B5EF4-FFF2-40B4-BE49-F238E27FC236}">
                <a16:creationId xmlns:a16="http://schemas.microsoft.com/office/drawing/2014/main" id="{8931EBC0-B1FA-45E8-B6B6-C026D7724836}"/>
              </a:ext>
            </a:extLst>
          </p:cNvPr>
          <p:cNvSpPr>
            <a:spLocks xmlns:a="http://schemas.openxmlformats.org/drawingml/2006/main" noGrp="1"/>
          </p:cNvSpPr>
          <p:nvPr/>
        </p:nvSpPr>
        <p:spPr>
          <a:xfrm xmlns:a="http://schemas.openxmlformats.org/drawingml/2006/main">
            <a:off x="2686050" y="4391025"/>
            <a:ext cx="2809875"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기초 학습 및 샘플 프로젝트 예정</a:t>
            </a:r>
          </a:p>
        </p:txBody>
      </p:sp>
      <p:sp>
        <p:nvSpPr>
          <p:cNvPr id="36" name="">
            <a:extLst xmlns:a="http://schemas.openxmlformats.org/drawingml/2006/main">
              <a:ext uri="{FF2B5EF4-FFF2-40B4-BE49-F238E27FC236}">
                <a16:creationId xmlns:a16="http://schemas.microsoft.com/office/drawing/2014/main" id="{7DAE6307-AB0B-4F60-B484-80C5257810A7}"/>
              </a:ext>
            </a:extLst>
          </p:cNvPr>
          <p:cNvSpPr>
            <a:spLocks xmlns:a="http://schemas.openxmlformats.org/drawingml/2006/main" noGrp="1"/>
          </p:cNvSpPr>
          <p:nvPr/>
        </p:nvSpPr>
        <p:spPr>
          <a:xfrm xmlns:a="http://schemas.openxmlformats.org/drawingml/2006/main">
            <a:off x="5495925" y="4391025"/>
            <a:ext cx="238125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소켓 통신 예제 구현</a:t>
            </a:r>
          </a:p>
        </p:txBody>
      </p:sp>
      <p:sp>
        <p:nvSpPr>
          <p:cNvPr id="37" name="">
            <a:extLst xmlns:a="http://schemas.openxmlformats.org/drawingml/2006/main">
              <a:ext uri="{FF2B5EF4-FFF2-40B4-BE49-F238E27FC236}">
                <a16:creationId xmlns:a16="http://schemas.microsoft.com/office/drawing/2014/main" id="{759FC43A-370E-4C6C-A827-F432ECDCC86C}"/>
              </a:ext>
            </a:extLst>
          </p:cNvPr>
          <p:cNvSpPr>
            <a:spLocks xmlns:a="http://schemas.openxmlformats.org/drawingml/2006/main" noGrp="1"/>
          </p:cNvSpPr>
          <p:nvPr/>
        </p:nvSpPr>
        <p:spPr>
          <a:xfrm xmlns:a="http://schemas.openxmlformats.org/drawingml/2006/main">
            <a:off x="685800" y="4819650"/>
            <a:ext cx="116205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Linux</a:t>
            </a:r>
          </a:p>
        </p:txBody>
      </p:sp>
      <p:sp>
        <p:nvSpPr>
          <p:cNvPr id="38" name="">
            <a:extLst xmlns:a="http://schemas.openxmlformats.org/drawingml/2006/main">
              <a:ext uri="{FF2B5EF4-FFF2-40B4-BE49-F238E27FC236}">
                <a16:creationId xmlns:a16="http://schemas.microsoft.com/office/drawing/2014/main" id="{C5DE531C-6AEC-42D8-AF6E-54C2306010F0}"/>
              </a:ext>
            </a:extLst>
          </p:cNvPr>
          <p:cNvSpPr>
            <a:spLocks xmlns:a="http://schemas.openxmlformats.org/drawingml/2006/main" noGrp="1"/>
          </p:cNvSpPr>
          <p:nvPr/>
        </p:nvSpPr>
        <p:spPr>
          <a:xfrm xmlns:a="http://schemas.openxmlformats.org/drawingml/2006/main">
            <a:off x="1847850" y="4819650"/>
            <a:ext cx="83820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E03C31"/>
                </a:solidFill>
                <a:latin typeface="Pretendard"/>
                <a:ea typeface="Pretendard"/>
                <a:cs typeface="Pretendard"/>
              </a:defRPr>
            </a:pPr>
            <a:r>
              <a:rPr sz="780" b="0">
                <a:solidFill>
                  <a:srgbClr val="E03C31"/>
                </a:solidFill>
                <a:latin typeface="Pretendard"/>
                <a:ea typeface="Pretendard"/>
                <a:cs typeface="Pretendard"/>
              </a:rPr>
              <a:t>보완 필요</a:t>
            </a:r>
          </a:p>
        </p:txBody>
      </p:sp>
      <p:sp>
        <p:nvSpPr>
          <p:cNvPr id="39" name="">
            <a:extLst xmlns:a="http://schemas.openxmlformats.org/drawingml/2006/main">
              <a:ext uri="{FF2B5EF4-FFF2-40B4-BE49-F238E27FC236}">
                <a16:creationId xmlns:a16="http://schemas.microsoft.com/office/drawing/2014/main" id="{B600F0B2-6A8A-4FA3-9C56-E749F563FC08}"/>
              </a:ext>
            </a:extLst>
          </p:cNvPr>
          <p:cNvSpPr>
            <a:spLocks xmlns:a="http://schemas.openxmlformats.org/drawingml/2006/main" noGrp="1"/>
          </p:cNvSpPr>
          <p:nvPr/>
        </p:nvSpPr>
        <p:spPr>
          <a:xfrm xmlns:a="http://schemas.openxmlformats.org/drawingml/2006/main">
            <a:off x="2686050" y="4819650"/>
            <a:ext cx="2809875"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개발 환경 적응 필요</a:t>
            </a:r>
          </a:p>
        </p:txBody>
      </p:sp>
      <p:sp>
        <p:nvSpPr>
          <p:cNvPr id="40" name="">
            <a:extLst xmlns:a="http://schemas.openxmlformats.org/drawingml/2006/main">
              <a:ext uri="{FF2B5EF4-FFF2-40B4-BE49-F238E27FC236}">
                <a16:creationId xmlns:a16="http://schemas.microsoft.com/office/drawing/2014/main" id="{BAC750F3-C9F5-4047-8F95-D813A5F00B34}"/>
              </a:ext>
            </a:extLst>
          </p:cNvPr>
          <p:cNvSpPr>
            <a:spLocks xmlns:a="http://schemas.openxmlformats.org/drawingml/2006/main" noGrp="1"/>
          </p:cNvSpPr>
          <p:nvPr/>
        </p:nvSpPr>
        <p:spPr>
          <a:xfrm xmlns:a="http://schemas.openxmlformats.org/drawingml/2006/main">
            <a:off x="5495925" y="4819650"/>
            <a:ext cx="238125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빌드/디버깅 루틴 학습</a:t>
            </a:r>
          </a:p>
        </p:txBody>
      </p:sp>
      <p:sp>
        <p:nvSpPr>
          <p:cNvPr id="41" name="">
            <a:extLst xmlns:a="http://schemas.openxmlformats.org/drawingml/2006/main">
              <a:ext uri="{FF2B5EF4-FFF2-40B4-BE49-F238E27FC236}">
                <a16:creationId xmlns:a16="http://schemas.microsoft.com/office/drawing/2014/main" id="{43B834B5-F047-4FFA-8D51-FB7B9CF66CFF}"/>
              </a:ext>
            </a:extLst>
          </p:cNvPr>
          <p:cNvSpPr>
            <a:spLocks xmlns:a="http://schemas.openxmlformats.org/drawingml/2006/main" noGrp="1"/>
          </p:cNvSpPr>
          <p:nvPr/>
        </p:nvSpPr>
        <p:spPr>
          <a:xfrm xmlns:a="http://schemas.openxmlformats.org/drawingml/2006/main">
            <a:off x="685800" y="5248275"/>
            <a:ext cx="116205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1">
                <a:solidFill>
                  <a:srgbClr val="1F2328"/>
                </a:solidFill>
                <a:latin typeface="Pretendard"/>
                <a:ea typeface="Pretendard"/>
                <a:cs typeface="Pretendard"/>
              </a:defRPr>
            </a:pPr>
            <a:r>
              <a:rPr sz="780" b="1">
                <a:solidFill>
                  <a:srgbClr val="1F2328"/>
                </a:solidFill>
                <a:latin typeface="Pretendard"/>
                <a:ea typeface="Pretendard"/>
                <a:cs typeface="Pretendard"/>
              </a:rPr>
              <a:t>장비 SDK 제어</a:t>
            </a:r>
          </a:p>
        </p:txBody>
      </p:sp>
      <p:sp>
        <p:nvSpPr>
          <p:cNvPr id="42" name="">
            <a:extLst xmlns:a="http://schemas.openxmlformats.org/drawingml/2006/main">
              <a:ext uri="{FF2B5EF4-FFF2-40B4-BE49-F238E27FC236}">
                <a16:creationId xmlns:a16="http://schemas.microsoft.com/office/drawing/2014/main" id="{CAA49996-E9FD-47FC-8266-EC10E9A7532F}"/>
              </a:ext>
            </a:extLst>
          </p:cNvPr>
          <p:cNvSpPr>
            <a:spLocks xmlns:a="http://schemas.openxmlformats.org/drawingml/2006/main" noGrp="1"/>
          </p:cNvSpPr>
          <p:nvPr/>
        </p:nvSpPr>
        <p:spPr>
          <a:xfrm xmlns:a="http://schemas.openxmlformats.org/drawingml/2006/main">
            <a:off x="1847850" y="5248275"/>
            <a:ext cx="83820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E03C31"/>
                </a:solidFill>
                <a:latin typeface="Pretendard"/>
                <a:ea typeface="Pretendard"/>
                <a:cs typeface="Pretendard"/>
              </a:defRPr>
            </a:pPr>
            <a:r>
              <a:rPr sz="780" b="0">
                <a:solidFill>
                  <a:srgbClr val="E03C31"/>
                </a:solidFill>
                <a:latin typeface="Pretendard"/>
                <a:ea typeface="Pretendard"/>
                <a:cs typeface="Pretendard"/>
              </a:rPr>
              <a:t>보완 필요</a:t>
            </a:r>
          </a:p>
        </p:txBody>
      </p:sp>
      <p:sp>
        <p:nvSpPr>
          <p:cNvPr id="43" name="">
            <a:extLst xmlns:a="http://schemas.openxmlformats.org/drawingml/2006/main">
              <a:ext uri="{FF2B5EF4-FFF2-40B4-BE49-F238E27FC236}">
                <a16:creationId xmlns:a16="http://schemas.microsoft.com/office/drawing/2014/main" id="{D8F90337-1A21-4729-AD65-A4ECE5ACEC22}"/>
              </a:ext>
            </a:extLst>
          </p:cNvPr>
          <p:cNvSpPr>
            <a:spLocks xmlns:a="http://schemas.openxmlformats.org/drawingml/2006/main" noGrp="1"/>
          </p:cNvSpPr>
          <p:nvPr/>
        </p:nvSpPr>
        <p:spPr>
          <a:xfrm xmlns:a="http://schemas.openxmlformats.org/drawingml/2006/main">
            <a:off x="2686050" y="5248275"/>
            <a:ext cx="2809875"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API 연동 경험 기반 확장 예정</a:t>
            </a:r>
          </a:p>
        </p:txBody>
      </p:sp>
      <p:sp>
        <p:nvSpPr>
          <p:cNvPr id="44" name="">
            <a:extLst xmlns:a="http://schemas.openxmlformats.org/drawingml/2006/main">
              <a:ext uri="{FF2B5EF4-FFF2-40B4-BE49-F238E27FC236}">
                <a16:creationId xmlns:a16="http://schemas.microsoft.com/office/drawing/2014/main" id="{E393EF93-1117-4793-81A8-10382FF8F82B}"/>
              </a:ext>
            </a:extLst>
          </p:cNvPr>
          <p:cNvSpPr>
            <a:spLocks xmlns:a="http://schemas.openxmlformats.org/drawingml/2006/main" noGrp="1"/>
          </p:cNvSpPr>
          <p:nvPr/>
        </p:nvSpPr>
        <p:spPr>
          <a:xfrm xmlns:a="http://schemas.openxmlformats.org/drawingml/2006/main">
            <a:off x="5495925" y="5248275"/>
            <a:ext cx="2381250" cy="428625"/>
          </a:xfrm>
          <a:prstGeom xmlns:a="http://schemas.openxmlformats.org/drawingml/2006/main" prst="rect">
            <a:avLst/>
          </a:prstGeom>
          <a:solidFill xmlns:a="http://schemas.openxmlformats.org/drawingml/2006/main">
            <a:srgbClr val="FFF5F3"/>
          </a:solidFill>
          <a:ln xmlns:a="http://schemas.openxmlformats.org/drawingml/2006/main" w="9525">
            <a:solidFill>
              <a:srgbClr val="D8DEE5"/>
            </a:solidFill>
            <a:prstDash val="solid"/>
          </a:ln>
        </p:spPr>
        <p:txBody>
          <a:bodyPr xmlns:a="http://schemas.openxmlformats.org/drawingml/2006/main" wrap="square" lIns="66675" tIns="38100" rIns="66675" bIns="38100" anchor="ctr">
            <a:normAutofit fontScale="100000"/>
          </a:bodyPr>
          <a:lstStyle xmlns:a="http://schemas.openxmlformats.org/drawingml/2006/main"/>
          <a:p xmlns:a="http://schemas.openxmlformats.org/drawingml/2006/main">
            <a:pPr algn="l">
              <a:lnSpc>
                <a:spcPct val="108000"/>
              </a:lnSpc>
              <a:buNone/>
              <a:defRPr sz="780" b="0">
                <a:solidFill>
                  <a:srgbClr val="111827"/>
                </a:solidFill>
                <a:latin typeface="Pretendard"/>
                <a:ea typeface="Pretendard"/>
                <a:cs typeface="Pretendard"/>
              </a:defRPr>
            </a:pPr>
            <a:r>
              <a:rPr sz="780" b="0">
                <a:solidFill>
                  <a:srgbClr val="111827"/>
                </a:solidFill>
                <a:latin typeface="Pretendard"/>
                <a:ea typeface="Pretendard"/>
                <a:cs typeface="Pretendard"/>
              </a:rPr>
              <a:t>카메라/마운트 SDK 샘플 구현</a:t>
            </a:r>
          </a:p>
        </p:txBody>
      </p:sp>
      <p:sp>
        <p:nvSpPr>
          <p:cNvPr id="45" name="">
            <a:extLst xmlns:a="http://schemas.openxmlformats.org/drawingml/2006/main">
              <a:ext uri="{FF2B5EF4-FFF2-40B4-BE49-F238E27FC236}">
                <a16:creationId xmlns:a16="http://schemas.microsoft.com/office/drawing/2014/main" id="{5D27CA91-76C7-4B13-9AE1-CB9D697A1838}"/>
              </a:ext>
            </a:extLst>
          </p:cNvPr>
          <p:cNvSpPr>
            <a:spLocks xmlns:a="http://schemas.openxmlformats.org/drawingml/2006/main" noGrp="1"/>
          </p:cNvSpPr>
          <p:nvPr/>
        </p:nvSpPr>
        <p:spPr>
          <a:xfrm xmlns:a="http://schemas.openxmlformats.org/drawingml/2006/main">
            <a:off x="8172450" y="1390650"/>
            <a:ext cx="3333750" cy="3857625"/>
          </a:xfrm>
          <a:prstGeom xmlns:a="http://schemas.openxmlformats.org/drawingml/2006/main" prst="roundRect">
            <a:avLst>
              <a:gd name="adj" fmla="val 2286"/>
            </a:avLst>
          </a:prstGeom>
          <a:solidFill xmlns:a="http://schemas.openxmlformats.org/drawingml/2006/main">
            <a:srgbClr val="F4F5F6"/>
          </a:solidFill>
          <a:ln xmlns:a="http://schemas.openxmlformats.org/drawingml/2006/main" w="14288">
            <a:solidFill>
              <a:srgbClr val="AEB4BB"/>
            </a:solidFill>
            <a:prstDash val="dash"/>
          </a:ln>
        </p:spPr>
      </p:sp>
      <p:sp>
        <p:nvSpPr>
          <p:cNvPr id="46" name="">
            <a:extLst xmlns:a="http://schemas.openxmlformats.org/drawingml/2006/main">
              <a:ext uri="{FF2B5EF4-FFF2-40B4-BE49-F238E27FC236}">
                <a16:creationId xmlns:a16="http://schemas.microsoft.com/office/drawing/2014/main" id="{A14D96C5-E70A-4A83-9B16-DCE5F35EDFA7}"/>
              </a:ext>
            </a:extLst>
          </p:cNvPr>
          <p:cNvSpPr>
            <a:spLocks xmlns:a="http://schemas.openxmlformats.org/drawingml/2006/main" noGrp="1"/>
          </p:cNvSpPr>
          <p:nvPr/>
        </p:nvSpPr>
        <p:spPr>
          <a:xfrm xmlns:a="http://schemas.openxmlformats.org/drawingml/2006/main">
            <a:off x="8362950" y="161925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기술 스택 아이콘 영역</a:t>
            </a:r>
          </a:p>
        </p:txBody>
      </p:sp>
      <p:sp>
        <p:nvSpPr>
          <p:cNvPr id="47" name="">
            <a:extLst xmlns:a="http://schemas.openxmlformats.org/drawingml/2006/main">
              <a:ext uri="{FF2B5EF4-FFF2-40B4-BE49-F238E27FC236}">
                <a16:creationId xmlns:a16="http://schemas.microsoft.com/office/drawing/2014/main" id="{36BB2D35-B2E1-4720-B2B8-D46944621D6E}"/>
              </a:ext>
            </a:extLst>
          </p:cNvPr>
          <p:cNvSpPr>
            <a:spLocks xmlns:a="http://schemas.openxmlformats.org/drawingml/2006/main" noGrp="1"/>
          </p:cNvSpPr>
          <p:nvPr/>
        </p:nvSpPr>
        <p:spPr>
          <a:xfrm xmlns:a="http://schemas.openxmlformats.org/drawingml/2006/main">
            <a:off x="8458200" y="1981200"/>
            <a:ext cx="2762250" cy="2981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C++ / MFC / Python / MATLAB / Git /</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N.I.N.A / TCP-IP / Linux / Device SDK</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아이콘을 배치하세요.</a:t>
            </a:r>
          </a:p>
        </p:txBody>
      </p:sp>
      <p:sp>
        <p:nvSpPr>
          <p:cNvPr id="48" name="">
            <a:extLst xmlns:a="http://schemas.openxmlformats.org/drawingml/2006/main">
              <a:ext uri="{FF2B5EF4-FFF2-40B4-BE49-F238E27FC236}">
                <a16:creationId xmlns:a16="http://schemas.microsoft.com/office/drawing/2014/main" id="{46583E60-F665-4190-8E93-EB9C478401FE}"/>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49" name="">
            <a:extLst xmlns:a="http://schemas.openxmlformats.org/drawingml/2006/main">
              <a:ext uri="{FF2B5EF4-FFF2-40B4-BE49-F238E27FC236}">
                <a16:creationId xmlns:a16="http://schemas.microsoft.com/office/drawing/2014/main" id="{DC01919E-4D04-445F-B8A2-70DB8A11B6D2}"/>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기술 스택 아이콘을 넣고, 보완 필요 영역은 학습 계획과 함께 보이게 합니다.</a:t>
            </a:r>
          </a:p>
        </p:txBody>
      </p:sp>
      <p:sp>
        <p:nvSpPr>
          <p:cNvPr id="50" name="">
            <a:extLst xmlns:a="http://schemas.openxmlformats.org/drawingml/2006/main">
              <a:ext uri="{FF2B5EF4-FFF2-40B4-BE49-F238E27FC236}">
                <a16:creationId xmlns:a16="http://schemas.microsoft.com/office/drawing/2014/main" id="{DF94D572-FF02-486C-A95C-3A0B517E3DED}"/>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7 / 10</a:t>
            </a:r>
          </a:p>
        </p:txBody>
      </p:sp>
    </p:spTree>
    <p:extLst>
      <p:ext uri="{BB962C8B-B14F-4D97-AF65-F5344CB8AC3E}">
        <p14:creationId xmlns:p14="http://schemas.microsoft.com/office/powerpoint/2010/main" val="623880645"/>
      </p:ext>
    </p:extLst>
  </p:cSld>
</p:sld>
</file>

<file path=ppt/slides/slide8.xml><?xml version="1.0" encoding="utf-8"?>
<p:sld xmlns:p="http://schemas.openxmlformats.org/presentationml/2006/main">
  <p:cSld>
    <p:bg>
      <p:bgPr>
        <a:solidFill xmlns:a="http://schemas.openxmlformats.org/drawingml/2006/main">
          <a:srgbClr val="FBFB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A68E316-D488-4728-BC89-0160D9556F15}"/>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A806B00-03C0-445A-AF18-91258A87155C}"/>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08</a:t>
            </a:r>
          </a:p>
        </p:txBody>
      </p:sp>
      <p:sp>
        <p:nvSpPr>
          <p:cNvPr id="3" name="">
            <a:extLst xmlns:a="http://schemas.openxmlformats.org/drawingml/2006/main">
              <a:ext uri="{FF2B5EF4-FFF2-40B4-BE49-F238E27FC236}">
                <a16:creationId xmlns:a16="http://schemas.microsoft.com/office/drawing/2014/main" id="{94105DBA-CC5A-4CF3-81A1-D8ACD3F4B8F1}"/>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빠르게 적응할 수 있는 이유</a:t>
            </a:r>
          </a:p>
        </p:txBody>
      </p:sp>
      <p:sp>
        <p:nvSpPr>
          <p:cNvPr id="4" name="">
            <a:extLst xmlns:a="http://schemas.openxmlformats.org/drawingml/2006/main">
              <a:ext uri="{FF2B5EF4-FFF2-40B4-BE49-F238E27FC236}">
                <a16:creationId xmlns:a16="http://schemas.microsoft.com/office/drawing/2014/main" id="{FF4E3239-56A4-4474-BAE0-5B409EA4AB11}"/>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기존 코드 구조를 읽고, 안정적으로 기능을 더하는 개발 방식에 익숙합니다.</a:t>
            </a:r>
          </a:p>
        </p:txBody>
      </p:sp>
      <p:sp>
        <p:nvSpPr>
          <p:cNvPr id="5" name="">
            <a:extLst xmlns:a="http://schemas.openxmlformats.org/drawingml/2006/main">
              <a:ext uri="{FF2B5EF4-FFF2-40B4-BE49-F238E27FC236}">
                <a16:creationId xmlns:a16="http://schemas.microsoft.com/office/drawing/2014/main" id="{2EAA200C-654C-4BB7-90A0-9AE566AC7B66}"/>
              </a:ext>
            </a:extLst>
          </p:cNvPr>
          <p:cNvSpPr>
            <a:spLocks xmlns:a="http://schemas.openxmlformats.org/drawingml/2006/main" noGrp="1"/>
          </p:cNvSpPr>
          <p:nvPr/>
        </p:nvSpPr>
        <p:spPr>
          <a:xfrm xmlns:a="http://schemas.openxmlformats.org/drawingml/2006/main">
            <a:off x="685800" y="1314450"/>
            <a:ext cx="657225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4000"/>
              </a:lnSpc>
              <a:buNone/>
              <a:defRPr sz="1650" b="1">
                <a:solidFill>
                  <a:srgbClr val="111827"/>
                </a:solidFill>
                <a:latin typeface="Pretendard"/>
                <a:ea typeface="Pretendard"/>
                <a:cs typeface="Pretendard"/>
              </a:defRPr>
            </a:pPr>
            <a:r>
              <a:rPr sz="1650" b="1">
                <a:solidFill>
                  <a:srgbClr val="111827"/>
                </a:solidFill>
                <a:latin typeface="Pretendard"/>
                <a:ea typeface="Pretendard"/>
                <a:cs typeface="Pretendard"/>
              </a:rPr>
              <a:t>직접 코드를 작성하고 문제를 분석해온 시간이 길기 때문에,</a:t>
            </a:r>
          </a:p>
          <a:p xmlns:a="http://schemas.openxmlformats.org/drawingml/2006/main">
            <a:pPr algn="l">
              <a:lnSpc>
                <a:spcPct val="114000"/>
              </a:lnSpc>
              <a:buNone/>
              <a:defRPr sz="1650" b="1">
                <a:solidFill>
                  <a:srgbClr val="111827"/>
                </a:solidFill>
                <a:latin typeface="Pretendard"/>
                <a:ea typeface="Pretendard"/>
                <a:cs typeface="Pretendard"/>
              </a:defRPr>
            </a:pPr>
            <a:r>
              <a:rPr sz="1650" b="1">
                <a:solidFill>
                  <a:srgbClr val="111827"/>
                </a:solidFill>
                <a:latin typeface="Pretendard"/>
                <a:ea typeface="Pretendard"/>
                <a:cs typeface="Pretendard"/>
              </a:rPr>
              <a:t>새 도메인에서도 먼저 구조를 이해하고 안정적으로 개선합니다.</a:t>
            </a:r>
          </a:p>
        </p:txBody>
      </p:sp>
      <p:sp>
        <p:nvSpPr>
          <p:cNvPr id="6" name="">
            <a:extLst xmlns:a="http://schemas.openxmlformats.org/drawingml/2006/main">
              <a:ext uri="{FF2B5EF4-FFF2-40B4-BE49-F238E27FC236}">
                <a16:creationId xmlns:a16="http://schemas.microsoft.com/office/drawing/2014/main" id="{E4827F3D-BA7F-46A6-8356-3BE66FA99DBB}"/>
              </a:ext>
            </a:extLst>
          </p:cNvPr>
          <p:cNvSpPr>
            <a:spLocks xmlns:a="http://schemas.openxmlformats.org/drawingml/2006/main" noGrp="1"/>
          </p:cNvSpPr>
          <p:nvPr/>
        </p:nvSpPr>
        <p:spPr>
          <a:xfrm xmlns:a="http://schemas.openxmlformats.org/drawingml/2006/main">
            <a:off x="685800" y="2628900"/>
            <a:ext cx="2000250" cy="1333500"/>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w="9525">
            <a:solidFill>
              <a:srgbClr val="E1E4E8"/>
            </a:solidFill>
            <a:prstDash val="solid"/>
          </a:ln>
        </p:spPr>
      </p:sp>
      <p:sp>
        <p:nvSpPr>
          <p:cNvPr id="7" name="">
            <a:extLst xmlns:a="http://schemas.openxmlformats.org/drawingml/2006/main">
              <a:ext uri="{FF2B5EF4-FFF2-40B4-BE49-F238E27FC236}">
                <a16:creationId xmlns:a16="http://schemas.microsoft.com/office/drawing/2014/main" id="{E9EBCBB0-15B8-4113-8F75-22C0CCB0559E}"/>
              </a:ext>
            </a:extLst>
          </p:cNvPr>
          <p:cNvSpPr>
            <a:spLocks xmlns:a="http://schemas.openxmlformats.org/drawingml/2006/main" noGrp="1"/>
          </p:cNvSpPr>
          <p:nvPr/>
        </p:nvSpPr>
        <p:spPr>
          <a:xfrm xmlns:a="http://schemas.openxmlformats.org/drawingml/2006/main">
            <a:off x="838200" y="2762250"/>
            <a:ext cx="1695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코드 이해</a:t>
            </a:r>
          </a:p>
        </p:txBody>
      </p:sp>
      <p:sp>
        <p:nvSpPr>
          <p:cNvPr id="8" name="">
            <a:extLst xmlns:a="http://schemas.openxmlformats.org/drawingml/2006/main">
              <a:ext uri="{FF2B5EF4-FFF2-40B4-BE49-F238E27FC236}">
                <a16:creationId xmlns:a16="http://schemas.microsoft.com/office/drawing/2014/main" id="{8FCB2CF5-D95A-4EB0-A7C5-A8E71B99F902}"/>
              </a:ext>
            </a:extLst>
          </p:cNvPr>
          <p:cNvSpPr>
            <a:spLocks xmlns:a="http://schemas.openxmlformats.org/drawingml/2006/main" noGrp="1"/>
          </p:cNvSpPr>
          <p:nvPr/>
        </p:nvSpPr>
        <p:spPr>
          <a:xfrm xmlns:a="http://schemas.openxmlformats.org/drawingml/2006/main">
            <a:off x="838200" y="3067050"/>
            <a:ext cx="16954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새로운 도메인의 코드를 읽고 기존 구조 안에서 안정적으로 기능을 추가합니다.</a:t>
            </a:r>
          </a:p>
        </p:txBody>
      </p:sp>
      <p:sp>
        <p:nvSpPr>
          <p:cNvPr id="9" name="">
            <a:extLst xmlns:a="http://schemas.openxmlformats.org/drawingml/2006/main">
              <a:ext uri="{FF2B5EF4-FFF2-40B4-BE49-F238E27FC236}">
                <a16:creationId xmlns:a16="http://schemas.microsoft.com/office/drawing/2014/main" id="{C871F7F9-F515-4211-B0DC-0683AE5D66BA}"/>
              </a:ext>
            </a:extLst>
          </p:cNvPr>
          <p:cNvSpPr>
            <a:spLocks xmlns:a="http://schemas.openxmlformats.org/drawingml/2006/main" noGrp="1"/>
          </p:cNvSpPr>
          <p:nvPr/>
        </p:nvSpPr>
        <p:spPr>
          <a:xfrm xmlns:a="http://schemas.openxmlformats.org/drawingml/2006/main">
            <a:off x="2895600" y="2628900"/>
            <a:ext cx="2000250" cy="1333500"/>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w="9525">
            <a:solidFill>
              <a:srgbClr val="E1E4E8"/>
            </a:solidFill>
            <a:prstDash val="solid"/>
          </a:ln>
        </p:spPr>
      </p:sp>
      <p:sp>
        <p:nvSpPr>
          <p:cNvPr id="10" name="">
            <a:extLst xmlns:a="http://schemas.openxmlformats.org/drawingml/2006/main">
              <a:ext uri="{FF2B5EF4-FFF2-40B4-BE49-F238E27FC236}">
                <a16:creationId xmlns:a16="http://schemas.microsoft.com/office/drawing/2014/main" id="{CACE42BB-BF3F-4ADF-83A8-92A78C72DC4A}"/>
              </a:ext>
            </a:extLst>
          </p:cNvPr>
          <p:cNvSpPr>
            <a:spLocks xmlns:a="http://schemas.openxmlformats.org/drawingml/2006/main" noGrp="1"/>
          </p:cNvSpPr>
          <p:nvPr/>
        </p:nvSpPr>
        <p:spPr>
          <a:xfrm xmlns:a="http://schemas.openxmlformats.org/drawingml/2006/main">
            <a:off x="3048000" y="2762250"/>
            <a:ext cx="1695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품질 기준</a:t>
            </a:r>
          </a:p>
        </p:txBody>
      </p:sp>
      <p:sp>
        <p:nvSpPr>
          <p:cNvPr id="11" name="">
            <a:extLst xmlns:a="http://schemas.openxmlformats.org/drawingml/2006/main">
              <a:ext uri="{FF2B5EF4-FFF2-40B4-BE49-F238E27FC236}">
                <a16:creationId xmlns:a16="http://schemas.microsoft.com/office/drawing/2014/main" id="{3126BA59-E713-4B13-9888-AF13A6EBD721}"/>
              </a:ext>
            </a:extLst>
          </p:cNvPr>
          <p:cNvSpPr>
            <a:spLocks xmlns:a="http://schemas.openxmlformats.org/drawingml/2006/main" noGrp="1"/>
          </p:cNvSpPr>
          <p:nvPr/>
        </p:nvSpPr>
        <p:spPr>
          <a:xfrm xmlns:a="http://schemas.openxmlformats.org/drawingml/2006/main">
            <a:off x="3048000" y="3067050"/>
            <a:ext cx="16954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성능, 안정성, 유지보수성을 함께 고려하며 장기 운영 제품의 현실을 이해합니다.</a:t>
            </a:r>
          </a:p>
        </p:txBody>
      </p:sp>
      <p:sp>
        <p:nvSpPr>
          <p:cNvPr id="12" name="">
            <a:extLst xmlns:a="http://schemas.openxmlformats.org/drawingml/2006/main">
              <a:ext uri="{FF2B5EF4-FFF2-40B4-BE49-F238E27FC236}">
                <a16:creationId xmlns:a16="http://schemas.microsoft.com/office/drawing/2014/main" id="{EC9E3C63-3FFE-4AA5-9A87-D738270453A8}"/>
              </a:ext>
            </a:extLst>
          </p:cNvPr>
          <p:cNvSpPr>
            <a:spLocks xmlns:a="http://schemas.openxmlformats.org/drawingml/2006/main" noGrp="1"/>
          </p:cNvSpPr>
          <p:nvPr/>
        </p:nvSpPr>
        <p:spPr>
          <a:xfrm xmlns:a="http://schemas.openxmlformats.org/drawingml/2006/main">
            <a:off x="5105400" y="2628900"/>
            <a:ext cx="2000250" cy="1333500"/>
          </a:xfrm>
          <a:prstGeom xmlns:a="http://schemas.openxmlformats.org/drawingml/2006/main" prst="roundRect">
            <a:avLst>
              <a:gd name="adj" fmla="val 5714"/>
            </a:avLst>
          </a:prstGeom>
          <a:solidFill xmlns:a="http://schemas.openxmlformats.org/drawingml/2006/main">
            <a:srgbClr val="FFFFFF"/>
          </a:solidFill>
          <a:ln xmlns:a="http://schemas.openxmlformats.org/drawingml/2006/main" w="9525">
            <a:solidFill>
              <a:srgbClr val="E1E4E8"/>
            </a:solidFill>
            <a:prstDash val="solid"/>
          </a:ln>
        </p:spPr>
      </p:sp>
      <p:sp>
        <p:nvSpPr>
          <p:cNvPr id="13" name="">
            <a:extLst xmlns:a="http://schemas.openxmlformats.org/drawingml/2006/main">
              <a:ext uri="{FF2B5EF4-FFF2-40B4-BE49-F238E27FC236}">
                <a16:creationId xmlns:a16="http://schemas.microsoft.com/office/drawing/2014/main" id="{7B431546-857E-4250-93E1-47B65EE1899A}"/>
              </a:ext>
            </a:extLst>
          </p:cNvPr>
          <p:cNvSpPr>
            <a:spLocks xmlns:a="http://schemas.openxmlformats.org/drawingml/2006/main" noGrp="1"/>
          </p:cNvSpPr>
          <p:nvPr/>
        </p:nvSpPr>
        <p:spPr>
          <a:xfrm xmlns:a="http://schemas.openxmlformats.org/drawingml/2006/main">
            <a:off x="5257800" y="2762250"/>
            <a:ext cx="1695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학습 태도</a:t>
            </a:r>
          </a:p>
        </p:txBody>
      </p:sp>
      <p:sp>
        <p:nvSpPr>
          <p:cNvPr id="14" name="">
            <a:extLst xmlns:a="http://schemas.openxmlformats.org/drawingml/2006/main">
              <a:ext uri="{FF2B5EF4-FFF2-40B4-BE49-F238E27FC236}">
                <a16:creationId xmlns:a16="http://schemas.microsoft.com/office/drawing/2014/main" id="{7CDD40BF-2610-489B-B19D-F692E4114128}"/>
              </a:ext>
            </a:extLst>
          </p:cNvPr>
          <p:cNvSpPr>
            <a:spLocks xmlns:a="http://schemas.openxmlformats.org/drawingml/2006/main" noGrp="1"/>
          </p:cNvSpPr>
          <p:nvPr/>
        </p:nvSpPr>
        <p:spPr>
          <a:xfrm xmlns:a="http://schemas.openxmlformats.org/drawingml/2006/main">
            <a:off x="5257800" y="3067050"/>
            <a:ext cx="16954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팀과 제품에 필요한 방식에 맞춰 실무자로 기여하는 것을 중요하게 생각합니다.</a:t>
            </a:r>
          </a:p>
        </p:txBody>
      </p:sp>
      <p:sp>
        <p:nvSpPr>
          <p:cNvPr id="15" name="">
            <a:extLst xmlns:a="http://schemas.openxmlformats.org/drawingml/2006/main">
              <a:ext uri="{FF2B5EF4-FFF2-40B4-BE49-F238E27FC236}">
                <a16:creationId xmlns:a16="http://schemas.microsoft.com/office/drawing/2014/main" id="{0CD42450-1332-430F-8304-983B8C7A174F}"/>
              </a:ext>
            </a:extLst>
          </p:cNvPr>
          <p:cNvSpPr>
            <a:spLocks xmlns:a="http://schemas.openxmlformats.org/drawingml/2006/main" noGrp="1"/>
          </p:cNvSpPr>
          <p:nvPr/>
        </p:nvSpPr>
        <p:spPr>
          <a:xfrm xmlns:a="http://schemas.openxmlformats.org/drawingml/2006/main">
            <a:off x="685800" y="4381500"/>
            <a:ext cx="838200" cy="266700"/>
          </a:xfrm>
          <a:prstGeom xmlns:a="http://schemas.openxmlformats.org/drawingml/2006/main" prst="roundRect">
            <a:avLst>
              <a:gd name="adj" fmla="val 28571"/>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19050" rIns="76200" bIns="19050"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보완 실행</a:t>
            </a:r>
          </a:p>
        </p:txBody>
      </p:sp>
      <p:sp>
        <p:nvSpPr>
          <p:cNvPr id="16" name="">
            <a:extLst xmlns:a="http://schemas.openxmlformats.org/drawingml/2006/main">
              <a:ext uri="{FF2B5EF4-FFF2-40B4-BE49-F238E27FC236}">
                <a16:creationId xmlns:a16="http://schemas.microsoft.com/office/drawing/2014/main" id="{48B15F95-2951-4809-987D-70481A6D1BB5}"/>
              </a:ext>
            </a:extLst>
          </p:cNvPr>
          <p:cNvSpPr>
            <a:spLocks xmlns:a="http://schemas.openxmlformats.org/drawingml/2006/main" noGrp="1"/>
          </p:cNvSpPr>
          <p:nvPr/>
        </p:nvSpPr>
        <p:spPr>
          <a:xfrm xmlns:a="http://schemas.openxmlformats.org/drawingml/2006/main">
            <a:off x="1676400" y="4362450"/>
            <a:ext cx="542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65" b="0">
                <a:solidFill>
                  <a:srgbClr val="111827"/>
                </a:solidFill>
                <a:latin typeface="Pretendard"/>
                <a:ea typeface="Pretendard"/>
                <a:cs typeface="Pretendard"/>
              </a:defRPr>
            </a:pPr>
            <a:r>
              <a:rPr sz="1065" b="0">
                <a:solidFill>
                  <a:srgbClr val="111827"/>
                </a:solidFill>
                <a:latin typeface="Pretendard"/>
                <a:ea typeface="Pretendard"/>
                <a:cs typeface="Pretendard"/>
              </a:rPr>
              <a:t>통신 인터페이스, 장비 SDK, Linux 환경은 작은 샘플 구현부터 시작해 실무 코드로 연결하겠습니다.</a:t>
            </a:r>
          </a:p>
        </p:txBody>
      </p:sp>
      <p:sp>
        <p:nvSpPr>
          <p:cNvPr id="17" name="">
            <a:extLst xmlns:a="http://schemas.openxmlformats.org/drawingml/2006/main">
              <a:ext uri="{FF2B5EF4-FFF2-40B4-BE49-F238E27FC236}">
                <a16:creationId xmlns:a16="http://schemas.microsoft.com/office/drawing/2014/main" id="{B3F01E58-2876-4D3A-84E8-64E1483E0257}"/>
              </a:ext>
            </a:extLst>
          </p:cNvPr>
          <p:cNvSpPr>
            <a:spLocks xmlns:a="http://schemas.openxmlformats.org/drawingml/2006/main" noGrp="1"/>
          </p:cNvSpPr>
          <p:nvPr/>
        </p:nvSpPr>
        <p:spPr>
          <a:xfrm xmlns:a="http://schemas.openxmlformats.org/drawingml/2006/main">
            <a:off x="685800" y="5010150"/>
            <a:ext cx="1143000" cy="285750"/>
          </a:xfrm>
          <a:prstGeom xmlns:a="http://schemas.openxmlformats.org/drawingml/2006/main" prst="roundRect">
            <a:avLst>
              <a:gd name="adj" fmla="val 50000"/>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TCP/IP 샘플</a:t>
            </a:r>
          </a:p>
        </p:txBody>
      </p:sp>
      <p:sp>
        <p:nvSpPr>
          <p:cNvPr id="18" name="">
            <a:extLst xmlns:a="http://schemas.openxmlformats.org/drawingml/2006/main">
              <a:ext uri="{FF2B5EF4-FFF2-40B4-BE49-F238E27FC236}">
                <a16:creationId xmlns:a16="http://schemas.microsoft.com/office/drawing/2014/main" id="{53FE6B4B-467E-4A8E-956F-762A846A8D36}"/>
              </a:ext>
            </a:extLst>
          </p:cNvPr>
          <p:cNvSpPr>
            <a:spLocks xmlns:a="http://schemas.openxmlformats.org/drawingml/2006/main" noGrp="1"/>
          </p:cNvSpPr>
          <p:nvPr/>
        </p:nvSpPr>
        <p:spPr>
          <a:xfrm xmlns:a="http://schemas.openxmlformats.org/drawingml/2006/main">
            <a:off x="1962150" y="5010150"/>
            <a:ext cx="1238250" cy="285750"/>
          </a:xfrm>
          <a:prstGeom xmlns:a="http://schemas.openxmlformats.org/drawingml/2006/main" prst="roundRect">
            <a:avLst>
              <a:gd name="adj" fmla="val 50000"/>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장비 SDK 예제</a:t>
            </a:r>
          </a:p>
        </p:txBody>
      </p:sp>
      <p:sp>
        <p:nvSpPr>
          <p:cNvPr id="19" name="">
            <a:extLst xmlns:a="http://schemas.openxmlformats.org/drawingml/2006/main">
              <a:ext uri="{FF2B5EF4-FFF2-40B4-BE49-F238E27FC236}">
                <a16:creationId xmlns:a16="http://schemas.microsoft.com/office/drawing/2014/main" id="{B32E04A1-043C-4B44-AE6F-EF4AAA127967}"/>
              </a:ext>
            </a:extLst>
          </p:cNvPr>
          <p:cNvSpPr>
            <a:spLocks xmlns:a="http://schemas.openxmlformats.org/drawingml/2006/main" noGrp="1"/>
          </p:cNvSpPr>
          <p:nvPr/>
        </p:nvSpPr>
        <p:spPr>
          <a:xfrm xmlns:a="http://schemas.openxmlformats.org/drawingml/2006/main">
            <a:off x="3333750" y="5010150"/>
            <a:ext cx="1447800" cy="285750"/>
          </a:xfrm>
          <a:prstGeom xmlns:a="http://schemas.openxmlformats.org/drawingml/2006/main" prst="roundRect">
            <a:avLst>
              <a:gd name="adj" fmla="val 50000"/>
            </a:avLst>
          </a:prstGeom>
          <a:solidFill xmlns:a="http://schemas.openxmlformats.org/drawingml/2006/main">
            <a:srgbClr val="FFF1EF"/>
          </a:solidFill>
          <a:ln xmlns:a="http://schemas.openxmlformats.org/drawingml/2006/main" w="9525">
            <a:solidFill>
              <a:srgbClr val="F2B7AF"/>
            </a:solidFill>
            <a:prstDash val="solid"/>
          </a:ln>
        </p:spPr>
        <p:txBody>
          <a:bodyPr xmlns:a="http://schemas.openxmlformats.org/drawingml/2006/main" lIns="76200" tIns="28575" rIns="76200" bIns="28575" anchor="ctr">
            <a:normAutofit fontScale="100000"/>
          </a:bodyPr>
          <a:lstStyle xmlns:a="http://schemas.openxmlformats.org/drawingml/2006/main"/>
          <a:p xmlns:a="http://schemas.openxmlformats.org/drawingml/2006/main">
            <a:pPr algn="ctr">
              <a:defRPr sz="863" b="1">
                <a:solidFill>
                  <a:srgbClr val="E03C31"/>
                </a:solidFill>
                <a:latin typeface="Pretendard"/>
                <a:ea typeface="Pretendard"/>
                <a:cs typeface="Pretendard"/>
              </a:defRPr>
            </a:pPr>
            <a:r>
              <a:rPr sz="863" b="1">
                <a:solidFill>
                  <a:srgbClr val="E03C31"/>
                </a:solidFill>
                <a:latin typeface="Pretendard"/>
                <a:ea typeface="Pretendard"/>
                <a:cs typeface="Pretendard"/>
              </a:rPr>
              <a:t>Linux 빌드/디버깅</a:t>
            </a:r>
          </a:p>
        </p:txBody>
      </p:sp>
      <p:sp>
        <p:nvSpPr>
          <p:cNvPr id="20" name="">
            <a:extLst xmlns:a="http://schemas.openxmlformats.org/drawingml/2006/main">
              <a:ext uri="{FF2B5EF4-FFF2-40B4-BE49-F238E27FC236}">
                <a16:creationId xmlns:a16="http://schemas.microsoft.com/office/drawing/2014/main" id="{F4F4935F-DF86-49CF-B42B-02EB2A85B850}"/>
              </a:ext>
            </a:extLst>
          </p:cNvPr>
          <p:cNvSpPr>
            <a:spLocks xmlns:a="http://schemas.openxmlformats.org/drawingml/2006/main" noGrp="1"/>
          </p:cNvSpPr>
          <p:nvPr/>
        </p:nvSpPr>
        <p:spPr>
          <a:xfrm xmlns:a="http://schemas.openxmlformats.org/drawingml/2006/main">
            <a:off x="7677150" y="1428750"/>
            <a:ext cx="3829050" cy="3829050"/>
          </a:xfrm>
          <a:prstGeom xmlns:a="http://schemas.openxmlformats.org/drawingml/2006/main" prst="roundRect">
            <a:avLst>
              <a:gd name="adj" fmla="val 1990"/>
            </a:avLst>
          </a:prstGeom>
          <a:solidFill xmlns:a="http://schemas.openxmlformats.org/drawingml/2006/main">
            <a:srgbClr val="F4F5F6"/>
          </a:solidFill>
          <a:ln xmlns:a="http://schemas.openxmlformats.org/drawingml/2006/main" w="14288">
            <a:solidFill>
              <a:srgbClr val="AEB4BB"/>
            </a:solidFill>
            <a:prstDash val="dash"/>
          </a:ln>
        </p:spPr>
      </p:sp>
      <p:sp>
        <p:nvSpPr>
          <p:cNvPr id="21" name="">
            <a:extLst xmlns:a="http://schemas.openxmlformats.org/drawingml/2006/main">
              <a:ext uri="{FF2B5EF4-FFF2-40B4-BE49-F238E27FC236}">
                <a16:creationId xmlns:a16="http://schemas.microsoft.com/office/drawing/2014/main" id="{64CAD063-5A98-48CE-8E2D-8687960F7AA9}"/>
              </a:ext>
            </a:extLst>
          </p:cNvPr>
          <p:cNvSpPr>
            <a:spLocks xmlns:a="http://schemas.openxmlformats.org/drawingml/2006/main" noGrp="1"/>
          </p:cNvSpPr>
          <p:nvPr/>
        </p:nvSpPr>
        <p:spPr>
          <a:xfrm xmlns:a="http://schemas.openxmlformats.org/drawingml/2006/main">
            <a:off x="7867650" y="1657350"/>
            <a:ext cx="3448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코드 분석 / 리팩토링 / 학습 로드맵</a:t>
            </a:r>
          </a:p>
        </p:txBody>
      </p:sp>
      <p:sp>
        <p:nvSpPr>
          <p:cNvPr id="22" name="">
            <a:extLst xmlns:a="http://schemas.openxmlformats.org/drawingml/2006/main">
              <a:ext uri="{FF2B5EF4-FFF2-40B4-BE49-F238E27FC236}">
                <a16:creationId xmlns:a16="http://schemas.microsoft.com/office/drawing/2014/main" id="{5547C18A-4737-4E99-9404-4AACDEBB20D4}"/>
              </a:ext>
            </a:extLst>
          </p:cNvPr>
          <p:cNvSpPr>
            <a:spLocks xmlns:a="http://schemas.openxmlformats.org/drawingml/2006/main" noGrp="1"/>
          </p:cNvSpPr>
          <p:nvPr/>
        </p:nvSpPr>
        <p:spPr>
          <a:xfrm xmlns:a="http://schemas.openxmlformats.org/drawingml/2006/main">
            <a:off x="7962900" y="2019300"/>
            <a:ext cx="325755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기존 코드 분석 흐름, 리팩토링 전후,</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또는 TCP-IP·Linux·SDK 학습 로드맵</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이미지를 삽입하세요.</a:t>
            </a:r>
          </a:p>
        </p:txBody>
      </p:sp>
      <p:sp>
        <p:nvSpPr>
          <p:cNvPr id="23" name="">
            <a:extLst xmlns:a="http://schemas.openxmlformats.org/drawingml/2006/main">
              <a:ext uri="{FF2B5EF4-FFF2-40B4-BE49-F238E27FC236}">
                <a16:creationId xmlns:a16="http://schemas.microsoft.com/office/drawing/2014/main" id="{73B713FB-3332-43DE-9982-F7CE3B1440F3}"/>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24" name="">
            <a:extLst xmlns:a="http://schemas.openxmlformats.org/drawingml/2006/main">
              <a:ext uri="{FF2B5EF4-FFF2-40B4-BE49-F238E27FC236}">
                <a16:creationId xmlns:a16="http://schemas.microsoft.com/office/drawing/2014/main" id="{C5EE2113-7EFC-4B3F-8560-5C29B7335063}"/>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코드 분석/리팩토링 사례 또는 보완 영역 학습 로드맵을 넣습니다.</a:t>
            </a:r>
          </a:p>
        </p:txBody>
      </p:sp>
      <p:sp>
        <p:nvSpPr>
          <p:cNvPr id="25" name="">
            <a:extLst xmlns:a="http://schemas.openxmlformats.org/drawingml/2006/main">
              <a:ext uri="{FF2B5EF4-FFF2-40B4-BE49-F238E27FC236}">
                <a16:creationId xmlns:a16="http://schemas.microsoft.com/office/drawing/2014/main" id="{A0B386B3-CA62-4884-BA33-CA2BA3AD64FB}"/>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8 / 10</a:t>
            </a:r>
          </a:p>
        </p:txBody>
      </p:sp>
    </p:spTree>
    <p:extLst>
      <p:ext uri="{BB962C8B-B14F-4D97-AF65-F5344CB8AC3E}">
        <p14:creationId xmlns:p14="http://schemas.microsoft.com/office/powerpoint/2010/main" val="93862491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535BDDB-A58C-4D67-A74B-874E8068EB9E}"/>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8D8397DD-1269-4DD6-8DD9-90A937736878}"/>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09</a:t>
            </a:r>
          </a:p>
        </p:txBody>
      </p:sp>
      <p:sp>
        <p:nvSpPr>
          <p:cNvPr id="3" name="">
            <a:extLst xmlns:a="http://schemas.openxmlformats.org/drawingml/2006/main">
              <a:ext uri="{FF2B5EF4-FFF2-40B4-BE49-F238E27FC236}">
                <a16:creationId xmlns:a16="http://schemas.microsoft.com/office/drawing/2014/main" id="{E2243D1E-F86D-477E-BA70-CD035D6774C4}"/>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Rainbow Robotics에서 기여 가능한 부분</a:t>
            </a:r>
          </a:p>
        </p:txBody>
      </p:sp>
      <p:sp>
        <p:nvSpPr>
          <p:cNvPr id="4" name="">
            <a:extLst xmlns:a="http://schemas.openxmlformats.org/drawingml/2006/main">
              <a:ext uri="{FF2B5EF4-FFF2-40B4-BE49-F238E27FC236}">
                <a16:creationId xmlns:a16="http://schemas.microsoft.com/office/drawing/2014/main" id="{B564EE3C-711B-47D8-9EA7-36CFE3952993}"/>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과학기술 SW 개발 경험을 천문 장비 제어 UI와 장기 운영 구조 개선에 적용하겠습니다.</a:t>
            </a:r>
          </a:p>
        </p:txBody>
      </p:sp>
      <p:sp>
        <p:nvSpPr>
          <p:cNvPr id="5" name="">
            <a:extLst xmlns:a="http://schemas.openxmlformats.org/drawingml/2006/main">
              <a:ext uri="{FF2B5EF4-FFF2-40B4-BE49-F238E27FC236}">
                <a16:creationId xmlns:a16="http://schemas.microsoft.com/office/drawing/2014/main" id="{C4C4265B-3DC2-4FBD-AAC4-4F84322F5050}"/>
              </a:ext>
            </a:extLst>
          </p:cNvPr>
          <p:cNvSpPr>
            <a:spLocks xmlns:a="http://schemas.openxmlformats.org/drawingml/2006/main" noGrp="1"/>
          </p:cNvSpPr>
          <p:nvPr/>
        </p:nvSpPr>
        <p:spPr>
          <a:xfrm xmlns:a="http://schemas.openxmlformats.org/drawingml/2006/main">
            <a:off x="685800" y="1409700"/>
            <a:ext cx="2476500" cy="876300"/>
          </a:xfrm>
          <a:prstGeom xmlns:a="http://schemas.openxmlformats.org/drawingml/2006/main" prst="roundRect">
            <a:avLst>
              <a:gd name="adj" fmla="val 8696"/>
            </a:avLst>
          </a:prstGeom>
          <a:solidFill xmlns:a="http://schemas.openxmlformats.org/drawingml/2006/main">
            <a:srgbClr val="FFF5F3"/>
          </a:solidFill>
          <a:ln xmlns:a="http://schemas.openxmlformats.org/drawingml/2006/main" w="9525">
            <a:solidFill>
              <a:srgbClr val="F2B7AF"/>
            </a:solidFill>
            <a:prstDash val="solid"/>
          </a:ln>
        </p:spPr>
      </p:sp>
      <p:sp>
        <p:nvSpPr>
          <p:cNvPr id="6" name="">
            <a:extLst xmlns:a="http://schemas.openxmlformats.org/drawingml/2006/main">
              <a:ext uri="{FF2B5EF4-FFF2-40B4-BE49-F238E27FC236}">
                <a16:creationId xmlns:a16="http://schemas.microsoft.com/office/drawing/2014/main" id="{43B3D5E6-2C04-4CCE-90FC-FF7B5BCDC12A}"/>
              </a:ext>
            </a:extLst>
          </p:cNvPr>
          <p:cNvSpPr>
            <a:spLocks xmlns:a="http://schemas.openxmlformats.org/drawingml/2006/main" noGrp="1"/>
          </p:cNvSpPr>
          <p:nvPr/>
        </p:nvSpPr>
        <p:spPr>
          <a:xfrm xmlns:a="http://schemas.openxmlformats.org/drawingml/2006/main">
            <a:off x="838200" y="1543050"/>
            <a:ext cx="2171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E03C31"/>
                </a:solidFill>
                <a:latin typeface="Pretendard"/>
                <a:ea typeface="Pretendard"/>
                <a:cs typeface="Pretendard"/>
              </a:defRPr>
            </a:pPr>
            <a:r>
              <a:rPr sz="1050" b="1">
                <a:solidFill>
                  <a:srgbClr val="E03C31"/>
                </a:solidFill>
                <a:latin typeface="Pretendard"/>
                <a:ea typeface="Pretendard"/>
                <a:cs typeface="Pretendard"/>
              </a:rPr>
              <a:t>C++ 기능 개발</a:t>
            </a:r>
          </a:p>
        </p:txBody>
      </p:sp>
      <p:sp>
        <p:nvSpPr>
          <p:cNvPr id="7" name="">
            <a:extLst xmlns:a="http://schemas.openxmlformats.org/drawingml/2006/main">
              <a:ext uri="{FF2B5EF4-FFF2-40B4-BE49-F238E27FC236}">
                <a16:creationId xmlns:a16="http://schemas.microsoft.com/office/drawing/2014/main" id="{F42A1644-D27F-4646-9317-25E3B872AD12}"/>
              </a:ext>
            </a:extLst>
          </p:cNvPr>
          <p:cNvSpPr>
            <a:spLocks xmlns:a="http://schemas.openxmlformats.org/drawingml/2006/main" noGrp="1"/>
          </p:cNvSpPr>
          <p:nvPr/>
        </p:nvSpPr>
        <p:spPr>
          <a:xfrm xmlns:a="http://schemas.openxmlformats.org/drawingml/2006/main">
            <a:off x="838200" y="1847850"/>
            <a:ext cx="217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천문 응용 소프트웨어 기능 구현</a:t>
            </a:r>
          </a:p>
        </p:txBody>
      </p:sp>
      <p:sp>
        <p:nvSpPr>
          <p:cNvPr id="8" name="">
            <a:extLst xmlns:a="http://schemas.openxmlformats.org/drawingml/2006/main">
              <a:ext uri="{FF2B5EF4-FFF2-40B4-BE49-F238E27FC236}">
                <a16:creationId xmlns:a16="http://schemas.microsoft.com/office/drawing/2014/main" id="{ED668EDE-43E2-4544-8108-0E16DB9CA6F0}"/>
              </a:ext>
            </a:extLst>
          </p:cNvPr>
          <p:cNvSpPr>
            <a:spLocks xmlns:a="http://schemas.openxmlformats.org/drawingml/2006/main" noGrp="1"/>
          </p:cNvSpPr>
          <p:nvPr/>
        </p:nvSpPr>
        <p:spPr>
          <a:xfrm xmlns:a="http://schemas.openxmlformats.org/drawingml/2006/main">
            <a:off x="3409950" y="1409700"/>
            <a:ext cx="2476500" cy="876300"/>
          </a:xfrm>
          <a:prstGeom xmlns:a="http://schemas.openxmlformats.org/drawingml/2006/main" prst="roundRect">
            <a:avLst>
              <a:gd name="adj" fmla="val 8696"/>
            </a:avLst>
          </a:prstGeom>
          <a:solidFill xmlns:a="http://schemas.openxmlformats.org/drawingml/2006/main">
            <a:srgbClr val="FAFBFC"/>
          </a:solidFill>
          <a:ln xmlns:a="http://schemas.openxmlformats.org/drawingml/2006/main" w="9525">
            <a:solidFill>
              <a:srgbClr val="E1E4E8"/>
            </a:solidFill>
            <a:prstDash val="solid"/>
          </a:ln>
        </p:spPr>
      </p:sp>
      <p:sp>
        <p:nvSpPr>
          <p:cNvPr id="9" name="">
            <a:extLst xmlns:a="http://schemas.openxmlformats.org/drawingml/2006/main">
              <a:ext uri="{FF2B5EF4-FFF2-40B4-BE49-F238E27FC236}">
                <a16:creationId xmlns:a16="http://schemas.microsoft.com/office/drawing/2014/main" id="{17031D26-BFB1-496A-B6FA-C0EEF2B458A5}"/>
              </a:ext>
            </a:extLst>
          </p:cNvPr>
          <p:cNvSpPr>
            <a:spLocks xmlns:a="http://schemas.openxmlformats.org/drawingml/2006/main" noGrp="1"/>
          </p:cNvSpPr>
          <p:nvPr/>
        </p:nvSpPr>
        <p:spPr>
          <a:xfrm xmlns:a="http://schemas.openxmlformats.org/drawingml/2006/main">
            <a:off x="3562350" y="1543050"/>
            <a:ext cx="2171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유지보수·리팩토링</a:t>
            </a:r>
          </a:p>
        </p:txBody>
      </p:sp>
      <p:sp>
        <p:nvSpPr>
          <p:cNvPr id="10" name="">
            <a:extLst xmlns:a="http://schemas.openxmlformats.org/drawingml/2006/main">
              <a:ext uri="{FF2B5EF4-FFF2-40B4-BE49-F238E27FC236}">
                <a16:creationId xmlns:a16="http://schemas.microsoft.com/office/drawing/2014/main" id="{C9B6CAB1-153B-4270-B254-8F3B7D2EE9E0}"/>
              </a:ext>
            </a:extLst>
          </p:cNvPr>
          <p:cNvSpPr>
            <a:spLocks xmlns:a="http://schemas.openxmlformats.org/drawingml/2006/main" noGrp="1"/>
          </p:cNvSpPr>
          <p:nvPr/>
        </p:nvSpPr>
        <p:spPr>
          <a:xfrm xmlns:a="http://schemas.openxmlformats.org/drawingml/2006/main">
            <a:off x="3562350" y="1847850"/>
            <a:ext cx="217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기존 코드 분석과 안정적 개선</a:t>
            </a:r>
          </a:p>
        </p:txBody>
      </p:sp>
      <p:sp>
        <p:nvSpPr>
          <p:cNvPr id="11" name="">
            <a:extLst xmlns:a="http://schemas.openxmlformats.org/drawingml/2006/main">
              <a:ext uri="{FF2B5EF4-FFF2-40B4-BE49-F238E27FC236}">
                <a16:creationId xmlns:a16="http://schemas.microsoft.com/office/drawing/2014/main" id="{00B83DE3-1A8A-4512-9CFA-DB6E4A33D773}"/>
              </a:ext>
            </a:extLst>
          </p:cNvPr>
          <p:cNvSpPr>
            <a:spLocks xmlns:a="http://schemas.openxmlformats.org/drawingml/2006/main" noGrp="1"/>
          </p:cNvSpPr>
          <p:nvPr/>
        </p:nvSpPr>
        <p:spPr>
          <a:xfrm xmlns:a="http://schemas.openxmlformats.org/drawingml/2006/main">
            <a:off x="685800" y="2533650"/>
            <a:ext cx="2476500" cy="876300"/>
          </a:xfrm>
          <a:prstGeom xmlns:a="http://schemas.openxmlformats.org/drawingml/2006/main" prst="roundRect">
            <a:avLst>
              <a:gd name="adj" fmla="val 8696"/>
            </a:avLst>
          </a:prstGeom>
          <a:solidFill xmlns:a="http://schemas.openxmlformats.org/drawingml/2006/main">
            <a:srgbClr val="FAFBFC"/>
          </a:solidFill>
          <a:ln xmlns:a="http://schemas.openxmlformats.org/drawingml/2006/main" w="9525">
            <a:solidFill>
              <a:srgbClr val="E1E4E8"/>
            </a:solidFill>
            <a:prstDash val="solid"/>
          </a:ln>
        </p:spPr>
      </p:sp>
      <p:sp>
        <p:nvSpPr>
          <p:cNvPr id="12" name="">
            <a:extLst xmlns:a="http://schemas.openxmlformats.org/drawingml/2006/main">
              <a:ext uri="{FF2B5EF4-FFF2-40B4-BE49-F238E27FC236}">
                <a16:creationId xmlns:a16="http://schemas.microsoft.com/office/drawing/2014/main" id="{CC97E0CD-A181-463F-87DE-8667504A4E78}"/>
              </a:ext>
            </a:extLst>
          </p:cNvPr>
          <p:cNvSpPr>
            <a:spLocks xmlns:a="http://schemas.openxmlformats.org/drawingml/2006/main" noGrp="1"/>
          </p:cNvSpPr>
          <p:nvPr/>
        </p:nvSpPr>
        <p:spPr>
          <a:xfrm xmlns:a="http://schemas.openxmlformats.org/drawingml/2006/main">
            <a:off x="838200" y="2667000"/>
            <a:ext cx="2171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제어 UI/Workflow</a:t>
            </a:r>
          </a:p>
        </p:txBody>
      </p:sp>
      <p:sp>
        <p:nvSpPr>
          <p:cNvPr id="13" name="">
            <a:extLst xmlns:a="http://schemas.openxmlformats.org/drawingml/2006/main">
              <a:ext uri="{FF2B5EF4-FFF2-40B4-BE49-F238E27FC236}">
                <a16:creationId xmlns:a16="http://schemas.microsoft.com/office/drawing/2014/main" id="{69B49C17-2369-4417-AF8D-A2235BC06F9A}"/>
              </a:ext>
            </a:extLst>
          </p:cNvPr>
          <p:cNvSpPr>
            <a:spLocks xmlns:a="http://schemas.openxmlformats.org/drawingml/2006/main" noGrp="1"/>
          </p:cNvSpPr>
          <p:nvPr/>
        </p:nvSpPr>
        <p:spPr>
          <a:xfrm xmlns:a="http://schemas.openxmlformats.org/drawingml/2006/main">
            <a:off x="838200" y="2971800"/>
            <a:ext cx="217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카메라·마운트 제어 흐름 개선</a:t>
            </a:r>
          </a:p>
        </p:txBody>
      </p:sp>
      <p:sp>
        <p:nvSpPr>
          <p:cNvPr id="14" name="">
            <a:extLst xmlns:a="http://schemas.openxmlformats.org/drawingml/2006/main">
              <a:ext uri="{FF2B5EF4-FFF2-40B4-BE49-F238E27FC236}">
                <a16:creationId xmlns:a16="http://schemas.microsoft.com/office/drawing/2014/main" id="{A76D7A36-4922-4559-BFF0-A7A0ED46475B}"/>
              </a:ext>
            </a:extLst>
          </p:cNvPr>
          <p:cNvSpPr>
            <a:spLocks xmlns:a="http://schemas.openxmlformats.org/drawingml/2006/main" noGrp="1"/>
          </p:cNvSpPr>
          <p:nvPr/>
        </p:nvSpPr>
        <p:spPr>
          <a:xfrm xmlns:a="http://schemas.openxmlformats.org/drawingml/2006/main">
            <a:off x="3409950" y="2533650"/>
            <a:ext cx="2476500" cy="876300"/>
          </a:xfrm>
          <a:prstGeom xmlns:a="http://schemas.openxmlformats.org/drawingml/2006/main" prst="roundRect">
            <a:avLst>
              <a:gd name="adj" fmla="val 8696"/>
            </a:avLst>
          </a:prstGeom>
          <a:solidFill xmlns:a="http://schemas.openxmlformats.org/drawingml/2006/main">
            <a:srgbClr val="FAFBFC"/>
          </a:solidFill>
          <a:ln xmlns:a="http://schemas.openxmlformats.org/drawingml/2006/main" w="9525">
            <a:solidFill>
              <a:srgbClr val="E1E4E8"/>
            </a:solidFill>
            <a:prstDash val="solid"/>
          </a:ln>
        </p:spPr>
      </p:sp>
      <p:sp>
        <p:nvSpPr>
          <p:cNvPr id="15" name="">
            <a:extLst xmlns:a="http://schemas.openxmlformats.org/drawingml/2006/main">
              <a:ext uri="{FF2B5EF4-FFF2-40B4-BE49-F238E27FC236}">
                <a16:creationId xmlns:a16="http://schemas.microsoft.com/office/drawing/2014/main" id="{9384F43A-5985-4668-A0DC-CD8B3EB3EBB9}"/>
              </a:ext>
            </a:extLst>
          </p:cNvPr>
          <p:cNvSpPr>
            <a:spLocks xmlns:a="http://schemas.openxmlformats.org/drawingml/2006/main" noGrp="1"/>
          </p:cNvSpPr>
          <p:nvPr/>
        </p:nvSpPr>
        <p:spPr>
          <a:xfrm xmlns:a="http://schemas.openxmlformats.org/drawingml/2006/main">
            <a:off x="3562350" y="2667000"/>
            <a:ext cx="2171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사용자 관점 품질</a:t>
            </a:r>
          </a:p>
        </p:txBody>
      </p:sp>
      <p:sp>
        <p:nvSpPr>
          <p:cNvPr id="16" name="">
            <a:extLst xmlns:a="http://schemas.openxmlformats.org/drawingml/2006/main">
              <a:ext uri="{FF2B5EF4-FFF2-40B4-BE49-F238E27FC236}">
                <a16:creationId xmlns:a16="http://schemas.microsoft.com/office/drawing/2014/main" id="{3C7F9DDA-8B8B-4163-A242-0C48D1781019}"/>
              </a:ext>
            </a:extLst>
          </p:cNvPr>
          <p:cNvSpPr>
            <a:spLocks xmlns:a="http://schemas.openxmlformats.org/drawingml/2006/main" noGrp="1"/>
          </p:cNvSpPr>
          <p:nvPr/>
        </p:nvSpPr>
        <p:spPr>
          <a:xfrm xmlns:a="http://schemas.openxmlformats.org/drawingml/2006/main">
            <a:off x="3562350" y="2971800"/>
            <a:ext cx="217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관측 workflow 기반 기능 기획</a:t>
            </a:r>
          </a:p>
        </p:txBody>
      </p:sp>
      <p:sp>
        <p:nvSpPr>
          <p:cNvPr id="17" name="">
            <a:extLst xmlns:a="http://schemas.openxmlformats.org/drawingml/2006/main">
              <a:ext uri="{FF2B5EF4-FFF2-40B4-BE49-F238E27FC236}">
                <a16:creationId xmlns:a16="http://schemas.microsoft.com/office/drawing/2014/main" id="{F0A5A0C8-4CF5-47AD-8E83-57738343777C}"/>
              </a:ext>
            </a:extLst>
          </p:cNvPr>
          <p:cNvSpPr>
            <a:spLocks xmlns:a="http://schemas.openxmlformats.org/drawingml/2006/main" noGrp="1"/>
          </p:cNvSpPr>
          <p:nvPr/>
        </p:nvSpPr>
        <p:spPr>
          <a:xfrm xmlns:a="http://schemas.openxmlformats.org/drawingml/2006/main">
            <a:off x="685800" y="3657600"/>
            <a:ext cx="2476500" cy="876300"/>
          </a:xfrm>
          <a:prstGeom xmlns:a="http://schemas.openxmlformats.org/drawingml/2006/main" prst="roundRect">
            <a:avLst>
              <a:gd name="adj" fmla="val 8696"/>
            </a:avLst>
          </a:prstGeom>
          <a:solidFill xmlns:a="http://schemas.openxmlformats.org/drawingml/2006/main">
            <a:srgbClr val="FAFBFC"/>
          </a:solidFill>
          <a:ln xmlns:a="http://schemas.openxmlformats.org/drawingml/2006/main" w="9525">
            <a:solidFill>
              <a:srgbClr val="E1E4E8"/>
            </a:solidFill>
            <a:prstDash val="solid"/>
          </a:ln>
        </p:spPr>
      </p:sp>
      <p:sp>
        <p:nvSpPr>
          <p:cNvPr id="18" name="">
            <a:extLst xmlns:a="http://schemas.openxmlformats.org/drawingml/2006/main">
              <a:ext uri="{FF2B5EF4-FFF2-40B4-BE49-F238E27FC236}">
                <a16:creationId xmlns:a16="http://schemas.microsoft.com/office/drawing/2014/main" id="{C344ED43-992E-4DFF-B9B2-5DC8731B33A6}"/>
              </a:ext>
            </a:extLst>
          </p:cNvPr>
          <p:cNvSpPr>
            <a:spLocks xmlns:a="http://schemas.openxmlformats.org/drawingml/2006/main" noGrp="1"/>
          </p:cNvSpPr>
          <p:nvPr/>
        </p:nvSpPr>
        <p:spPr>
          <a:xfrm xmlns:a="http://schemas.openxmlformats.org/drawingml/2006/main">
            <a:off x="838200" y="3790950"/>
            <a:ext cx="2171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장기 운영 구조</a:t>
            </a:r>
          </a:p>
        </p:txBody>
      </p:sp>
      <p:sp>
        <p:nvSpPr>
          <p:cNvPr id="19" name="">
            <a:extLst xmlns:a="http://schemas.openxmlformats.org/drawingml/2006/main">
              <a:ext uri="{FF2B5EF4-FFF2-40B4-BE49-F238E27FC236}">
                <a16:creationId xmlns:a16="http://schemas.microsoft.com/office/drawing/2014/main" id="{BEEB1F85-B36C-4DC3-B8B4-9ECFEC5EA83A}"/>
              </a:ext>
            </a:extLst>
          </p:cNvPr>
          <p:cNvSpPr>
            <a:spLocks xmlns:a="http://schemas.openxmlformats.org/drawingml/2006/main" noGrp="1"/>
          </p:cNvSpPr>
          <p:nvPr/>
        </p:nvSpPr>
        <p:spPr>
          <a:xfrm xmlns:a="http://schemas.openxmlformats.org/drawingml/2006/main">
            <a:off x="838200" y="4095750"/>
            <a:ext cx="217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성능·안정성·유지보수성 개선</a:t>
            </a:r>
          </a:p>
        </p:txBody>
      </p:sp>
      <p:sp>
        <p:nvSpPr>
          <p:cNvPr id="20" name="">
            <a:extLst xmlns:a="http://schemas.openxmlformats.org/drawingml/2006/main">
              <a:ext uri="{FF2B5EF4-FFF2-40B4-BE49-F238E27FC236}">
                <a16:creationId xmlns:a16="http://schemas.microsoft.com/office/drawing/2014/main" id="{9FB94F59-AFCB-4047-AA13-B5306A051BF0}"/>
              </a:ext>
            </a:extLst>
          </p:cNvPr>
          <p:cNvSpPr>
            <a:spLocks xmlns:a="http://schemas.openxmlformats.org/drawingml/2006/main" noGrp="1"/>
          </p:cNvSpPr>
          <p:nvPr/>
        </p:nvSpPr>
        <p:spPr>
          <a:xfrm xmlns:a="http://schemas.openxmlformats.org/drawingml/2006/main">
            <a:off x="3409950" y="3657600"/>
            <a:ext cx="2476500" cy="876300"/>
          </a:xfrm>
          <a:prstGeom xmlns:a="http://schemas.openxmlformats.org/drawingml/2006/main" prst="roundRect">
            <a:avLst>
              <a:gd name="adj" fmla="val 8696"/>
            </a:avLst>
          </a:prstGeom>
          <a:solidFill xmlns:a="http://schemas.openxmlformats.org/drawingml/2006/main">
            <a:srgbClr val="FAFBFC"/>
          </a:solidFill>
          <a:ln xmlns:a="http://schemas.openxmlformats.org/drawingml/2006/main" w="9525">
            <a:solidFill>
              <a:srgbClr val="E1E4E8"/>
            </a:solidFill>
            <a:prstDash val="solid"/>
          </a:ln>
        </p:spPr>
      </p:sp>
      <p:sp>
        <p:nvSpPr>
          <p:cNvPr id="21" name="">
            <a:extLst xmlns:a="http://schemas.openxmlformats.org/drawingml/2006/main">
              <a:ext uri="{FF2B5EF4-FFF2-40B4-BE49-F238E27FC236}">
                <a16:creationId xmlns:a16="http://schemas.microsoft.com/office/drawing/2014/main" id="{B2584D70-90DF-4F04-A78A-C38026C05F69}"/>
              </a:ext>
            </a:extLst>
          </p:cNvPr>
          <p:cNvSpPr>
            <a:spLocks xmlns:a="http://schemas.openxmlformats.org/drawingml/2006/main" noGrp="1"/>
          </p:cNvSpPr>
          <p:nvPr/>
        </p:nvSpPr>
        <p:spPr>
          <a:xfrm xmlns:a="http://schemas.openxmlformats.org/drawingml/2006/main">
            <a:off x="3562350" y="3790950"/>
            <a:ext cx="2171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050" b="1">
                <a:solidFill>
                  <a:srgbClr val="111827"/>
                </a:solidFill>
                <a:latin typeface="Pretendard"/>
                <a:ea typeface="Pretendard"/>
                <a:cs typeface="Pretendard"/>
              </a:defRPr>
            </a:pPr>
            <a:r>
              <a:rPr sz="1050" b="1">
                <a:solidFill>
                  <a:srgbClr val="111827"/>
                </a:solidFill>
                <a:latin typeface="Pretendard"/>
                <a:ea typeface="Pretendard"/>
                <a:cs typeface="Pretendard"/>
              </a:rPr>
              <a:t>외부 라이브러리 확장</a:t>
            </a:r>
          </a:p>
        </p:txBody>
      </p:sp>
      <p:sp>
        <p:nvSpPr>
          <p:cNvPr id="22" name="">
            <a:extLst xmlns:a="http://schemas.openxmlformats.org/drawingml/2006/main">
              <a:ext uri="{FF2B5EF4-FFF2-40B4-BE49-F238E27FC236}">
                <a16:creationId xmlns:a16="http://schemas.microsoft.com/office/drawing/2014/main" id="{91C6E8B6-63BB-41B5-B29C-70ACB99AE80E}"/>
              </a:ext>
            </a:extLst>
          </p:cNvPr>
          <p:cNvSpPr>
            <a:spLocks xmlns:a="http://schemas.openxmlformats.org/drawingml/2006/main" noGrp="1"/>
          </p:cNvSpPr>
          <p:nvPr/>
        </p:nvSpPr>
        <p:spPr>
          <a:xfrm xmlns:a="http://schemas.openxmlformats.org/drawingml/2006/main">
            <a:off x="3562350" y="4095750"/>
            <a:ext cx="2171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938" b="0">
                <a:solidFill>
                  <a:srgbClr val="4B5563"/>
                </a:solidFill>
                <a:latin typeface="Pretendard"/>
                <a:ea typeface="Pretendard"/>
                <a:cs typeface="Pretendard"/>
              </a:defRPr>
            </a:pPr>
            <a:r>
              <a:rPr sz="938" b="0">
                <a:solidFill>
                  <a:srgbClr val="4B5563"/>
                </a:solidFill>
                <a:latin typeface="Pretendard"/>
                <a:ea typeface="Pretendard"/>
                <a:cs typeface="Pretendard"/>
              </a:rPr>
              <a:t>오픈소스/API 기반 빠른 기능 확장</a:t>
            </a:r>
          </a:p>
        </p:txBody>
      </p:sp>
      <p:sp>
        <p:nvSpPr>
          <p:cNvPr id="23" name="">
            <a:extLst xmlns:a="http://schemas.openxmlformats.org/drawingml/2006/main">
              <a:ext uri="{FF2B5EF4-FFF2-40B4-BE49-F238E27FC236}">
                <a16:creationId xmlns:a16="http://schemas.microsoft.com/office/drawing/2014/main" id="{16AA036D-E92F-43D7-A1E9-E90529C83D33}"/>
              </a:ext>
            </a:extLst>
          </p:cNvPr>
          <p:cNvSpPr>
            <a:spLocks xmlns:a="http://schemas.openxmlformats.org/drawingml/2006/main" noGrp="1"/>
          </p:cNvSpPr>
          <p:nvPr/>
        </p:nvSpPr>
        <p:spPr>
          <a:xfrm xmlns:a="http://schemas.openxmlformats.org/drawingml/2006/main">
            <a:off x="6819900" y="1428750"/>
            <a:ext cx="4686300" cy="3829050"/>
          </a:xfrm>
          <a:prstGeom xmlns:a="http://schemas.openxmlformats.org/drawingml/2006/main" prst="roundRect">
            <a:avLst>
              <a:gd name="adj" fmla="val 1990"/>
            </a:avLst>
          </a:prstGeom>
          <a:solidFill xmlns:a="http://schemas.openxmlformats.org/drawingml/2006/main">
            <a:srgbClr val="F4F5F6"/>
          </a:solidFill>
          <a:ln xmlns:a="http://schemas.openxmlformats.org/drawingml/2006/main" w="14288">
            <a:solidFill>
              <a:srgbClr val="AEB4BB"/>
            </a:solidFill>
            <a:prstDash val="dash"/>
          </a:ln>
        </p:spPr>
      </p:sp>
      <p:sp>
        <p:nvSpPr>
          <p:cNvPr id="24" name="">
            <a:extLst xmlns:a="http://schemas.openxmlformats.org/drawingml/2006/main">
              <a:ext uri="{FF2B5EF4-FFF2-40B4-BE49-F238E27FC236}">
                <a16:creationId xmlns:a16="http://schemas.microsoft.com/office/drawing/2014/main" id="{171DEBCB-0C00-4B73-B426-336DA2CF44F2}"/>
              </a:ext>
            </a:extLst>
          </p:cNvPr>
          <p:cNvSpPr>
            <a:spLocks xmlns:a="http://schemas.openxmlformats.org/drawingml/2006/main" noGrp="1"/>
          </p:cNvSpPr>
          <p:nvPr/>
        </p:nvSpPr>
        <p:spPr>
          <a:xfrm xmlns:a="http://schemas.openxmlformats.org/drawingml/2006/main">
            <a:off x="7010400" y="1657350"/>
            <a:ext cx="43053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천문 장비 제어 소프트웨어 구성도</a:t>
            </a:r>
          </a:p>
        </p:txBody>
      </p:sp>
      <p:sp>
        <p:nvSpPr>
          <p:cNvPr id="25" name="">
            <a:extLst xmlns:a="http://schemas.openxmlformats.org/drawingml/2006/main">
              <a:ext uri="{FF2B5EF4-FFF2-40B4-BE49-F238E27FC236}">
                <a16:creationId xmlns:a16="http://schemas.microsoft.com/office/drawing/2014/main" id="{1A1AF6B6-D3C5-4762-BD6C-F1DA1B4A4C1F}"/>
              </a:ext>
            </a:extLst>
          </p:cNvPr>
          <p:cNvSpPr>
            <a:spLocks xmlns:a="http://schemas.openxmlformats.org/drawingml/2006/main" noGrp="1"/>
          </p:cNvSpPr>
          <p:nvPr/>
        </p:nvSpPr>
        <p:spPr>
          <a:xfrm xmlns:a="http://schemas.openxmlformats.org/drawingml/2006/main">
            <a:off x="7105650" y="2019300"/>
            <a:ext cx="411480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응용 SW, 제어 UI, TCP/IP 또는 SDK,</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카메라·마운트·포커서·관측 workflow를</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연결한 구성도를 삽입하세요.</a:t>
            </a:r>
          </a:p>
        </p:txBody>
      </p:sp>
      <p:sp>
        <p:nvSpPr>
          <p:cNvPr id="26" name="">
            <a:extLst xmlns:a="http://schemas.openxmlformats.org/drawingml/2006/main">
              <a:ext uri="{FF2B5EF4-FFF2-40B4-BE49-F238E27FC236}">
                <a16:creationId xmlns:a16="http://schemas.microsoft.com/office/drawing/2014/main" id="{838DFFA9-F36F-4783-BF18-B19B6244BC0E}"/>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27" name="">
            <a:extLst xmlns:a="http://schemas.openxmlformats.org/drawingml/2006/main">
              <a:ext uri="{FF2B5EF4-FFF2-40B4-BE49-F238E27FC236}">
                <a16:creationId xmlns:a16="http://schemas.microsoft.com/office/drawing/2014/main" id="{464B1B2F-69A3-45E5-8447-39D44D7D5EB5}"/>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천문 장비 제어 소프트웨어 구성도 또는 제품 아키텍처 이미지를 넣습니다.</a:t>
            </a:r>
          </a:p>
        </p:txBody>
      </p:sp>
      <p:sp>
        <p:nvSpPr>
          <p:cNvPr id="28" name="">
            <a:extLst xmlns:a="http://schemas.openxmlformats.org/drawingml/2006/main">
              <a:ext uri="{FF2B5EF4-FFF2-40B4-BE49-F238E27FC236}">
                <a16:creationId xmlns:a16="http://schemas.microsoft.com/office/drawing/2014/main" id="{F791E831-F575-4CD7-B59F-21FBA38A75A9}"/>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9 / 10</a:t>
            </a:r>
          </a:p>
        </p:txBody>
      </p:sp>
    </p:spTree>
    <p:extLst>
      <p:ext uri="{BB962C8B-B14F-4D97-AF65-F5344CB8AC3E}">
        <p14:creationId xmlns:p14="http://schemas.microsoft.com/office/powerpoint/2010/main" val="1623224803"/>
      </p:ext>
    </p:extLst>
  </p:cSld>
</p:sld>
</file>

<file path=ppt/slides/slide10.xml><?xml version="1.0" encoding="utf-8"?>
<p:sld xmlns:p="http://schemas.openxmlformats.org/presentationml/2006/main">
  <p:cSld>
    <p:bg>
      <p:bgPr>
        <a:solidFill xmlns:a="http://schemas.openxmlformats.org/drawingml/2006/main">
          <a:srgbClr val="FBFB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05FA480-BE3F-47E3-8182-3556852D6F59}"/>
              </a:ext>
            </a:extLst>
          </p:cNvPr>
          <p:cNvSpPr>
            <a:spLocks xmlns:a="http://schemas.openxmlformats.org/drawingml/2006/main" noGrp="1"/>
          </p:cNvSpPr>
          <p:nvPr/>
        </p:nvSpPr>
        <p:spPr>
          <a:xfrm xmlns:a="http://schemas.openxmlformats.org/drawingml/2006/main">
            <a:off x="533400" y="400050"/>
            <a:ext cx="76200" cy="51435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80D36C7-14A0-4046-8E48-EE1A83339F4A}"/>
              </a:ext>
            </a:extLst>
          </p:cNvPr>
          <p:cNvSpPr>
            <a:spLocks xmlns:a="http://schemas.openxmlformats.org/drawingml/2006/main" noGrp="1"/>
          </p:cNvSpPr>
          <p:nvPr/>
        </p:nvSpPr>
        <p:spPr>
          <a:xfrm xmlns:a="http://schemas.openxmlformats.org/drawingml/2006/main">
            <a:off x="685800" y="400050"/>
            <a:ext cx="381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825" b="1">
                <a:solidFill>
                  <a:srgbClr val="E03C31"/>
                </a:solidFill>
                <a:latin typeface="Pretendard"/>
                <a:ea typeface="Pretendard"/>
                <a:cs typeface="Pretendard"/>
              </a:defRPr>
            </a:pPr>
            <a:r>
              <a:rPr sz="825" b="1">
                <a:solidFill>
                  <a:srgbClr val="E03C31"/>
                </a:solidFill>
                <a:latin typeface="Pretendard"/>
                <a:ea typeface="Pretendard"/>
                <a:cs typeface="Pretendard"/>
              </a:rPr>
              <a:t>10</a:t>
            </a:r>
          </a:p>
        </p:txBody>
      </p:sp>
      <p:sp>
        <p:nvSpPr>
          <p:cNvPr id="3" name="">
            <a:extLst xmlns:a="http://schemas.openxmlformats.org/drawingml/2006/main">
              <a:ext uri="{FF2B5EF4-FFF2-40B4-BE49-F238E27FC236}">
                <a16:creationId xmlns:a16="http://schemas.microsoft.com/office/drawing/2014/main" id="{952216F1-70A4-4828-BF07-254EE7AF4DB7}"/>
              </a:ext>
            </a:extLst>
          </p:cNvPr>
          <p:cNvSpPr>
            <a:spLocks xmlns:a="http://schemas.openxmlformats.org/drawingml/2006/main" noGrp="1"/>
          </p:cNvSpPr>
          <p:nvPr/>
        </p:nvSpPr>
        <p:spPr>
          <a:xfrm xmlns:a="http://schemas.openxmlformats.org/drawingml/2006/main">
            <a:off x="1104900" y="333375"/>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94000"/>
              </a:lnSpc>
              <a:buNone/>
              <a:defRPr sz="2250" b="1">
                <a:solidFill>
                  <a:srgbClr val="111827"/>
                </a:solidFill>
                <a:latin typeface="Pretendard"/>
                <a:ea typeface="Pretendard"/>
                <a:cs typeface="Pretendard"/>
              </a:defRPr>
            </a:pPr>
            <a:r>
              <a:rPr sz="2250" b="1">
                <a:solidFill>
                  <a:srgbClr val="111827"/>
                </a:solidFill>
                <a:latin typeface="Pretendard"/>
                <a:ea typeface="Pretendard"/>
                <a:cs typeface="Pretendard"/>
              </a:rPr>
              <a:t>Closing</a:t>
            </a:r>
          </a:p>
        </p:txBody>
      </p:sp>
      <p:sp>
        <p:nvSpPr>
          <p:cNvPr id="4" name="">
            <a:extLst xmlns:a="http://schemas.openxmlformats.org/drawingml/2006/main">
              <a:ext uri="{FF2B5EF4-FFF2-40B4-BE49-F238E27FC236}">
                <a16:creationId xmlns:a16="http://schemas.microsoft.com/office/drawing/2014/main" id="{9F6C6D6E-EE16-4559-A8E7-4A9DD3446C50}"/>
              </a:ext>
            </a:extLst>
          </p:cNvPr>
          <p:cNvSpPr>
            <a:spLocks xmlns:a="http://schemas.openxmlformats.org/drawingml/2006/main" noGrp="1"/>
          </p:cNvSpPr>
          <p:nvPr/>
        </p:nvSpPr>
        <p:spPr>
          <a:xfrm xmlns:a="http://schemas.openxmlformats.org/drawingml/2006/main">
            <a:off x="1104900" y="742950"/>
            <a:ext cx="885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2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복잡한 소프트웨어를 꾸준히 개선해온 경험으로 천문 응용 SW 개발에 기여하겠습니다.</a:t>
            </a:r>
          </a:p>
        </p:txBody>
      </p:sp>
      <p:sp>
        <p:nvSpPr>
          <p:cNvPr id="5" name="">
            <a:extLst xmlns:a="http://schemas.openxmlformats.org/drawingml/2006/main">
              <a:ext uri="{FF2B5EF4-FFF2-40B4-BE49-F238E27FC236}">
                <a16:creationId xmlns:a16="http://schemas.microsoft.com/office/drawing/2014/main" id="{90966937-51DE-4F0D-8B9E-8A3A66E3173C}"/>
              </a:ext>
            </a:extLst>
          </p:cNvPr>
          <p:cNvSpPr>
            <a:spLocks xmlns:a="http://schemas.openxmlformats.org/drawingml/2006/main" noGrp="1"/>
          </p:cNvSpPr>
          <p:nvPr/>
        </p:nvSpPr>
        <p:spPr>
          <a:xfrm xmlns:a="http://schemas.openxmlformats.org/drawingml/2006/main">
            <a:off x="685800" y="1371600"/>
            <a:ext cx="66675" cy="3124200"/>
          </a:xfrm>
          <a:prstGeom xmlns:a="http://schemas.openxmlformats.org/drawingml/2006/main" prst="rect">
            <a:avLst/>
          </a:prstGeom>
          <a:solidFill xmlns:a="http://schemas.openxmlformats.org/drawingml/2006/main">
            <a:srgbClr val="E03C31"/>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F013A5B3-A037-472D-9D4D-797EC6FB6F6C}"/>
              </a:ext>
            </a:extLst>
          </p:cNvPr>
          <p:cNvSpPr>
            <a:spLocks xmlns:a="http://schemas.openxmlformats.org/drawingml/2006/main" noGrp="1"/>
          </p:cNvSpPr>
          <p:nvPr/>
        </p:nvSpPr>
        <p:spPr>
          <a:xfrm xmlns:a="http://schemas.openxmlformats.org/drawingml/2006/main">
            <a:off x="971550" y="1409700"/>
            <a:ext cx="6191250" cy="2914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28000"/>
              </a:lnSpc>
              <a:buNone/>
              <a:defRPr sz="1275" b="0">
                <a:solidFill>
                  <a:srgbClr val="111827"/>
                </a:solidFill>
                <a:latin typeface="Pretendard"/>
                <a:ea typeface="Pretendard"/>
                <a:cs typeface="Pretendard"/>
              </a:defRPr>
            </a:pPr>
            <a:r>
              <a:rPr sz="1275" b="0">
                <a:solidFill>
                  <a:srgbClr val="111827"/>
                </a:solidFill>
                <a:latin typeface="Pretendard"/>
                <a:ea typeface="Pretendard"/>
                <a:cs typeface="Pretendard"/>
              </a:rPr>
              <a:t>저는 C++ 기반 과학기술 소프트웨어를 오랜 기간 개발해왔고, 천문 관측을 실제 취미로 즐기며 관련 소프트웨어를 직접 확장해본 경험이 있습니다.</a:t>
            </a:r>
          </a:p>
          <a:p xmlns:a="http://schemas.openxmlformats.org/drawingml/2006/main">
            <a:r>
              <a:t/>
            </a:r>
          </a:p>
          <a:p xmlns:a="http://schemas.openxmlformats.org/drawingml/2006/main">
            <a:pPr algn="l">
              <a:lnSpc>
                <a:spcPct val="128000"/>
              </a:lnSpc>
              <a:buNone/>
              <a:defRPr sz="1275" b="0">
                <a:solidFill>
                  <a:srgbClr val="111827"/>
                </a:solidFill>
                <a:latin typeface="Pretendard"/>
                <a:ea typeface="Pretendard"/>
                <a:cs typeface="Pretendard"/>
              </a:defRPr>
            </a:pPr>
            <a:r>
              <a:rPr sz="1275" b="0">
                <a:solidFill>
                  <a:srgbClr val="111827"/>
                </a:solidFill>
                <a:latin typeface="Pretendard"/>
                <a:ea typeface="Pretendard"/>
                <a:cs typeface="Pretendard"/>
              </a:rPr>
              <a:t>장비 제어 분야의 모든 경험을 이미 갖춘 지원자는 아니지만, 복잡한 소프트웨어를 분석하고 안정적으로 개선해온 경험, 천문 도메인에 대한 실제 관심, 그리고 계속 직접 개발하고 학습하는 태도를 바탕으로 천문 응용 소프트웨어 개발에 기여하고 싶습니다.</a:t>
            </a:r>
          </a:p>
        </p:txBody>
      </p:sp>
      <p:sp>
        <p:nvSpPr>
          <p:cNvPr id="7" name="">
            <a:extLst xmlns:a="http://schemas.openxmlformats.org/drawingml/2006/main">
              <a:ext uri="{FF2B5EF4-FFF2-40B4-BE49-F238E27FC236}">
                <a16:creationId xmlns:a16="http://schemas.microsoft.com/office/drawing/2014/main" id="{0705C23C-CE34-4E8B-B827-489E72A60B35}"/>
              </a:ext>
            </a:extLst>
          </p:cNvPr>
          <p:cNvSpPr>
            <a:spLocks xmlns:a="http://schemas.openxmlformats.org/drawingml/2006/main" noGrp="1"/>
          </p:cNvSpPr>
          <p:nvPr/>
        </p:nvSpPr>
        <p:spPr>
          <a:xfrm xmlns:a="http://schemas.openxmlformats.org/drawingml/2006/main">
            <a:off x="971550" y="4629150"/>
            <a:ext cx="4762500" cy="1028700"/>
          </a:xfrm>
          <a:prstGeom xmlns:a="http://schemas.openxmlformats.org/drawingml/2006/main" prst="roundRect">
            <a:avLst>
              <a:gd name="adj" fmla="val 7407"/>
            </a:avLst>
          </a:prstGeom>
          <a:solidFill xmlns:a="http://schemas.openxmlformats.org/drawingml/2006/main">
            <a:srgbClr val="FFFFFF"/>
          </a:solidFill>
          <a:ln xmlns:a="http://schemas.openxmlformats.org/drawingml/2006/main" w="9525">
            <a:solidFill>
              <a:srgbClr val="F2B7AF"/>
            </a:solidFill>
            <a:prstDash val="solid"/>
          </a:ln>
        </p:spPr>
      </p:sp>
      <p:sp>
        <p:nvSpPr>
          <p:cNvPr id="8" name="">
            <a:extLst xmlns:a="http://schemas.openxmlformats.org/drawingml/2006/main">
              <a:ext uri="{FF2B5EF4-FFF2-40B4-BE49-F238E27FC236}">
                <a16:creationId xmlns:a16="http://schemas.microsoft.com/office/drawing/2014/main" id="{F9CAEB71-C088-4F61-BE4B-FDCA82510B9E}"/>
              </a:ext>
            </a:extLst>
          </p:cNvPr>
          <p:cNvSpPr>
            <a:spLocks xmlns:a="http://schemas.openxmlformats.org/drawingml/2006/main" noGrp="1"/>
          </p:cNvSpPr>
          <p:nvPr/>
        </p:nvSpPr>
        <p:spPr>
          <a:xfrm xmlns:a="http://schemas.openxmlformats.org/drawingml/2006/main">
            <a:off x="1123950" y="4762500"/>
            <a:ext cx="4457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1125" b="1">
                <a:solidFill>
                  <a:srgbClr val="E03C31"/>
                </a:solidFill>
                <a:latin typeface="Pretendard"/>
                <a:ea typeface="Pretendard"/>
                <a:cs typeface="Pretendard"/>
              </a:defRPr>
            </a:pPr>
            <a:r>
              <a:rPr sz="1125" b="1">
                <a:solidFill>
                  <a:srgbClr val="E03C31"/>
                </a:solidFill>
                <a:latin typeface="Pretendard"/>
                <a:ea typeface="Pretendard"/>
                <a:cs typeface="Pretendard"/>
              </a:rPr>
              <a:t>핵심 포지션</a:t>
            </a:r>
          </a:p>
        </p:txBody>
      </p:sp>
      <p:sp>
        <p:nvSpPr>
          <p:cNvPr id="9" name="">
            <a:extLst xmlns:a="http://schemas.openxmlformats.org/drawingml/2006/main">
              <a:ext uri="{FF2B5EF4-FFF2-40B4-BE49-F238E27FC236}">
                <a16:creationId xmlns:a16="http://schemas.microsoft.com/office/drawing/2014/main" id="{3B4CC5F4-C964-4F4C-A2BC-509CC0FE31F6}"/>
              </a:ext>
            </a:extLst>
          </p:cNvPr>
          <p:cNvSpPr>
            <a:spLocks xmlns:a="http://schemas.openxmlformats.org/drawingml/2006/main" noGrp="1"/>
          </p:cNvSpPr>
          <p:nvPr/>
        </p:nvSpPr>
        <p:spPr>
          <a:xfrm xmlns:a="http://schemas.openxmlformats.org/drawingml/2006/main">
            <a:off x="1123950" y="5067300"/>
            <a:ext cx="4457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18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실무형 C++ 과학기술 SW 개발자</a:t>
            </a:r>
          </a:p>
          <a:p xmlns:a="http://schemas.openxmlformats.org/drawingml/2006/main">
            <a:pPr algn="l">
              <a:lnSpc>
                <a:spcPct val="118000"/>
              </a:lnSpc>
              <a:buNone/>
              <a:defRPr sz="1163" b="0">
                <a:solidFill>
                  <a:srgbClr val="4B5563"/>
                </a:solidFill>
                <a:latin typeface="Pretendard"/>
                <a:ea typeface="Pretendard"/>
                <a:cs typeface="Pretendard"/>
              </a:defRPr>
            </a:pPr>
            <a:r>
              <a:rPr sz="1163" b="0">
                <a:solidFill>
                  <a:srgbClr val="4B5563"/>
                </a:solidFill>
                <a:latin typeface="Pretendard"/>
                <a:ea typeface="Pretendard"/>
                <a:cs typeface="Pretendard"/>
              </a:rPr>
              <a:t>+ 천문 소프트웨어 관심/실전 경험</a:t>
            </a:r>
          </a:p>
        </p:txBody>
      </p:sp>
      <p:sp>
        <p:nvSpPr>
          <p:cNvPr id="10" name="">
            <a:extLst xmlns:a="http://schemas.openxmlformats.org/drawingml/2006/main">
              <a:ext uri="{FF2B5EF4-FFF2-40B4-BE49-F238E27FC236}">
                <a16:creationId xmlns:a16="http://schemas.microsoft.com/office/drawing/2014/main" id="{7D41C062-8B1B-4F32-8DC0-CD5F10B78502}"/>
              </a:ext>
            </a:extLst>
          </p:cNvPr>
          <p:cNvSpPr>
            <a:spLocks xmlns:a="http://schemas.openxmlformats.org/drawingml/2006/main" noGrp="1"/>
          </p:cNvSpPr>
          <p:nvPr/>
        </p:nvSpPr>
        <p:spPr>
          <a:xfrm xmlns:a="http://schemas.openxmlformats.org/drawingml/2006/main">
            <a:off x="7677150" y="1447800"/>
            <a:ext cx="3829050" cy="3829050"/>
          </a:xfrm>
          <a:prstGeom xmlns:a="http://schemas.openxmlformats.org/drawingml/2006/main" prst="roundRect">
            <a:avLst>
              <a:gd name="adj" fmla="val 1990"/>
            </a:avLst>
          </a:prstGeom>
          <a:solidFill xmlns:a="http://schemas.openxmlformats.org/drawingml/2006/main">
            <a:srgbClr val="F4F5F6"/>
          </a:solidFill>
          <a:ln xmlns:a="http://schemas.openxmlformats.org/drawingml/2006/main" w="14288">
            <a:solidFill>
              <a:srgbClr val="AEB4BB"/>
            </a:solidFill>
            <a:prstDash val="dash"/>
          </a:ln>
        </p:spPr>
      </p:sp>
      <p:sp>
        <p:nvSpPr>
          <p:cNvPr id="11" name="">
            <a:extLst xmlns:a="http://schemas.openxmlformats.org/drawingml/2006/main">
              <a:ext uri="{FF2B5EF4-FFF2-40B4-BE49-F238E27FC236}">
                <a16:creationId xmlns:a16="http://schemas.microsoft.com/office/drawing/2014/main" id="{F9C3BD56-E5CC-489F-A200-001A814A99EA}"/>
              </a:ext>
            </a:extLst>
          </p:cNvPr>
          <p:cNvSpPr>
            <a:spLocks xmlns:a="http://schemas.openxmlformats.org/drawingml/2006/main" noGrp="1"/>
          </p:cNvSpPr>
          <p:nvPr/>
        </p:nvSpPr>
        <p:spPr>
          <a:xfrm xmlns:a="http://schemas.openxmlformats.org/drawingml/2006/main">
            <a:off x="7867650" y="1676400"/>
            <a:ext cx="34480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ctr">
              <a:lnSpc>
                <a:spcPct val="108000"/>
              </a:lnSpc>
              <a:buNone/>
              <a:defRPr sz="975" b="1">
                <a:solidFill>
                  <a:srgbClr val="111827"/>
                </a:solidFill>
                <a:latin typeface="Pretendard"/>
                <a:ea typeface="Pretendard"/>
                <a:cs typeface="Pretendard"/>
              </a:defRPr>
            </a:pPr>
            <a:r>
              <a:rPr sz="975" b="1">
                <a:solidFill>
                  <a:srgbClr val="111827"/>
                </a:solidFill>
                <a:latin typeface="Pretendard"/>
                <a:ea typeface="Pretendard"/>
                <a:cs typeface="Pretendard"/>
              </a:rPr>
              <a:t>연락처 / GitHub / 이메일 영역</a:t>
            </a:r>
          </a:p>
        </p:txBody>
      </p:sp>
      <p:sp>
        <p:nvSpPr>
          <p:cNvPr id="12" name="">
            <a:extLst xmlns:a="http://schemas.openxmlformats.org/drawingml/2006/main">
              <a:ext uri="{FF2B5EF4-FFF2-40B4-BE49-F238E27FC236}">
                <a16:creationId xmlns:a16="http://schemas.microsoft.com/office/drawing/2014/main" id="{96AB84C8-D5B9-47A9-972C-0515F83DEC0F}"/>
              </a:ext>
            </a:extLst>
          </p:cNvPr>
          <p:cNvSpPr>
            <a:spLocks xmlns:a="http://schemas.openxmlformats.org/drawingml/2006/main" noGrp="1"/>
          </p:cNvSpPr>
          <p:nvPr/>
        </p:nvSpPr>
        <p:spPr>
          <a:xfrm xmlns:a="http://schemas.openxmlformats.org/drawingml/2006/main">
            <a:off x="7962900" y="2038350"/>
            <a:ext cx="3257550" cy="2952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ctr">
            <a:normAutofit fontScale="100000"/>
          </a:bodyPr>
          <a:lstStyle xmlns:a="http://schemas.openxmlformats.org/drawingml/2006/main"/>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이름, 휴대폰, 이메일, GitHub,</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N.I.N.A 플러그인 저장소 QR 또는 URL을</a:t>
            </a:r>
          </a:p>
          <a:p xmlns:a="http://schemas.openxmlformats.org/drawingml/2006/main">
            <a:pPr algn="ctr">
              <a:lnSpc>
                <a:spcPct val="120000"/>
              </a:lnSpc>
              <a:buNone/>
              <a:defRPr sz="900" b="0">
                <a:solidFill>
                  <a:srgbClr val="4B5563"/>
                </a:solidFill>
                <a:latin typeface="Pretendard"/>
                <a:ea typeface="Pretendard"/>
                <a:cs typeface="Pretendard"/>
              </a:defRPr>
            </a:pPr>
            <a:r>
              <a:rPr sz="900" b="0">
                <a:solidFill>
                  <a:srgbClr val="4B5563"/>
                </a:solidFill>
                <a:latin typeface="Pretendard"/>
                <a:ea typeface="Pretendard"/>
                <a:cs typeface="Pretendard"/>
              </a:rPr>
              <a:t>삽입하세요.</a:t>
            </a:r>
          </a:p>
        </p:txBody>
      </p:sp>
      <p:sp>
        <p:nvSpPr>
          <p:cNvPr id="13" name="">
            <a:extLst xmlns:a="http://schemas.openxmlformats.org/drawingml/2006/main">
              <a:ext uri="{FF2B5EF4-FFF2-40B4-BE49-F238E27FC236}">
                <a16:creationId xmlns:a16="http://schemas.microsoft.com/office/drawing/2014/main" id="{4082D382-048B-4990-AA16-89D0FCFA2513}"/>
              </a:ext>
            </a:extLst>
          </p:cNvPr>
          <p:cNvSpPr>
            <a:spLocks xmlns:a="http://schemas.openxmlformats.org/drawingml/2006/main" noGrp="1"/>
          </p:cNvSpPr>
          <p:nvPr/>
        </p:nvSpPr>
        <p:spPr>
          <a:xfrm xmlns:a="http://schemas.openxmlformats.org/drawingml/2006/main">
            <a:off x="533400" y="6334125"/>
            <a:ext cx="11125200" cy="0"/>
          </a:xfrm>
          <a:prstGeom xmlns:a="http://schemas.openxmlformats.org/drawingml/2006/main" prst="line">
            <a:avLst/>
          </a:prstGeom>
          <a:noFill xmlns:a="http://schemas.openxmlformats.org/drawingml/2006/main"/>
          <a:ln xmlns:a="http://schemas.openxmlformats.org/drawingml/2006/main" w="9525">
            <a:solidFill>
              <a:srgbClr val="E2E5E8"/>
            </a:solidFill>
            <a:prstDash val="solid"/>
          </a:ln>
        </p:spPr>
      </p:sp>
      <p:sp>
        <p:nvSpPr>
          <p:cNvPr id="14" name="">
            <a:extLst xmlns:a="http://schemas.openxmlformats.org/drawingml/2006/main">
              <a:ext uri="{FF2B5EF4-FFF2-40B4-BE49-F238E27FC236}">
                <a16:creationId xmlns:a16="http://schemas.microsoft.com/office/drawing/2014/main" id="{52C9CA07-1A84-4372-8EC9-F118A3997D4C}"/>
              </a:ext>
            </a:extLst>
          </p:cNvPr>
          <p:cNvSpPr>
            <a:spLocks xmlns:a="http://schemas.openxmlformats.org/drawingml/2006/main" noGrp="1"/>
          </p:cNvSpPr>
          <p:nvPr/>
        </p:nvSpPr>
        <p:spPr>
          <a:xfrm xmlns:a="http://schemas.openxmlformats.org/drawingml/2006/main">
            <a:off x="571500" y="6429375"/>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l">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이미지 삽입 가이드: 오른쪽에는 연락처, GitHub, 이메일, QR 코드 또는 개인 프로필 정보를 넣습니다.</a:t>
            </a:r>
          </a:p>
        </p:txBody>
      </p:sp>
      <p:sp>
        <p:nvSpPr>
          <p:cNvPr id="15" name="">
            <a:extLst xmlns:a="http://schemas.openxmlformats.org/drawingml/2006/main">
              <a:ext uri="{FF2B5EF4-FFF2-40B4-BE49-F238E27FC236}">
                <a16:creationId xmlns:a16="http://schemas.microsoft.com/office/drawing/2014/main" id="{FB1D0E6B-1907-4FBD-BDAF-9BF5FEA1D25F}"/>
              </a:ext>
            </a:extLst>
          </p:cNvPr>
          <p:cNvSpPr>
            <a:spLocks xmlns:a="http://schemas.openxmlformats.org/drawingml/2006/main" noGrp="1"/>
          </p:cNvSpPr>
          <p:nvPr/>
        </p:nvSpPr>
        <p:spPr>
          <a:xfrm xmlns:a="http://schemas.openxmlformats.org/drawingml/2006/main">
            <a:off x="11049000" y="6429375"/>
            <a:ext cx="609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38100" tIns="19050" rIns="38100" bIns="19050" anchor="t">
            <a:normAutofit fontScale="100000"/>
          </a:bodyPr>
          <a:lstStyle xmlns:a="http://schemas.openxmlformats.org/drawingml/2006/main"/>
          <a:p xmlns:a="http://schemas.openxmlformats.org/drawingml/2006/main">
            <a:pPr algn="r">
              <a:lnSpc>
                <a:spcPct val="108000"/>
              </a:lnSpc>
              <a:buNone/>
              <a:defRPr sz="713" b="0">
                <a:solidFill>
                  <a:srgbClr val="6B7280"/>
                </a:solidFill>
                <a:latin typeface="Pretendard"/>
                <a:ea typeface="Pretendard"/>
                <a:cs typeface="Pretendard"/>
              </a:defRPr>
            </a:pPr>
            <a:r>
              <a:rPr sz="713" b="0">
                <a:solidFill>
                  <a:srgbClr val="6B7280"/>
                </a:solidFill>
                <a:latin typeface="Pretendard"/>
                <a:ea typeface="Pretendard"/>
                <a:cs typeface="Pretendard"/>
              </a:rPr>
              <a:t>10 / 10</a:t>
            </a:r>
          </a:p>
        </p:txBody>
      </p:sp>
    </p:spTree>
    <p:extLst>
      <p:ext uri="{BB962C8B-B14F-4D97-AF65-F5344CB8AC3E}">
        <p14:creationId xmlns:p14="http://schemas.microsoft.com/office/powerpoint/2010/main" val="2082381653"/>
      </p:ext>
    </p:extLst>
  </p:cSld>
</p:sld>
</file>

<file path=ppt/theme/theme1.xml><?xml version="1.0" encoding="utf-8"?>
<a:theme xmlns:a="http://schemas.openxmlformats.org/drawingml/2006/main" name="ChatGPT">
  <a:themeElements>
    <a:clrScheme name="Rainbow Robotics Portfolio">
      <a:dk1>
        <a:srgbClr val="000000"/>
      </a:dk1>
      <a:lt1>
        <a:srgbClr val="FFFFFF"/>
      </a:lt1>
      <a:dk2>
        <a:srgbClr val="1F2328"/>
      </a:dk2>
      <a:lt2>
        <a:srgbClr val="E5E7EB"/>
      </a:lt2>
      <a:accent1>
        <a:srgbClr val="E03C31"/>
      </a:accent1>
      <a:accent2>
        <a:srgbClr val="2A6F97"/>
      </a:accent2>
      <a:accent3>
        <a:srgbClr val="C8C9C7"/>
      </a:accent3>
      <a:accent4>
        <a:srgbClr val="111111"/>
      </a:accent4>
      <a:accent5>
        <a:srgbClr val="58606A"/>
      </a:accent5>
      <a:accent6>
        <a:srgbClr val="7A8A99"/>
      </a:accent6>
      <a:hlink>
        <a:srgbClr val="2A6F97"/>
      </a:hlink>
      <a:folHlink>
        <a:srgbClr val="7A3E9D"/>
      </a:folHlink>
    </a:clrScheme>
    <a:fontScheme name="Office">
      <a:majorFont>
        <a:latin typeface="Calibri Light"/>
        <a:ea typeface="Calibri Light"/>
        <a:cs typeface="Calibri Light"/>
      </a:majorFont>
      <a:minorFont>
        <a:latin typeface="Calibri"/>
        <a:ea typeface="Calibri"/>
        <a:cs typeface="Calibri"/>
      </a:minorFont>
    </a:fontScheme>
    <a:fmtScheme name="Rainbow Robotics Portfolio">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2026-06-22T02:27:54.4120000Z</dcterms:created>
  <dcterms:modified xsi:type="dcterms:W3CDTF">2026-06-22T02:27:54.4120000Z</dcterms:modified>
</coreProperties>
</file>